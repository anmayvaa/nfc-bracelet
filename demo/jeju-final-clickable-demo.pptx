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72" r:id="rId42"/>
    <p:sldId id="273" r:id="rId43"/>
    <p:sldId id="274" r:id="rId44"/>
    <p:sldId id="261" r:id="rId11"/>
    <p:sldId id="275" r:id="rId45"/>
    <p:sldId id="262" r:id="rId12"/>
    <p:sldId id="263" r:id="rId13"/>
    <p:sldId id="264" r:id="rId14"/>
    <p:sldId id="265" r:id="rId15"/>
    <p:sldId id="266" r:id="rId16"/>
    <p:sldId id="267" r:id="rId17"/>
    <p:sldId id="268" r:id="rId18"/>
    <p:sldId id="269" r:id="rId19"/>
    <p:sldId id="270" r:id="rId20"/>
    <p:sldId id="271" r:id="rId21"/>
  </p:sldIdLst>
  <p:sldSz cx="9753600" cy="7315200"/>
  <p:notesSz cx="6858000" cy="9144000"/>
  <p:embeddedFontLst>
    <p:embeddedFont>
      <p:font typeface="Arimo" charset="1" panose="020B0604020202020204"/>
      <p:regular r:id="rId25"/>
    </p:embeddedFont>
    <p:embeddedFont>
      <p:font typeface="Cakerolli Bold" charset="1" panose="00000000000000000000"/>
      <p:regular r:id="rId26"/>
    </p:embeddedFont>
    <p:embeddedFont>
      <p:font typeface="Arimo Bold" charset="1" panose="020B0704020202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notesMaster" Target="notesMasters/notesMaster1.xml"/><Relationship Id="rId23" Type="http://schemas.openxmlformats.org/officeDocument/2006/relationships/theme" Target="theme/theme2.xml"/><Relationship Id="rId24" Type="http://schemas.openxmlformats.org/officeDocument/2006/relationships/notesSlide" Target="notesSlides/notesSlide1.xml"/><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font" Target="fonts/font27.fntdata"/><Relationship Id="rId28" Type="http://schemas.openxmlformats.org/officeDocument/2006/relationships/notesSlide" Target="notesSlides/notesSlide2.xml"/><Relationship Id="rId29" Type="http://schemas.openxmlformats.org/officeDocument/2006/relationships/notesSlide" Target="notesSlides/notesSlide3.xml"/><Relationship Id="rId30" Type="http://schemas.openxmlformats.org/officeDocument/2006/relationships/notesSlide" Target="notesSlides/notesSlide4.xml"/><Relationship Id="rId31" Type="http://schemas.openxmlformats.org/officeDocument/2006/relationships/notesSlide" Target="notesSlides/notesSlide5.xml"/><Relationship Id="rId32" Type="http://schemas.openxmlformats.org/officeDocument/2006/relationships/notesSlide" Target="notesSlides/notesSlide6.xml"/><Relationship Id="rId33" Type="http://schemas.openxmlformats.org/officeDocument/2006/relationships/notesSlide" Target="notesSlides/notesSlide7.xml"/><Relationship Id="rId34" Type="http://schemas.openxmlformats.org/officeDocument/2006/relationships/notesSlide" Target="notesSlides/notesSlide8.xml"/><Relationship Id="rId35" Type="http://schemas.openxmlformats.org/officeDocument/2006/relationships/notesSlide" Target="notesSlides/notesSlide9.xml"/><Relationship Id="rId36" Type="http://schemas.openxmlformats.org/officeDocument/2006/relationships/notesSlide" Target="notesSlides/notesSlide10.xml"/><Relationship Id="rId37" Type="http://schemas.openxmlformats.org/officeDocument/2006/relationships/notesSlide" Target="notesSlides/notesSlide11.xml"/><Relationship Id="rId38" Type="http://schemas.openxmlformats.org/officeDocument/2006/relationships/notesSlide" Target="notesSlides/notesSlide12.xml"/><Relationship Id="rId39" Type="http://schemas.openxmlformats.org/officeDocument/2006/relationships/notesSlide" Target="notesSlides/notesSlide13.xml"/><Relationship Id="rId40" Type="http://schemas.openxmlformats.org/officeDocument/2006/relationships/notesSlide" Target="notesSlides/notesSlide14.xml"/><Relationship Id="rId41" Type="http://schemas.openxmlformats.org/officeDocument/2006/relationships/notesSlide" Target="notesSlides/notesSlide15.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everyone </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 0:08-0:20, CHOTIKA: Crowds: one famous spot drew 300 times the foreign visitors of a local site. Local shops stay unseen. And in an emergency, rescuers may not know your location, health or language.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 0:20-0:30, CHOTIKA: So we made the Jeju Wish-Band: volcanic-stone beads that open a smart island app. No download, no battery. Travel, Connect, Protect. Let us show you. (Hold up a band.)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Cue card. Skip on stage if you go straight from slide 4 to the browser.</a:t>
            </a:r>
          </a:p>
          <a:p>
            <a:r>
              <a:rPr lang="en-US"/>
              <a:t>DEMO 0:55-1:15, OHM: This is my band's app. Each pick tells me why: fits my diet, local family business, quiet hidden spot. And if I feel like nature today, I tap it, and the picks change for today.</a:t>
            </a:r>
          </a:p>
          <a:p>
            <a:r>
              <a:rPr lang="en-US"/>
              <a:t>DEMO 1:15-1:50, OHM: Connect. I go there and tap my band. (place) Two beeps, and the stamp is on my phone and on the help desk. (food) Every pick sends me to a local business. (activity) Food, place and activity: that unlocks a 4,000 won Dongmun Market voucher.</a:t>
            </a:r>
          </a:p>
          <a:p>
            <a:r>
              <a:rPr lang="en-US"/>
              <a:t>DEMO 1:50-2:10, PITCHAYAPA: Protect. What if my phone is dead? I just tap my band five times at any station. (Ohm taps 5x) The help desk gets an SOS with my last location, my health notes, my language and my emergency contact.</a:t>
            </a:r>
          </a:p>
          <a:p>
            <a:r>
              <a:rPr lang="en-US"/>
              <a:t>DEMO 2:10-2:30, PITCHAYAPA: Staff press Acknowledge, then Dispatch, and the traveler sees on the phone that help is coming and when. The app also has a hold-to-send SOS button and a Helping Map to the nearest help. (Press Acknowledge, Dispatch, Enter twice; open the SOS tab on the phone view.)</a:t>
            </a:r>
          </a:p>
          <a:p>
            <a:r>
              <a:rPr lang="en-US"/>
              <a:t>BACKUP: no beep in 2 s -&gt; press the matching Demo control button (Place/Food/Activity tap, 5-tap band SOS). Late at 2:10 -&gt; skip Acknowledge/Dispatch.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Cue card. Skip on stage if you go straight from slide 4 to the browser.</a:t>
            </a:r>
          </a:p>
          <a:p>
            <a:r>
              <a:rPr lang="en-US"/>
              <a:t>DEMO 0:55-1:15, OHM: This is my band's app. Each pick tells me why: fits my diet, local family business, quiet hidden spot. And if I feel like nature today, I tap it, and the picks change for today.</a:t>
            </a:r>
          </a:p>
          <a:p>
            <a:r>
              <a:rPr lang="en-US"/>
              <a:t>DEMO 1:15-1:50, OHM: Connect. I go there and tap my band. (place) Two beeps, and the stamp is on my phone and on the help desk. (food) Every pick sends me to a local business. (activity) Food, place and activity: that unlocks a 4,000 won Dongmun Market voucher.</a:t>
            </a:r>
          </a:p>
          <a:p>
            <a:r>
              <a:rPr lang="en-US"/>
              <a:t>DEMO 1:50-2:10, PITCHAYAPA: Protect. What if my phone is dead? I just tap my band five times at any station. (Ohm taps 5x) The help desk gets an SOS with my last location, my health notes, my language and my emergency contact.</a:t>
            </a:r>
          </a:p>
          <a:p>
            <a:r>
              <a:rPr lang="en-US"/>
              <a:t>DEMO 2:10-2:30, PITCHAYAPA: Staff press Acknowledge, then Dispatch, and the traveler sees on the phone that help is coming and when. The app also has a hold-to-send SOS button and a Helping Map to the nearest help. (Press Acknowledge, Dispatch, Enter twice; open the SOS tab on the phone view.)</a:t>
            </a:r>
          </a:p>
          <a:p>
            <a:r>
              <a:rPr lang="en-US"/>
              <a:t>BACKUP: no beep in 2 s -&gt; press the matching Demo control button (Place/Food/Activity tap, 5-tap band SOS). Late at 2:10 -&gt; skip Acknowledge/Dispatch.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Cue card. Skip on stage if you go straight from slide 4 to the browser.</a:t>
            </a:r>
          </a:p>
          <a:p>
            <a:r>
              <a:rPr lang="en-US"/>
              <a:t>DEMO 0:55-1:15, OHM: This is my band's app. Each pick tells me why: fits my diet, local family business, quiet hidden spot. And if I feel like nature today, I tap it, and the picks change for today.</a:t>
            </a:r>
          </a:p>
          <a:p>
            <a:r>
              <a:rPr lang="en-US"/>
              <a:t>DEMO 1:15-1:50, OHM: Connect. I go there and tap my band. (place) Two beeps, and the stamp is on my phone and on the help desk. (food) Every pick sends me to a local business. (activity) Food, place and activity: that unlocks a 4,000 won Dongmun Market voucher.</a:t>
            </a:r>
          </a:p>
          <a:p>
            <a:r>
              <a:rPr lang="en-US"/>
              <a:t>DEMO 1:50-2:10, PITCHAYAPA: Protect. What if my phone is dead? I just tap my band five times at any station. (Ohm taps 5x) The help desk gets an SOS with my last location, my health notes, my language and my emergency contact.</a:t>
            </a:r>
          </a:p>
          <a:p>
            <a:r>
              <a:rPr lang="en-US"/>
              <a:t>DEMO 2:10-2:30, PITCHAYAPA: Staff press Acknowledge, then Dispatch, and the traveler sees on the phone that help is coming and when. The app also has a hold-to-send SOS button and a Helping Map to the nearest help. (Press Acknowledge, Dispatch, Enter twice; open the SOS tab on the phone view.)</a:t>
            </a:r>
          </a:p>
          <a:p>
            <a:r>
              <a:rPr lang="en-US"/>
              <a:t>BACKUP: no beep in 2 s -&gt; press the matching Demo control button (Place/Food/Activity tap, 5-tap band SOS). Late at 2:10 -&gt; skip Acknowledge/Dispatch.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Cue card. Skip on stage if you go straight from slide 4 to the browser.</a:t>
            </a:r>
          </a:p>
          <a:p>
            <a:r>
              <a:rPr lang="en-US"/>
              <a:t>DEMO 0:55-1:15, OHM: This is my band's app. Each pick tells me why: fits my diet, local family business, quiet hidden spot. And if I feel like nature today, I tap it, and the picks change for today.</a:t>
            </a:r>
          </a:p>
          <a:p>
            <a:r>
              <a:rPr lang="en-US"/>
              <a:t>DEMO 1:15-1:50, OHM: Connect. I go there and tap my band. (place) Two beeps, and the stamp is on my phone and on the help desk. (food) Every pick sends me to a local business. (activity) Food, place and activity: that unlocks a 4,000 won Dongmun Market voucher.</a:t>
            </a:r>
          </a:p>
          <a:p>
            <a:r>
              <a:rPr lang="en-US"/>
              <a:t>DEMO 1:50-2:10, PITCHAYAPA: Protect. What if my phone is dead? I just tap my band five times at any station. (Ohm taps 5x) The help desk gets an SOS with my last location, my health notes, my language and my emergency contact.</a:t>
            </a:r>
          </a:p>
          <a:p>
            <a:r>
              <a:rPr lang="en-US"/>
              <a:t>DEMO 2:10-2:30, PITCHAYAPA: Staff press Acknowledge, then Dispatch, and the traveler sees on the phone that help is coming and when. The app also has a hold-to-send SOS button and a Helping Map to the nearest help. (Press Acknowledge, Dispatch, Enter twice; open the SOS tab on the phone view.)</a:t>
            </a:r>
          </a:p>
          <a:p>
            <a:r>
              <a:rPr lang="en-US"/>
              <a:t>BACKUP: no beep in 2 s -&gt; press the matching Demo control button (Place/Food/Activity tap, 5-tap band SOS). Late at 2:10 -&gt; skip Acknowledge/Dispatch.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Q&amp;A backup slide. Show only if judges ask how the system works.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Q&amp;A backup slide. Indicators from the advisor's abstract. Do not quote demo numbers as results.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Q&amp;A backup. From our Business Model Canvas. The deposit is returned, so it is not revenue; it covers lost bands. Listing fees, co-funding and pilot funding are not confirmed yet: say 'we will validate them in the pilot'.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2:30-3:00, CHOTIKA: Smarter trips for visitors. Fairer income for locals. A safer Jeju for everyone. That is our wish. Next, we will run a field trial with real visitors and local shops, and measure every pick, stamp and SOS. You're welcome to try a station with your band after the session. Thank you!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Q&amp;A backup slide. Show only if judges ask how the system works.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DEMO 0:30-0:55, OHM: Travel is our main feature. Our AI first checks three things: the food fits my diet, I haven't been there yet, and I can reach it with my mobility. Then it scores every place: how near it is, its rating, today's weather and UV, my interests, and extra points for local, quiet spots.</a:t>
            </a:r>
          </a:p>
          <a:p>
            <a:r>
              <a:rPr lang="en-US"/>
              <a:t>Then PITCHAYAPA switches to the demo screen (admin desk left, Phone view right).</a:t>
            </a:r>
          </a:p>
          <a:p>
            <a:r>
              <a:rPr lang="en-US"/>
              <a:t>Weights from lib/core.js: 0.30 near + 0.20 rating + 0.15 weather/UV + 0.15 local &amp; quiet + 0.10 next stop + 0.10 interests, multiplied by the diet, visited, weather and mobility gates.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Q&amp;A backup. Built today: trial consent with withdrawal, admin PIN and station keys (set ADMIN_PIN and STATION_KEY on Vercel), anonymous participant IDs in exports, staff can delete a band's data. Planned: random token in the tag URL, auto-delete after the trip (PIPA).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Q&amp;A backup. Do not name or criticise a specific app. Key line: map apps send everyone to the same top-rated places; we push local and quiet places up, filter unsafe food, and the band still works for SOS when the phone is dead.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svg"/><Relationship Id="rId8" Type="http://schemas.openxmlformats.org/officeDocument/2006/relationships/image" Target="../media/image6.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6.png"/><Relationship Id="rId12"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4.png"/><Relationship Id="rId9" Type="http://schemas.openxmlformats.org/officeDocument/2006/relationships/image" Target="../media/image15.jpeg"/><Relationship Id="rId10" Type="http://schemas.openxmlformats.org/officeDocument/2006/relationships/image" Target="../media/image6.png"/><Relationship Id="rId11" Type="http://schemas.openxmlformats.org/officeDocument/2006/relationships/image" Target="../media/image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6.png"/><Relationship Id="rId9" Type="http://schemas.openxmlformats.org/officeDocument/2006/relationships/image" Target="../media/image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image" Target="../media/image16.jpeg"/><Relationship Id="rId11" Type="http://schemas.openxmlformats.org/officeDocument/2006/relationships/image" Target="../media/image17.jpeg"/><Relationship Id="rId12"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image" Target="../media/image18.jpeg"/><Relationship Id="rId11" Type="http://schemas.openxmlformats.org/officeDocument/2006/relationships/image" Target="../media/image1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image" Target="../media/image20.jpeg"/><Relationship Id="rId11" Type="http://schemas.openxmlformats.org/officeDocument/2006/relationships/image" Target="../media/image2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22.png"/><Relationship Id="rId9" Type="http://schemas.openxmlformats.org/officeDocument/2006/relationships/image" Target="../media/image6.png"/><Relationship Id="rId10" Type="http://schemas.openxmlformats.org/officeDocument/2006/relationships/image" Target="../media/image7.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6.png"/><Relationship Id="rId9" Type="http://schemas.openxmlformats.org/officeDocument/2006/relationships/image" Target="../media/image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6.png"/><Relationship Id="rId9" Type="http://schemas.openxmlformats.org/officeDocument/2006/relationships/image" Target="../media/image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5.jpeg"/><Relationship Id="rId9" Type="http://schemas.openxmlformats.org/officeDocument/2006/relationships/image" Target="../media/image6.png"/><Relationship Id="rId10" Type="http://schemas.openxmlformats.org/officeDocument/2006/relationships/image" Target="../media/image7.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svg"/><Relationship Id="rId7" Type="http://schemas.openxmlformats.org/officeDocument/2006/relationships/image" Target="../media/image6.png"/><Relationship Id="rId8" Type="http://schemas.openxmlformats.org/officeDocument/2006/relationships/image" Target="../media/image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jpe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10.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8.jpe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25.png"/><Relationship Id="rId1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8.jpe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27.png"/><Relationship Id="rId12"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8.jpe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29.png"/><Relationship Id="rId12"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21.jpeg"/><Relationship Id="rId4" Type="http://schemas.openxmlformats.org/officeDocument/2006/relationships/image" Target="../media/image8.jpe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31.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sp>
        <p:nvSpPr>
          <p:cNvPr name="TextBox 4" id="4"/>
          <p:cNvSpPr txBox="true"/>
          <p:nvPr/>
        </p:nvSpPr>
        <p:spPr>
          <a:xfrm rot="0">
            <a:off x="2620737" y="1388202"/>
            <a:ext cx="4512126" cy="800100"/>
          </a:xfrm>
          <a:prstGeom prst="rect">
            <a:avLst/>
          </a:prstGeom>
        </p:spPr>
        <p:txBody>
          <a:bodyPr anchor="t" rtlCol="false" tIns="0" lIns="0" bIns="0" rIns="0">
            <a:spAutoFit/>
          </a:bodyPr>
          <a:lstStyle/>
          <a:p>
            <a:pPr algn="ctr">
              <a:lnSpc>
                <a:spcPts val="3023"/>
              </a:lnSpc>
            </a:pPr>
            <a:r>
              <a:rPr lang="en-US" sz="2519">
                <a:solidFill>
                  <a:srgbClr val="FFFFFF"/>
                </a:solidFill>
                <a:latin typeface="Arimo"/>
                <a:ea typeface="Arimo"/>
                <a:cs typeface="Arimo"/>
                <a:sym typeface="Arimo"/>
              </a:rPr>
              <a:t>제주 소원 팔찌 </a:t>
            </a:r>
          </a:p>
          <a:p>
            <a:pPr algn="ctr">
              <a:lnSpc>
                <a:spcPts val="3023"/>
              </a:lnSpc>
            </a:pPr>
            <a:r>
              <a:rPr lang="en-US" sz="2519">
                <a:solidFill>
                  <a:srgbClr val="FFFFFF"/>
                </a:solidFill>
                <a:latin typeface="Arimo"/>
                <a:ea typeface="Arimo"/>
                <a:cs typeface="Arimo"/>
                <a:sym typeface="Arimo"/>
              </a:rPr>
              <a:t>Travel + Connect + Protect</a:t>
            </a:r>
          </a:p>
        </p:txBody>
      </p:sp>
      <p:sp>
        <p:nvSpPr>
          <p:cNvPr name="TextBox 5" id="5"/>
          <p:cNvSpPr txBox="true"/>
          <p:nvPr/>
        </p:nvSpPr>
        <p:spPr>
          <a:xfrm rot="0">
            <a:off x="3639188" y="4116648"/>
            <a:ext cx="2800350" cy="342900"/>
          </a:xfrm>
          <a:prstGeom prst="rect">
            <a:avLst/>
          </a:prstGeom>
        </p:spPr>
        <p:txBody>
          <a:bodyPr anchor="t" rtlCol="false" tIns="0" lIns="0" bIns="0" rIns="0">
            <a:spAutoFit/>
          </a:bodyPr>
          <a:lstStyle/>
          <a:p>
            <a:pPr algn="ctr">
              <a:lnSpc>
                <a:spcPts val="2559"/>
              </a:lnSpc>
            </a:pPr>
            <a:r>
              <a:rPr lang="en-US" sz="2133">
                <a:solidFill>
                  <a:srgbClr val="FFFF66"/>
                </a:solidFill>
                <a:latin typeface="Arimo"/>
                <a:ea typeface="Arimo"/>
                <a:cs typeface="Arimo"/>
                <a:sym typeface="Arimo"/>
              </a:rPr>
              <a:t>TEAM  </a:t>
            </a:r>
            <a:r>
              <a:rPr lang="en-US" sz="2133">
                <a:solidFill>
                  <a:srgbClr val="FFFFFF"/>
                </a:solidFill>
                <a:latin typeface="Arimo"/>
                <a:ea typeface="Arimo"/>
                <a:cs typeface="Arimo"/>
                <a:sym typeface="Arimo"/>
              </a:rPr>
              <a:t>Jeju Wish-Band</a:t>
            </a:r>
          </a:p>
        </p:txBody>
      </p:sp>
      <p:sp>
        <p:nvSpPr>
          <p:cNvPr name="TextBox 6" id="6"/>
          <p:cNvSpPr txBox="true"/>
          <p:nvPr/>
        </p:nvSpPr>
        <p:spPr>
          <a:xfrm rot="0">
            <a:off x="904980" y="2190045"/>
            <a:ext cx="7943631" cy="1588265"/>
          </a:xfrm>
          <a:prstGeom prst="rect">
            <a:avLst/>
          </a:prstGeom>
        </p:spPr>
        <p:txBody>
          <a:bodyPr anchor="t" rtlCol="false" tIns="0" lIns="0" bIns="0" rIns="0">
            <a:spAutoFit/>
          </a:bodyPr>
          <a:lstStyle/>
          <a:p>
            <a:pPr algn="ctr">
              <a:lnSpc>
                <a:spcPts val="8280"/>
              </a:lnSpc>
            </a:pPr>
            <a:r>
              <a:rPr lang="en-US" sz="6900" b="true">
                <a:solidFill>
                  <a:srgbClr val="FFFF66"/>
                </a:solidFill>
                <a:latin typeface="Cakerolli Bold"/>
                <a:ea typeface="Cakerolli Bold"/>
                <a:cs typeface="Cakerolli Bold"/>
                <a:sym typeface="Cakerolli Bold"/>
              </a:rPr>
              <a:t>Jeju Wish-Band</a:t>
            </a:r>
          </a:p>
        </p:txBody>
      </p:sp>
      <p:grpSp>
        <p:nvGrpSpPr>
          <p:cNvPr name="Group 7" id="7"/>
          <p:cNvGrpSpPr/>
          <p:nvPr/>
        </p:nvGrpSpPr>
        <p:grpSpPr>
          <a:xfrm rot="0">
            <a:off x="526971" y="504911"/>
            <a:ext cx="1277017" cy="810901"/>
            <a:chOff x="0" y="0"/>
            <a:chExt cx="1702689" cy="1081202"/>
          </a:xfrm>
        </p:grpSpPr>
        <p:sp>
          <p:nvSpPr>
            <p:cNvPr name="Freeform 8" id="8"/>
            <p:cNvSpPr/>
            <p:nvPr/>
          </p:nvSpPr>
          <p:spPr>
            <a:xfrm flipH="false" flipV="false" rot="0">
              <a:off x="0" y="0"/>
              <a:ext cx="1702689" cy="1081151"/>
            </a:xfrm>
            <a:custGeom>
              <a:avLst/>
              <a:gdLst/>
              <a:ahLst/>
              <a:cxnLst/>
              <a:rect r="r" b="b" t="t" l="l"/>
              <a:pathLst>
                <a:path h="1081151" w="1702689">
                  <a:moveTo>
                    <a:pt x="0" y="0"/>
                  </a:moveTo>
                  <a:lnTo>
                    <a:pt x="1702689" y="0"/>
                  </a:lnTo>
                  <a:lnTo>
                    <a:pt x="1702689" y="1081151"/>
                  </a:lnTo>
                  <a:lnTo>
                    <a:pt x="0" y="1081151"/>
                  </a:lnTo>
                  <a:lnTo>
                    <a:pt x="0" y="0"/>
                  </a:lnTo>
                  <a:close/>
                </a:path>
              </a:pathLst>
            </a:custGeom>
            <a:blipFill>
              <a:blip r:embed="rId4"/>
              <a:stretch>
                <a:fillRect l="0" t="-23" r="0" b="-28"/>
              </a:stretch>
            </a:blipFill>
          </p:spPr>
        </p:sp>
      </p:grpSp>
      <p:grpSp>
        <p:nvGrpSpPr>
          <p:cNvPr name="Group 9" id="9"/>
          <p:cNvGrpSpPr/>
          <p:nvPr/>
        </p:nvGrpSpPr>
        <p:grpSpPr>
          <a:xfrm rot="0">
            <a:off x="8253193" y="1315822"/>
            <a:ext cx="963911" cy="963911"/>
            <a:chOff x="0" y="0"/>
            <a:chExt cx="1285215" cy="1285215"/>
          </a:xfrm>
        </p:grpSpPr>
        <p:sp>
          <p:nvSpPr>
            <p:cNvPr name="Freeform 10" id="10"/>
            <p:cNvSpPr/>
            <p:nvPr/>
          </p:nvSpPr>
          <p:spPr>
            <a:xfrm flipH="false" flipV="false" rot="0">
              <a:off x="0" y="0"/>
              <a:ext cx="1285240" cy="1285240"/>
            </a:xfrm>
            <a:custGeom>
              <a:avLst/>
              <a:gdLst/>
              <a:ahLst/>
              <a:cxnLst/>
              <a:rect r="r" b="b" t="t" l="l"/>
              <a:pathLst>
                <a:path h="1285240" w="1285240">
                  <a:moveTo>
                    <a:pt x="0" y="0"/>
                  </a:moveTo>
                  <a:lnTo>
                    <a:pt x="1285240" y="0"/>
                  </a:lnTo>
                  <a:lnTo>
                    <a:pt x="1285240" y="1285240"/>
                  </a:lnTo>
                  <a:lnTo>
                    <a:pt x="0" y="1285240"/>
                  </a:lnTo>
                  <a:lnTo>
                    <a:pt x="0" y="0"/>
                  </a:lnTo>
                  <a:close/>
                </a:path>
              </a:pathLst>
            </a:custGeom>
            <a:blipFill>
              <a:blip r:embed="rId5"/>
              <a:stretch>
                <a:fillRect l="0" t="0" r="1" b="1"/>
              </a:stretch>
            </a:blipFill>
          </p:spPr>
        </p:sp>
      </p:grpSp>
      <p:sp>
        <p:nvSpPr>
          <p:cNvPr name="Freeform 11" id="11"/>
          <p:cNvSpPr/>
          <p:nvPr/>
        </p:nvSpPr>
        <p:spPr>
          <a:xfrm flipH="false" flipV="false" rot="0">
            <a:off x="526971" y="4503363"/>
            <a:ext cx="8699668" cy="1710099"/>
          </a:xfrm>
          <a:custGeom>
            <a:avLst/>
            <a:gdLst/>
            <a:ahLst/>
            <a:cxnLst/>
            <a:rect r="r" b="b" t="t" l="l"/>
            <a:pathLst>
              <a:path h="1710099" w="8699668">
                <a:moveTo>
                  <a:pt x="0" y="0"/>
                </a:moveTo>
                <a:lnTo>
                  <a:pt x="8699668" y="0"/>
                </a:lnTo>
                <a:lnTo>
                  <a:pt x="8699668" y="1710099"/>
                </a:lnTo>
                <a:lnTo>
                  <a:pt x="0" y="17100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695871" y="4660944"/>
            <a:ext cx="1589132" cy="238125"/>
          </a:xfrm>
          <a:prstGeom prst="rect">
            <a:avLst/>
          </a:prstGeom>
        </p:spPr>
        <p:txBody>
          <a:bodyPr anchor="t" rtlCol="false" tIns="0" lIns="0" bIns="0" rIns="0">
            <a:spAutoFit/>
          </a:bodyPr>
          <a:lstStyle/>
          <a:p>
            <a:pPr algn="l">
              <a:lnSpc>
                <a:spcPts val="1798"/>
              </a:lnSpc>
            </a:pPr>
            <a:r>
              <a:rPr lang="en-US" sz="1499" b="true">
                <a:solidFill>
                  <a:srgbClr val="FF6600"/>
                </a:solidFill>
                <a:latin typeface="Arimo Bold"/>
                <a:ea typeface="Arimo Bold"/>
                <a:cs typeface="Arimo Bold"/>
                <a:sym typeface="Arimo Bold"/>
              </a:rPr>
              <a:t>Team Members</a:t>
            </a:r>
          </a:p>
        </p:txBody>
      </p:sp>
      <p:sp>
        <p:nvSpPr>
          <p:cNvPr name="TextBox 13" id="13"/>
          <p:cNvSpPr txBox="true"/>
          <p:nvPr/>
        </p:nvSpPr>
        <p:spPr>
          <a:xfrm rot="0">
            <a:off x="3695871" y="4984318"/>
            <a:ext cx="2718416" cy="895350"/>
          </a:xfrm>
          <a:prstGeom prst="rect">
            <a:avLst/>
          </a:prstGeom>
        </p:spPr>
        <p:txBody>
          <a:bodyPr anchor="t" rtlCol="false" tIns="0" lIns="0" bIns="0" rIns="0">
            <a:spAutoFit/>
          </a:bodyPr>
          <a:lstStyle/>
          <a:p>
            <a:pPr algn="l">
              <a:lnSpc>
                <a:spcPts val="1798"/>
              </a:lnSpc>
            </a:pPr>
            <a:r>
              <a:rPr lang="en-US" sz="1499" b="true">
                <a:solidFill>
                  <a:srgbClr val="2E2E33"/>
                </a:solidFill>
                <a:latin typeface="Arimo Bold"/>
                <a:ea typeface="Arimo Bold"/>
                <a:cs typeface="Arimo Bold"/>
                <a:sym typeface="Arimo Bold"/>
              </a:rPr>
              <a:t>Mr. Pitak Patumwan</a:t>
            </a:r>
          </a:p>
          <a:p>
            <a:pPr algn="l">
              <a:lnSpc>
                <a:spcPts val="1798"/>
              </a:lnSpc>
            </a:pPr>
            <a:r>
              <a:rPr lang="en-US" sz="1499" b="true">
                <a:solidFill>
                  <a:srgbClr val="2E2E33"/>
                </a:solidFill>
                <a:latin typeface="Arimo Bold"/>
                <a:ea typeface="Arimo Bold"/>
                <a:cs typeface="Arimo Bold"/>
                <a:sym typeface="Arimo Bold"/>
              </a:rPr>
              <a:t>Miss Pitchayapa Thongnuan</a:t>
            </a:r>
          </a:p>
          <a:p>
            <a:pPr algn="l">
              <a:lnSpc>
                <a:spcPts val="1798"/>
              </a:lnSpc>
            </a:pPr>
            <a:r>
              <a:rPr lang="en-US" sz="1499" b="true">
                <a:solidFill>
                  <a:srgbClr val="2E2E33"/>
                </a:solidFill>
                <a:latin typeface="Arimo Bold"/>
                <a:ea typeface="Arimo Bold"/>
                <a:cs typeface="Arimo Bold"/>
                <a:sym typeface="Arimo Bold"/>
              </a:rPr>
              <a:t>Miss Abhinya Suwanasri</a:t>
            </a:r>
          </a:p>
          <a:p>
            <a:pPr algn="l">
              <a:lnSpc>
                <a:spcPts val="1798"/>
              </a:lnSpc>
            </a:pPr>
            <a:r>
              <a:rPr lang="en-US" sz="1499" b="true">
                <a:solidFill>
                  <a:srgbClr val="2E2E33"/>
                </a:solidFill>
                <a:latin typeface="Arimo Bold"/>
                <a:ea typeface="Arimo Bold"/>
                <a:cs typeface="Arimo Bold"/>
                <a:sym typeface="Arimo Bold"/>
              </a:rPr>
              <a:t>Mr. Ilja Triantafyllidis</a:t>
            </a:r>
          </a:p>
        </p:txBody>
      </p:sp>
      <p:sp>
        <p:nvSpPr>
          <p:cNvPr name="TextBox 14" id="14"/>
          <p:cNvSpPr txBox="true"/>
          <p:nvPr/>
        </p:nvSpPr>
        <p:spPr>
          <a:xfrm rot="0">
            <a:off x="640204" y="4660944"/>
            <a:ext cx="1340949" cy="238125"/>
          </a:xfrm>
          <a:prstGeom prst="rect">
            <a:avLst/>
          </a:prstGeom>
        </p:spPr>
        <p:txBody>
          <a:bodyPr anchor="t" rtlCol="false" tIns="0" lIns="0" bIns="0" rIns="0">
            <a:spAutoFit/>
          </a:bodyPr>
          <a:lstStyle/>
          <a:p>
            <a:pPr algn="l">
              <a:lnSpc>
                <a:spcPts val="1798"/>
              </a:lnSpc>
            </a:pPr>
            <a:r>
              <a:rPr lang="en-US" sz="1499" b="true">
                <a:solidFill>
                  <a:srgbClr val="FF6600"/>
                </a:solidFill>
                <a:latin typeface="Arimo Bold"/>
                <a:ea typeface="Arimo Bold"/>
                <a:cs typeface="Arimo Bold"/>
                <a:sym typeface="Arimo Bold"/>
              </a:rPr>
              <a:t>Advisors</a:t>
            </a:r>
          </a:p>
        </p:txBody>
      </p:sp>
      <p:sp>
        <p:nvSpPr>
          <p:cNvPr name="TextBox 15" id="15"/>
          <p:cNvSpPr txBox="true"/>
          <p:nvPr/>
        </p:nvSpPr>
        <p:spPr>
          <a:xfrm rot="0">
            <a:off x="640204" y="5526767"/>
            <a:ext cx="1731931" cy="238125"/>
          </a:xfrm>
          <a:prstGeom prst="rect">
            <a:avLst/>
          </a:prstGeom>
        </p:spPr>
        <p:txBody>
          <a:bodyPr anchor="t" rtlCol="false" tIns="0" lIns="0" bIns="0" rIns="0">
            <a:spAutoFit/>
          </a:bodyPr>
          <a:lstStyle/>
          <a:p>
            <a:pPr algn="l">
              <a:lnSpc>
                <a:spcPts val="1798"/>
              </a:lnSpc>
            </a:pPr>
            <a:r>
              <a:rPr lang="en-US" sz="1499" b="true">
                <a:solidFill>
                  <a:srgbClr val="FF6600"/>
                </a:solidFill>
                <a:latin typeface="Arimo Bold"/>
                <a:ea typeface="Arimo Bold"/>
                <a:cs typeface="Arimo Bold"/>
                <a:sym typeface="Arimo Bold"/>
              </a:rPr>
              <a:t>Team Leader</a:t>
            </a:r>
          </a:p>
        </p:txBody>
      </p:sp>
      <p:sp>
        <p:nvSpPr>
          <p:cNvPr name="TextBox 16" id="16"/>
          <p:cNvSpPr txBox="true"/>
          <p:nvPr/>
        </p:nvSpPr>
        <p:spPr>
          <a:xfrm rot="0">
            <a:off x="640204" y="5850150"/>
            <a:ext cx="2778623" cy="238125"/>
          </a:xfrm>
          <a:prstGeom prst="rect">
            <a:avLst/>
          </a:prstGeom>
        </p:spPr>
        <p:txBody>
          <a:bodyPr anchor="t" rtlCol="false" tIns="0" lIns="0" bIns="0" rIns="0">
            <a:spAutoFit/>
          </a:bodyPr>
          <a:lstStyle/>
          <a:p>
            <a:pPr algn="l">
              <a:lnSpc>
                <a:spcPts val="1798"/>
              </a:lnSpc>
            </a:pPr>
            <a:r>
              <a:rPr lang="en-US" sz="1499" b="true">
                <a:solidFill>
                  <a:srgbClr val="2E2E33"/>
                </a:solidFill>
                <a:latin typeface="Arimo Bold"/>
                <a:ea typeface="Arimo Bold"/>
                <a:cs typeface="Arimo Bold"/>
                <a:sym typeface="Arimo Bold"/>
              </a:rPr>
              <a:t>Miss Chotika Wittayakom</a:t>
            </a:r>
          </a:p>
        </p:txBody>
      </p:sp>
      <p:sp>
        <p:nvSpPr>
          <p:cNvPr name="TextBox 17" id="17"/>
          <p:cNvSpPr txBox="true"/>
          <p:nvPr/>
        </p:nvSpPr>
        <p:spPr>
          <a:xfrm rot="0">
            <a:off x="640204" y="4984318"/>
            <a:ext cx="3055668" cy="457200"/>
          </a:xfrm>
          <a:prstGeom prst="rect">
            <a:avLst/>
          </a:prstGeom>
        </p:spPr>
        <p:txBody>
          <a:bodyPr anchor="t" rtlCol="false" tIns="0" lIns="0" bIns="0" rIns="0">
            <a:spAutoFit/>
          </a:bodyPr>
          <a:lstStyle/>
          <a:p>
            <a:pPr algn="l">
              <a:lnSpc>
                <a:spcPts val="1798"/>
              </a:lnSpc>
            </a:pPr>
            <a:r>
              <a:rPr lang="en-US" b="true" sz="1499" spc="-95">
                <a:solidFill>
                  <a:srgbClr val="2E2E33"/>
                </a:solidFill>
                <a:latin typeface="Arimo Bold"/>
                <a:ea typeface="Arimo Bold"/>
                <a:cs typeface="Arimo Bold"/>
                <a:sym typeface="Arimo Bold"/>
              </a:rPr>
              <a:t>Asst. Prof. Dr. Vera Sa-ing</a:t>
            </a:r>
          </a:p>
          <a:p>
            <a:pPr algn="l">
              <a:lnSpc>
                <a:spcPts val="1798"/>
              </a:lnSpc>
            </a:pPr>
            <a:r>
              <a:rPr lang="en-US" b="true" sz="1499" spc="-95">
                <a:solidFill>
                  <a:srgbClr val="2E2E33"/>
                </a:solidFill>
                <a:latin typeface="Arimo Bold"/>
                <a:ea typeface="Arimo Bold"/>
                <a:cs typeface="Arimo Bold"/>
                <a:sym typeface="Arimo Bold"/>
              </a:rPr>
              <a:t>Assoc. Prof. Dr.Cattareeya Suwanasri</a:t>
            </a:r>
          </a:p>
        </p:txBody>
      </p:sp>
      <p:sp>
        <p:nvSpPr>
          <p:cNvPr name="TextBox 18" id="18"/>
          <p:cNvSpPr txBox="true"/>
          <p:nvPr/>
        </p:nvSpPr>
        <p:spPr>
          <a:xfrm rot="0">
            <a:off x="6414297" y="4660944"/>
            <a:ext cx="1080745" cy="238125"/>
          </a:xfrm>
          <a:prstGeom prst="rect">
            <a:avLst/>
          </a:prstGeom>
        </p:spPr>
        <p:txBody>
          <a:bodyPr anchor="t" rtlCol="false" tIns="0" lIns="0" bIns="0" rIns="0">
            <a:spAutoFit/>
          </a:bodyPr>
          <a:lstStyle/>
          <a:p>
            <a:pPr algn="l">
              <a:lnSpc>
                <a:spcPts val="1798"/>
              </a:lnSpc>
            </a:pPr>
            <a:r>
              <a:rPr lang="en-US" sz="1499" b="true">
                <a:solidFill>
                  <a:srgbClr val="FF6600"/>
                </a:solidFill>
                <a:latin typeface="Arimo Bold"/>
                <a:ea typeface="Arimo Bold"/>
                <a:cs typeface="Arimo Bold"/>
                <a:sym typeface="Arimo Bold"/>
              </a:rPr>
              <a:t>University</a:t>
            </a:r>
          </a:p>
        </p:txBody>
      </p:sp>
      <p:sp>
        <p:nvSpPr>
          <p:cNvPr name="TextBox 19" id="19"/>
          <p:cNvSpPr txBox="true"/>
          <p:nvPr/>
        </p:nvSpPr>
        <p:spPr>
          <a:xfrm rot="0">
            <a:off x="6414297" y="4984318"/>
            <a:ext cx="2209429" cy="895350"/>
          </a:xfrm>
          <a:prstGeom prst="rect">
            <a:avLst/>
          </a:prstGeom>
        </p:spPr>
        <p:txBody>
          <a:bodyPr anchor="t" rtlCol="false" tIns="0" lIns="0" bIns="0" rIns="0">
            <a:spAutoFit/>
          </a:bodyPr>
          <a:lstStyle/>
          <a:p>
            <a:pPr algn="l">
              <a:lnSpc>
                <a:spcPts val="1798"/>
              </a:lnSpc>
            </a:pPr>
            <a:r>
              <a:rPr lang="en-US" sz="1499" b="true">
                <a:solidFill>
                  <a:srgbClr val="2E2E33"/>
                </a:solidFill>
                <a:latin typeface="Arimo Bold"/>
                <a:ea typeface="Arimo Bold"/>
                <a:cs typeface="Arimo Bold"/>
                <a:sym typeface="Arimo Bold"/>
              </a:rPr>
              <a:t>King Mongkut's University of Technology North Bangkok (KMUTNB)</a:t>
            </a:r>
          </a:p>
        </p:txBody>
      </p:sp>
      <p:sp>
        <p:nvSpPr>
          <p:cNvPr name="TextBox 20" id="20"/>
          <p:cNvSpPr txBox="true"/>
          <p:nvPr/>
        </p:nvSpPr>
        <p:spPr>
          <a:xfrm rot="0">
            <a:off x="8134036" y="4660944"/>
            <a:ext cx="910885" cy="238125"/>
          </a:xfrm>
          <a:prstGeom prst="rect">
            <a:avLst/>
          </a:prstGeom>
        </p:spPr>
        <p:txBody>
          <a:bodyPr anchor="t" rtlCol="false" tIns="0" lIns="0" bIns="0" rIns="0">
            <a:spAutoFit/>
          </a:bodyPr>
          <a:lstStyle/>
          <a:p>
            <a:pPr algn="l">
              <a:lnSpc>
                <a:spcPts val="1798"/>
              </a:lnSpc>
            </a:pPr>
            <a:r>
              <a:rPr lang="en-US" sz="1499" b="true">
                <a:solidFill>
                  <a:srgbClr val="FF6600"/>
                </a:solidFill>
                <a:latin typeface="Arimo Bold"/>
                <a:ea typeface="Arimo Bold"/>
                <a:cs typeface="Arimo Bold"/>
                <a:sym typeface="Arimo Bold"/>
              </a:rPr>
              <a:t>Country</a:t>
            </a:r>
          </a:p>
        </p:txBody>
      </p:sp>
      <p:sp>
        <p:nvSpPr>
          <p:cNvPr name="TextBox 21" id="21"/>
          <p:cNvSpPr txBox="true"/>
          <p:nvPr/>
        </p:nvSpPr>
        <p:spPr>
          <a:xfrm rot="0">
            <a:off x="8134036" y="4984318"/>
            <a:ext cx="979360" cy="238125"/>
          </a:xfrm>
          <a:prstGeom prst="rect">
            <a:avLst/>
          </a:prstGeom>
        </p:spPr>
        <p:txBody>
          <a:bodyPr anchor="t" rtlCol="false" tIns="0" lIns="0" bIns="0" rIns="0">
            <a:spAutoFit/>
          </a:bodyPr>
          <a:lstStyle/>
          <a:p>
            <a:pPr algn="l">
              <a:lnSpc>
                <a:spcPts val="1798"/>
              </a:lnSpc>
            </a:pPr>
            <a:r>
              <a:rPr lang="en-US" sz="1499" b="true">
                <a:solidFill>
                  <a:srgbClr val="2E2E33"/>
                </a:solidFill>
                <a:latin typeface="Arimo Bold"/>
                <a:ea typeface="Arimo Bold"/>
                <a:cs typeface="Arimo Bold"/>
                <a:sym typeface="Arimo Bold"/>
              </a:rPr>
              <a:t>Thailand</a:t>
            </a:r>
          </a:p>
        </p:txBody>
      </p:sp>
      <p:sp>
        <p:nvSpPr>
          <p:cNvPr name="Freeform 22" id="22"/>
          <p:cNvSpPr/>
          <p:nvPr/>
        </p:nvSpPr>
        <p:spPr>
          <a:xfrm flipH="false" flipV="false" rot="0">
            <a:off x="536492" y="1436291"/>
            <a:ext cx="1267495" cy="842885"/>
          </a:xfrm>
          <a:custGeom>
            <a:avLst/>
            <a:gdLst/>
            <a:ahLst/>
            <a:cxnLst/>
            <a:rect r="r" b="b" t="t" l="l"/>
            <a:pathLst>
              <a:path h="842885" w="1267495">
                <a:moveTo>
                  <a:pt x="0" y="0"/>
                </a:moveTo>
                <a:lnTo>
                  <a:pt x="1267495" y="0"/>
                </a:lnTo>
                <a:lnTo>
                  <a:pt x="1267495" y="842884"/>
                </a:lnTo>
                <a:lnTo>
                  <a:pt x="0" y="8428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0" id="1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Three Hidden Challenges</a:t>
            </a:r>
          </a:p>
        </p:txBody>
      </p:sp>
      <p:sp>
        <p:nvSpPr>
          <p:cNvPr name="TextBox 11" id="11"/>
          <p:cNvSpPr txBox="true"/>
          <p:nvPr/>
        </p:nvSpPr>
        <p:spPr>
          <a:xfrm rot="0">
            <a:off x="731520" y="1352550"/>
            <a:ext cx="8293608" cy="4762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2024: one famous spot drew </a:t>
            </a:r>
            <a:r>
              <a:rPr lang="en-US" sz="1800" b="true">
                <a:solidFill>
                  <a:srgbClr val="F58A4B"/>
                </a:solidFill>
                <a:latin typeface="Arimo Bold"/>
                <a:ea typeface="Arimo Bold"/>
                <a:cs typeface="Arimo Bold"/>
                <a:sym typeface="Arimo Bold"/>
              </a:rPr>
              <a:t>300×</a:t>
            </a:r>
            <a:r>
              <a:rPr lang="en-US" sz="1800" b="true">
                <a:solidFill>
                  <a:srgbClr val="0D1B4C"/>
                </a:solidFill>
                <a:latin typeface="Arimo Bold"/>
                <a:ea typeface="Arimo Bold"/>
                <a:cs typeface="Arimo Bold"/>
                <a:sym typeface="Arimo Bold"/>
              </a:rPr>
              <a:t> the foreign visitors of a local site</a:t>
            </a:r>
          </a:p>
        </p:txBody>
      </p:sp>
      <p:grpSp>
        <p:nvGrpSpPr>
          <p:cNvPr name="Group 12" id="12"/>
          <p:cNvGrpSpPr/>
          <p:nvPr/>
        </p:nvGrpSpPr>
        <p:grpSpPr>
          <a:xfrm rot="0">
            <a:off x="731520" y="2011680"/>
            <a:ext cx="2606040" cy="4251960"/>
            <a:chOff x="0" y="0"/>
            <a:chExt cx="3474720" cy="5669280"/>
          </a:xfrm>
        </p:grpSpPr>
        <p:sp>
          <p:nvSpPr>
            <p:cNvPr name="Freeform 13" id="13"/>
            <p:cNvSpPr/>
            <p:nvPr/>
          </p:nvSpPr>
          <p:spPr>
            <a:xfrm flipH="false" flipV="false" rot="0">
              <a:off x="0" y="0"/>
              <a:ext cx="3474720" cy="5669280"/>
            </a:xfrm>
            <a:custGeom>
              <a:avLst/>
              <a:gdLst/>
              <a:ahLst/>
              <a:cxnLst/>
              <a:rect r="r" b="b" t="t" l="l"/>
              <a:pathLst>
                <a:path h="5669280" w="3474720">
                  <a:moveTo>
                    <a:pt x="0" y="416941"/>
                  </a:moveTo>
                  <a:cubicBezTo>
                    <a:pt x="0" y="186690"/>
                    <a:pt x="186690" y="0"/>
                    <a:pt x="416941" y="0"/>
                  </a:cubicBezTo>
                  <a:lnTo>
                    <a:pt x="3057779" y="0"/>
                  </a:lnTo>
                  <a:cubicBezTo>
                    <a:pt x="3288030" y="0"/>
                    <a:pt x="3474720" y="186690"/>
                    <a:pt x="3474720" y="416941"/>
                  </a:cubicBezTo>
                  <a:lnTo>
                    <a:pt x="3474720" y="5252339"/>
                  </a:lnTo>
                  <a:cubicBezTo>
                    <a:pt x="3474720" y="5482590"/>
                    <a:pt x="3288030" y="5669280"/>
                    <a:pt x="3057779" y="5669280"/>
                  </a:cubicBezTo>
                  <a:lnTo>
                    <a:pt x="416941" y="5669280"/>
                  </a:lnTo>
                  <a:cubicBezTo>
                    <a:pt x="186690" y="5669280"/>
                    <a:pt x="0" y="5482590"/>
                    <a:pt x="0" y="5252339"/>
                  </a:cubicBezTo>
                  <a:close/>
                </a:path>
              </a:pathLst>
            </a:custGeom>
            <a:solidFill>
              <a:srgbClr val="FDE2CF"/>
            </a:solidFill>
          </p:spPr>
        </p:sp>
      </p:grpSp>
      <p:grpSp>
        <p:nvGrpSpPr>
          <p:cNvPr name="Group 14" id="14"/>
          <p:cNvGrpSpPr/>
          <p:nvPr/>
        </p:nvGrpSpPr>
        <p:grpSpPr>
          <a:xfrm rot="0">
            <a:off x="914400" y="2194560"/>
            <a:ext cx="457200" cy="457200"/>
            <a:chOff x="0" y="0"/>
            <a:chExt cx="609600" cy="609600"/>
          </a:xfrm>
        </p:grpSpPr>
        <p:sp>
          <p:nvSpPr>
            <p:cNvPr name="Freeform 15" id="15"/>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58A4B"/>
            </a:solidFill>
          </p:spPr>
        </p:sp>
        <p:sp>
          <p:nvSpPr>
            <p:cNvPr name="TextBox 16" id="16"/>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1</a:t>
              </a:r>
            </a:p>
          </p:txBody>
        </p:sp>
      </p:grpSp>
      <p:grpSp>
        <p:nvGrpSpPr>
          <p:cNvPr name="Group 17" id="17"/>
          <p:cNvGrpSpPr/>
          <p:nvPr/>
        </p:nvGrpSpPr>
        <p:grpSpPr>
          <a:xfrm rot="0">
            <a:off x="1280160" y="2331720"/>
            <a:ext cx="1508760" cy="1378563"/>
            <a:chOff x="0" y="0"/>
            <a:chExt cx="2011680" cy="1838084"/>
          </a:xfrm>
        </p:grpSpPr>
        <p:sp>
          <p:nvSpPr>
            <p:cNvPr name="Freeform 18" id="18" descr="image8.png"/>
            <p:cNvSpPr/>
            <p:nvPr/>
          </p:nvSpPr>
          <p:spPr>
            <a:xfrm flipH="false" flipV="false" rot="0">
              <a:off x="0" y="0"/>
              <a:ext cx="2011680" cy="1838071"/>
            </a:xfrm>
            <a:custGeom>
              <a:avLst/>
              <a:gdLst/>
              <a:ahLst/>
              <a:cxnLst/>
              <a:rect r="r" b="b" t="t" l="l"/>
              <a:pathLst>
                <a:path h="1838071" w="2011680">
                  <a:moveTo>
                    <a:pt x="0" y="0"/>
                  </a:moveTo>
                  <a:lnTo>
                    <a:pt x="2011680" y="0"/>
                  </a:lnTo>
                  <a:lnTo>
                    <a:pt x="2011680" y="1838071"/>
                  </a:lnTo>
                  <a:lnTo>
                    <a:pt x="0" y="1838071"/>
                  </a:lnTo>
                  <a:lnTo>
                    <a:pt x="0" y="0"/>
                  </a:lnTo>
                  <a:close/>
                </a:path>
              </a:pathLst>
            </a:custGeom>
            <a:blipFill>
              <a:blip r:embed="rId8"/>
              <a:stretch>
                <a:fillRect l="0" t="0" r="0" b="0"/>
              </a:stretch>
            </a:blipFill>
          </p:spPr>
        </p:sp>
      </p:grpSp>
      <p:sp>
        <p:nvSpPr>
          <p:cNvPr name="TextBox 19" id="19"/>
          <p:cNvSpPr txBox="true"/>
          <p:nvPr/>
        </p:nvSpPr>
        <p:spPr>
          <a:xfrm rot="0">
            <a:off x="868680" y="3922395"/>
            <a:ext cx="2331720" cy="314325"/>
          </a:xfrm>
          <a:prstGeom prst="rect">
            <a:avLst/>
          </a:prstGeom>
        </p:spPr>
        <p:txBody>
          <a:bodyPr anchor="t" rtlCol="false" tIns="0" lIns="0" bIns="0" rIns="0">
            <a:spAutoFit/>
          </a:bodyPr>
          <a:lstStyle/>
          <a:p>
            <a:pPr algn="ctr">
              <a:lnSpc>
                <a:spcPts val="2400"/>
              </a:lnSpc>
            </a:pPr>
            <a:r>
              <a:rPr lang="en-US" sz="2000" b="true">
                <a:solidFill>
                  <a:srgbClr val="0D1B4C"/>
                </a:solidFill>
                <a:latin typeface="Arimo Bold"/>
                <a:ea typeface="Arimo Bold"/>
                <a:cs typeface="Arimo Bold"/>
                <a:sym typeface="Arimo Bold"/>
              </a:rPr>
              <a:t>Over-tourism</a:t>
            </a:r>
          </a:p>
        </p:txBody>
      </p:sp>
      <p:sp>
        <p:nvSpPr>
          <p:cNvPr name="TextBox 20" id="20"/>
          <p:cNvSpPr txBox="true"/>
          <p:nvPr/>
        </p:nvSpPr>
        <p:spPr>
          <a:xfrm rot="0">
            <a:off x="914400" y="4579620"/>
            <a:ext cx="2240280" cy="476250"/>
          </a:xfrm>
          <a:prstGeom prst="rect">
            <a:avLst/>
          </a:prstGeom>
        </p:spPr>
        <p:txBody>
          <a:bodyPr anchor="t" rtlCol="false" tIns="0" lIns="0" bIns="0" rIns="0">
            <a:spAutoFit/>
          </a:bodyPr>
          <a:lstStyle/>
          <a:p>
            <a:pPr algn="l">
              <a:lnSpc>
                <a:spcPts val="1800"/>
              </a:lnSpc>
            </a:pPr>
            <a:r>
              <a:rPr lang="en-US" sz="1500" b="true">
                <a:solidFill>
                  <a:srgbClr val="1F2A44"/>
                </a:solidFill>
                <a:latin typeface="Arimo Bold"/>
                <a:ea typeface="Arimo Bold"/>
                <a:cs typeface="Arimo Bold"/>
                <a:sym typeface="Arimo Bold"/>
              </a:rPr>
              <a:t>Famous spot</a:t>
            </a:r>
            <a:r>
              <a:rPr lang="en-US" sz="1500">
                <a:solidFill>
                  <a:srgbClr val="1F2A44"/>
                </a:solidFill>
                <a:latin typeface="Arimo"/>
                <a:ea typeface="Arimo"/>
                <a:cs typeface="Arimo"/>
                <a:sym typeface="Arimo"/>
              </a:rPr>
              <a:t> : Seongsan Ilchulbong </a:t>
            </a:r>
            <a:r>
              <a:rPr lang="en-US" sz="1500" b="true">
                <a:solidFill>
                  <a:srgbClr val="F26A1B"/>
                </a:solidFill>
                <a:latin typeface="Arimo Bold"/>
                <a:ea typeface="Arimo Bold"/>
                <a:cs typeface="Arimo Bold"/>
                <a:sym typeface="Arimo Bold"/>
              </a:rPr>
              <a:t>224,136</a:t>
            </a:r>
          </a:p>
        </p:txBody>
      </p:sp>
      <p:grpSp>
        <p:nvGrpSpPr>
          <p:cNvPr name="Group 21" id="21"/>
          <p:cNvGrpSpPr/>
          <p:nvPr/>
        </p:nvGrpSpPr>
        <p:grpSpPr>
          <a:xfrm rot="0">
            <a:off x="3575304" y="2011680"/>
            <a:ext cx="2606040" cy="4251960"/>
            <a:chOff x="0" y="0"/>
            <a:chExt cx="3474720" cy="5669280"/>
          </a:xfrm>
        </p:grpSpPr>
        <p:sp>
          <p:nvSpPr>
            <p:cNvPr name="Freeform 22" id="22"/>
            <p:cNvSpPr/>
            <p:nvPr/>
          </p:nvSpPr>
          <p:spPr>
            <a:xfrm flipH="false" flipV="false" rot="0">
              <a:off x="0" y="0"/>
              <a:ext cx="3474720" cy="5669280"/>
            </a:xfrm>
            <a:custGeom>
              <a:avLst/>
              <a:gdLst/>
              <a:ahLst/>
              <a:cxnLst/>
              <a:rect r="r" b="b" t="t" l="l"/>
              <a:pathLst>
                <a:path h="5669280" w="3474720">
                  <a:moveTo>
                    <a:pt x="0" y="416941"/>
                  </a:moveTo>
                  <a:cubicBezTo>
                    <a:pt x="0" y="186690"/>
                    <a:pt x="186690" y="0"/>
                    <a:pt x="416941" y="0"/>
                  </a:cubicBezTo>
                  <a:lnTo>
                    <a:pt x="3057779" y="0"/>
                  </a:lnTo>
                  <a:cubicBezTo>
                    <a:pt x="3288030" y="0"/>
                    <a:pt x="3474720" y="186690"/>
                    <a:pt x="3474720" y="416941"/>
                  </a:cubicBezTo>
                  <a:lnTo>
                    <a:pt x="3474720" y="5252339"/>
                  </a:lnTo>
                  <a:cubicBezTo>
                    <a:pt x="3474720" y="5482590"/>
                    <a:pt x="3288030" y="5669280"/>
                    <a:pt x="3057779" y="5669280"/>
                  </a:cubicBezTo>
                  <a:lnTo>
                    <a:pt x="416941" y="5669280"/>
                  </a:lnTo>
                  <a:cubicBezTo>
                    <a:pt x="186690" y="5669280"/>
                    <a:pt x="0" y="5482590"/>
                    <a:pt x="0" y="5252339"/>
                  </a:cubicBezTo>
                  <a:close/>
                </a:path>
              </a:pathLst>
            </a:custGeom>
            <a:solidFill>
              <a:srgbClr val="D3EFEC"/>
            </a:solidFill>
          </p:spPr>
        </p:sp>
      </p:grpSp>
      <p:grpSp>
        <p:nvGrpSpPr>
          <p:cNvPr name="Group 23" id="23"/>
          <p:cNvGrpSpPr/>
          <p:nvPr/>
        </p:nvGrpSpPr>
        <p:grpSpPr>
          <a:xfrm rot="0">
            <a:off x="3758184" y="2194560"/>
            <a:ext cx="457200" cy="457200"/>
            <a:chOff x="0" y="0"/>
            <a:chExt cx="609600" cy="609600"/>
          </a:xfrm>
        </p:grpSpPr>
        <p:sp>
          <p:nvSpPr>
            <p:cNvPr name="Freeform 24" id="24"/>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2A9D93"/>
            </a:solidFill>
          </p:spPr>
        </p:sp>
        <p:sp>
          <p:nvSpPr>
            <p:cNvPr name="TextBox 25" id="25"/>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grpSp>
        <p:nvGrpSpPr>
          <p:cNvPr name="Group 26" id="26"/>
          <p:cNvGrpSpPr/>
          <p:nvPr/>
        </p:nvGrpSpPr>
        <p:grpSpPr>
          <a:xfrm rot="0">
            <a:off x="4123944" y="2331720"/>
            <a:ext cx="1508760" cy="1342377"/>
            <a:chOff x="0" y="0"/>
            <a:chExt cx="2011680" cy="1789836"/>
          </a:xfrm>
        </p:grpSpPr>
        <p:sp>
          <p:nvSpPr>
            <p:cNvPr name="Freeform 27" id="27" descr="image9.png"/>
            <p:cNvSpPr/>
            <p:nvPr/>
          </p:nvSpPr>
          <p:spPr>
            <a:xfrm flipH="false" flipV="false" rot="0">
              <a:off x="0" y="0"/>
              <a:ext cx="2011680" cy="1789811"/>
            </a:xfrm>
            <a:custGeom>
              <a:avLst/>
              <a:gdLst/>
              <a:ahLst/>
              <a:cxnLst/>
              <a:rect r="r" b="b" t="t" l="l"/>
              <a:pathLst>
                <a:path h="1789811" w="2011680">
                  <a:moveTo>
                    <a:pt x="0" y="0"/>
                  </a:moveTo>
                  <a:lnTo>
                    <a:pt x="2011680" y="0"/>
                  </a:lnTo>
                  <a:lnTo>
                    <a:pt x="2011680" y="1789811"/>
                  </a:lnTo>
                  <a:lnTo>
                    <a:pt x="0" y="1789811"/>
                  </a:lnTo>
                  <a:lnTo>
                    <a:pt x="0" y="0"/>
                  </a:lnTo>
                  <a:close/>
                </a:path>
              </a:pathLst>
            </a:custGeom>
            <a:blipFill>
              <a:blip r:embed="rId9"/>
              <a:stretch>
                <a:fillRect l="0" t="0" r="0" b="-1"/>
              </a:stretch>
            </a:blipFill>
          </p:spPr>
        </p:sp>
      </p:grpSp>
      <p:sp>
        <p:nvSpPr>
          <p:cNvPr name="TextBox 28" id="28"/>
          <p:cNvSpPr txBox="true"/>
          <p:nvPr/>
        </p:nvSpPr>
        <p:spPr>
          <a:xfrm rot="0">
            <a:off x="3712464" y="3922395"/>
            <a:ext cx="2331720" cy="741045"/>
          </a:xfrm>
          <a:prstGeom prst="rect">
            <a:avLst/>
          </a:prstGeom>
        </p:spPr>
        <p:txBody>
          <a:bodyPr anchor="t" rtlCol="false" tIns="0" lIns="0" bIns="0" rIns="0">
            <a:spAutoFit/>
          </a:bodyPr>
          <a:lstStyle/>
          <a:p>
            <a:pPr algn="ctr">
              <a:lnSpc>
                <a:spcPts val="2400"/>
              </a:lnSpc>
            </a:pPr>
            <a:r>
              <a:rPr lang="en-US" sz="2000" b="true">
                <a:solidFill>
                  <a:srgbClr val="0D1B4C"/>
                </a:solidFill>
                <a:latin typeface="Arimo Bold"/>
                <a:ea typeface="Arimo Bold"/>
                <a:cs typeface="Arimo Bold"/>
                <a:sym typeface="Arimo Bold"/>
              </a:rPr>
              <a:t>Unseen local shops</a:t>
            </a:r>
          </a:p>
        </p:txBody>
      </p:sp>
      <p:sp>
        <p:nvSpPr>
          <p:cNvPr name="TextBox 29" id="29"/>
          <p:cNvSpPr txBox="true"/>
          <p:nvPr/>
        </p:nvSpPr>
        <p:spPr>
          <a:xfrm rot="0">
            <a:off x="3803904" y="4735830"/>
            <a:ext cx="2148840" cy="13906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Village shops and restaurants miss out on customers and income.</a:t>
            </a:r>
          </a:p>
        </p:txBody>
      </p:sp>
      <p:grpSp>
        <p:nvGrpSpPr>
          <p:cNvPr name="Group 30" id="30"/>
          <p:cNvGrpSpPr/>
          <p:nvPr/>
        </p:nvGrpSpPr>
        <p:grpSpPr>
          <a:xfrm rot="0">
            <a:off x="6419088" y="2011680"/>
            <a:ext cx="2606040" cy="4251960"/>
            <a:chOff x="0" y="0"/>
            <a:chExt cx="3474720" cy="5669280"/>
          </a:xfrm>
        </p:grpSpPr>
        <p:sp>
          <p:nvSpPr>
            <p:cNvPr name="Freeform 31" id="31"/>
            <p:cNvSpPr/>
            <p:nvPr/>
          </p:nvSpPr>
          <p:spPr>
            <a:xfrm flipH="false" flipV="false" rot="0">
              <a:off x="0" y="0"/>
              <a:ext cx="3474720" cy="5669280"/>
            </a:xfrm>
            <a:custGeom>
              <a:avLst/>
              <a:gdLst/>
              <a:ahLst/>
              <a:cxnLst/>
              <a:rect r="r" b="b" t="t" l="l"/>
              <a:pathLst>
                <a:path h="5669280" w="3474720">
                  <a:moveTo>
                    <a:pt x="0" y="416941"/>
                  </a:moveTo>
                  <a:cubicBezTo>
                    <a:pt x="0" y="186690"/>
                    <a:pt x="186690" y="0"/>
                    <a:pt x="416941" y="0"/>
                  </a:cubicBezTo>
                  <a:lnTo>
                    <a:pt x="3057779" y="0"/>
                  </a:lnTo>
                  <a:cubicBezTo>
                    <a:pt x="3288030" y="0"/>
                    <a:pt x="3474720" y="186690"/>
                    <a:pt x="3474720" y="416941"/>
                  </a:cubicBezTo>
                  <a:lnTo>
                    <a:pt x="3474720" y="5252339"/>
                  </a:lnTo>
                  <a:cubicBezTo>
                    <a:pt x="3474720" y="5482590"/>
                    <a:pt x="3288030" y="5669280"/>
                    <a:pt x="3057779" y="5669280"/>
                  </a:cubicBezTo>
                  <a:lnTo>
                    <a:pt x="416941" y="5669280"/>
                  </a:lnTo>
                  <a:cubicBezTo>
                    <a:pt x="186690" y="5669280"/>
                    <a:pt x="0" y="5482590"/>
                    <a:pt x="0" y="5252339"/>
                  </a:cubicBezTo>
                  <a:close/>
                </a:path>
              </a:pathLst>
            </a:custGeom>
            <a:solidFill>
              <a:srgbClr val="FBE9A6"/>
            </a:solidFill>
          </p:spPr>
        </p:sp>
      </p:grpSp>
      <p:grpSp>
        <p:nvGrpSpPr>
          <p:cNvPr name="Group 32" id="32"/>
          <p:cNvGrpSpPr/>
          <p:nvPr/>
        </p:nvGrpSpPr>
        <p:grpSpPr>
          <a:xfrm rot="0">
            <a:off x="6601968" y="2194560"/>
            <a:ext cx="457200" cy="457200"/>
            <a:chOff x="0" y="0"/>
            <a:chExt cx="609600" cy="609600"/>
          </a:xfrm>
        </p:grpSpPr>
        <p:sp>
          <p:nvSpPr>
            <p:cNvPr name="Freeform 33" id="33"/>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6C945"/>
            </a:solidFill>
          </p:spPr>
        </p:sp>
        <p:sp>
          <p:nvSpPr>
            <p:cNvPr name="TextBox 34" id="34"/>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0D1B4C"/>
                  </a:solidFill>
                  <a:latin typeface="Arimo Bold"/>
                  <a:ea typeface="Arimo Bold"/>
                  <a:cs typeface="Arimo Bold"/>
                  <a:sym typeface="Arimo Bold"/>
                </a:rPr>
                <a:t>3</a:t>
              </a:r>
            </a:p>
          </p:txBody>
        </p:sp>
      </p:grpSp>
      <p:grpSp>
        <p:nvGrpSpPr>
          <p:cNvPr name="Group 35" id="35"/>
          <p:cNvGrpSpPr/>
          <p:nvPr/>
        </p:nvGrpSpPr>
        <p:grpSpPr>
          <a:xfrm rot="0">
            <a:off x="6967728" y="2331720"/>
            <a:ext cx="1508760" cy="1508760"/>
            <a:chOff x="0" y="0"/>
            <a:chExt cx="2011680" cy="2011680"/>
          </a:xfrm>
        </p:grpSpPr>
        <p:sp>
          <p:nvSpPr>
            <p:cNvPr name="Freeform 36" id="36" descr="image10.png"/>
            <p:cNvSpPr/>
            <p:nvPr/>
          </p:nvSpPr>
          <p:spPr>
            <a:xfrm flipH="false" flipV="false" rot="0">
              <a:off x="0" y="0"/>
              <a:ext cx="2011680" cy="2011680"/>
            </a:xfrm>
            <a:custGeom>
              <a:avLst/>
              <a:gdLst/>
              <a:ahLst/>
              <a:cxnLst/>
              <a:rect r="r" b="b" t="t" l="l"/>
              <a:pathLst>
                <a:path h="2011680" w="2011680">
                  <a:moveTo>
                    <a:pt x="0" y="0"/>
                  </a:moveTo>
                  <a:lnTo>
                    <a:pt x="2011680" y="0"/>
                  </a:lnTo>
                  <a:lnTo>
                    <a:pt x="2011680" y="2011680"/>
                  </a:lnTo>
                  <a:lnTo>
                    <a:pt x="0" y="2011680"/>
                  </a:lnTo>
                  <a:lnTo>
                    <a:pt x="0" y="0"/>
                  </a:lnTo>
                  <a:close/>
                </a:path>
              </a:pathLst>
            </a:custGeom>
            <a:blipFill>
              <a:blip r:embed="rId10"/>
              <a:stretch>
                <a:fillRect l="0" t="0" r="0" b="0"/>
              </a:stretch>
            </a:blipFill>
          </p:spPr>
        </p:sp>
      </p:grpSp>
      <p:sp>
        <p:nvSpPr>
          <p:cNvPr name="TextBox 37" id="37"/>
          <p:cNvSpPr txBox="true"/>
          <p:nvPr/>
        </p:nvSpPr>
        <p:spPr>
          <a:xfrm rot="0">
            <a:off x="6556248" y="3922395"/>
            <a:ext cx="2331720" cy="741045"/>
          </a:xfrm>
          <a:prstGeom prst="rect">
            <a:avLst/>
          </a:prstGeom>
        </p:spPr>
        <p:txBody>
          <a:bodyPr anchor="t" rtlCol="false" tIns="0" lIns="0" bIns="0" rIns="0">
            <a:spAutoFit/>
          </a:bodyPr>
          <a:lstStyle/>
          <a:p>
            <a:pPr algn="ctr">
              <a:lnSpc>
                <a:spcPts val="2400"/>
              </a:lnSpc>
            </a:pPr>
            <a:r>
              <a:rPr lang="en-US" sz="2000" b="true">
                <a:solidFill>
                  <a:srgbClr val="0D1B4C"/>
                </a:solidFill>
                <a:latin typeface="Arimo Bold"/>
                <a:ea typeface="Arimo Bold"/>
                <a:cs typeface="Arimo Bold"/>
                <a:sym typeface="Arimo Bold"/>
              </a:rPr>
              <a:t>Safety gaps</a:t>
            </a:r>
          </a:p>
        </p:txBody>
      </p:sp>
      <p:sp>
        <p:nvSpPr>
          <p:cNvPr name="TextBox 38" id="38"/>
          <p:cNvSpPr txBox="true"/>
          <p:nvPr/>
        </p:nvSpPr>
        <p:spPr>
          <a:xfrm rot="0">
            <a:off x="6647688" y="4735830"/>
            <a:ext cx="2148840" cy="13906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Rescuers may not know your location, health, language or who to call.</a:t>
            </a:r>
          </a:p>
        </p:txBody>
      </p:sp>
      <p:sp>
        <p:nvSpPr>
          <p:cNvPr name="TextBox 39" id="39"/>
          <p:cNvSpPr txBox="true"/>
          <p:nvPr/>
        </p:nvSpPr>
        <p:spPr>
          <a:xfrm rot="0">
            <a:off x="731520" y="6377940"/>
            <a:ext cx="8293608" cy="200025"/>
          </a:xfrm>
          <a:prstGeom prst="rect">
            <a:avLst/>
          </a:prstGeom>
        </p:spPr>
        <p:txBody>
          <a:bodyPr anchor="t" rtlCol="false" tIns="0" lIns="0" bIns="0" rIns="0">
            <a:spAutoFit/>
          </a:bodyPr>
          <a:lstStyle/>
          <a:p>
            <a:pPr algn="ctr">
              <a:lnSpc>
                <a:spcPts val="1439"/>
              </a:lnSpc>
            </a:pPr>
            <a:r>
              <a:rPr lang="en-US" sz="1199">
                <a:solidFill>
                  <a:srgbClr val="1F2A44"/>
                </a:solidFill>
                <a:latin typeface="Arimo"/>
                <a:ea typeface="Arimo"/>
                <a:cs typeface="Arimo"/>
                <a:sym typeface="Arimo"/>
              </a:rPr>
              <a:t>Sources: Jeju Province (2024).</a:t>
            </a:r>
          </a:p>
        </p:txBody>
      </p:sp>
      <p:sp>
        <p:nvSpPr>
          <p:cNvPr name="Freeform 40" id="40"/>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41" id="41"/>
          <p:cNvSpPr txBox="true"/>
          <p:nvPr/>
        </p:nvSpPr>
        <p:spPr>
          <a:xfrm rot="0">
            <a:off x="914400" y="5850255"/>
            <a:ext cx="2240280" cy="209550"/>
          </a:xfrm>
          <a:prstGeom prst="rect">
            <a:avLst/>
          </a:prstGeom>
        </p:spPr>
        <p:txBody>
          <a:bodyPr anchor="t" rtlCol="false" tIns="0" lIns="0" bIns="0" rIns="0">
            <a:spAutoFit/>
          </a:bodyPr>
          <a:lstStyle/>
          <a:p>
            <a:pPr algn="ctr">
              <a:lnSpc>
                <a:spcPts val="1559"/>
              </a:lnSpc>
            </a:pPr>
            <a:r>
              <a:rPr lang="en-US" sz="1299">
                <a:solidFill>
                  <a:srgbClr val="1F2A44"/>
                </a:solidFill>
                <a:latin typeface="Arimo"/>
                <a:ea typeface="Arimo"/>
                <a:cs typeface="Arimo"/>
                <a:sym typeface="Arimo"/>
              </a:rPr>
              <a:t>foreign visitors in 2024</a:t>
            </a:r>
          </a:p>
        </p:txBody>
      </p:sp>
      <p:sp>
        <p:nvSpPr>
          <p:cNvPr name="TextBox 42" id="42"/>
          <p:cNvSpPr txBox="true"/>
          <p:nvPr/>
        </p:nvSpPr>
        <p:spPr>
          <a:xfrm rot="0">
            <a:off x="914400" y="5173980"/>
            <a:ext cx="2240280" cy="476250"/>
          </a:xfrm>
          <a:prstGeom prst="rect">
            <a:avLst/>
          </a:prstGeom>
        </p:spPr>
        <p:txBody>
          <a:bodyPr anchor="t" rtlCol="false" tIns="0" lIns="0" bIns="0" rIns="0">
            <a:spAutoFit/>
          </a:bodyPr>
          <a:lstStyle/>
          <a:p>
            <a:pPr algn="l">
              <a:lnSpc>
                <a:spcPts val="1800"/>
              </a:lnSpc>
            </a:pPr>
            <a:r>
              <a:rPr lang="en-US" sz="1500" b="true">
                <a:solidFill>
                  <a:srgbClr val="1F2A44"/>
                </a:solidFill>
                <a:latin typeface="Arimo Bold"/>
                <a:ea typeface="Arimo Bold"/>
                <a:cs typeface="Arimo Bold"/>
                <a:sym typeface="Arimo Bold"/>
              </a:rPr>
              <a:t>Loc</a:t>
            </a:r>
            <a:r>
              <a:rPr lang="en-US" sz="1500" b="true">
                <a:solidFill>
                  <a:srgbClr val="1F2A44"/>
                </a:solidFill>
                <a:latin typeface="Arimo Bold"/>
                <a:ea typeface="Arimo Bold"/>
                <a:cs typeface="Arimo Bold"/>
                <a:sym typeface="Arimo Bold"/>
              </a:rPr>
              <a:t>al site : </a:t>
            </a:r>
            <a:r>
              <a:rPr lang="en-US" sz="1500">
                <a:solidFill>
                  <a:srgbClr val="1F2A44"/>
                </a:solidFill>
                <a:latin typeface="Arimo"/>
                <a:ea typeface="Arimo"/>
                <a:cs typeface="Arimo"/>
                <a:sym typeface="Arimo"/>
              </a:rPr>
              <a:t>Hangpaduri Historic Site </a:t>
            </a:r>
            <a:r>
              <a:rPr lang="en-US" sz="1500" b="true">
                <a:solidFill>
                  <a:srgbClr val="1F8A80"/>
                </a:solidFill>
                <a:latin typeface="Arimo Bold"/>
                <a:ea typeface="Arimo Bold"/>
                <a:cs typeface="Arimo Bold"/>
                <a:sym typeface="Arimo Bold"/>
              </a:rPr>
              <a:t>747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0" id="1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Meet the Jeju Wish-Band</a:t>
            </a:r>
          </a:p>
        </p:txBody>
      </p:sp>
      <p:grpSp>
        <p:nvGrpSpPr>
          <p:cNvPr name="Group 11" id="11"/>
          <p:cNvGrpSpPr/>
          <p:nvPr/>
        </p:nvGrpSpPr>
        <p:grpSpPr>
          <a:xfrm rot="0">
            <a:off x="685800" y="1417320"/>
            <a:ext cx="4183094" cy="5074920"/>
            <a:chOff x="0" y="0"/>
            <a:chExt cx="5577459" cy="6766560"/>
          </a:xfrm>
        </p:grpSpPr>
        <p:sp>
          <p:nvSpPr>
            <p:cNvPr name="Freeform 12" id="12" descr="image24.png"/>
            <p:cNvSpPr/>
            <p:nvPr/>
          </p:nvSpPr>
          <p:spPr>
            <a:xfrm flipH="false" flipV="false" rot="0">
              <a:off x="0" y="0"/>
              <a:ext cx="5577459" cy="6766560"/>
            </a:xfrm>
            <a:custGeom>
              <a:avLst/>
              <a:gdLst/>
              <a:ahLst/>
              <a:cxnLst/>
              <a:rect r="r" b="b" t="t" l="l"/>
              <a:pathLst>
                <a:path h="6766560" w="5577459">
                  <a:moveTo>
                    <a:pt x="0" y="0"/>
                  </a:moveTo>
                  <a:lnTo>
                    <a:pt x="5577459" y="0"/>
                  </a:lnTo>
                  <a:lnTo>
                    <a:pt x="5577459" y="6766560"/>
                  </a:lnTo>
                  <a:lnTo>
                    <a:pt x="0" y="6766560"/>
                  </a:lnTo>
                  <a:lnTo>
                    <a:pt x="0" y="0"/>
                  </a:lnTo>
                  <a:close/>
                </a:path>
              </a:pathLst>
            </a:custGeom>
            <a:blipFill>
              <a:blip r:embed="rId8"/>
              <a:stretch>
                <a:fillRect l="0" t="0" r="0" b="0"/>
              </a:stretch>
            </a:blipFill>
          </p:spPr>
        </p:sp>
      </p:grpSp>
      <p:sp>
        <p:nvSpPr>
          <p:cNvPr name="TextBox 13" id="13"/>
          <p:cNvSpPr txBox="true"/>
          <p:nvPr/>
        </p:nvSpPr>
        <p:spPr>
          <a:xfrm rot="0">
            <a:off x="5120640" y="1443990"/>
            <a:ext cx="3931920" cy="1239898"/>
          </a:xfrm>
          <a:prstGeom prst="rect">
            <a:avLst/>
          </a:prstGeom>
        </p:spPr>
        <p:txBody>
          <a:bodyPr anchor="t" rtlCol="false" tIns="0" lIns="0" bIns="0" rIns="0">
            <a:spAutoFit/>
          </a:bodyPr>
          <a:lstStyle/>
          <a:p>
            <a:pPr algn="l">
              <a:lnSpc>
                <a:spcPts val="2639"/>
              </a:lnSpc>
            </a:pPr>
            <a:r>
              <a:rPr lang="en-US" sz="2199" b="true">
                <a:solidFill>
                  <a:srgbClr val="0D1B4C"/>
                </a:solidFill>
                <a:latin typeface="Arimo Bold"/>
                <a:ea typeface="Arimo Bold"/>
                <a:cs typeface="Arimo Bold"/>
                <a:sym typeface="Arimo Bold"/>
              </a:rPr>
              <a:t>Jeju volcanic-stone beads + NFC</a:t>
            </a:r>
          </a:p>
          <a:p>
            <a:pPr algn="l">
              <a:lnSpc>
                <a:spcPts val="1919"/>
              </a:lnSpc>
            </a:pPr>
            <a:r>
              <a:rPr lang="en-US" sz="1599" b="true">
                <a:solidFill>
                  <a:srgbClr val="1F8A80"/>
                </a:solidFill>
                <a:latin typeface="Arimo Bold"/>
                <a:ea typeface="Arimo Bold"/>
                <a:cs typeface="Arimo Bold"/>
                <a:sym typeface="Arimo Bold"/>
              </a:rPr>
              <a:t>No app download. No battery. SOS at any station, even with a dead phone.</a:t>
            </a:r>
          </a:p>
        </p:txBody>
      </p:sp>
      <p:grpSp>
        <p:nvGrpSpPr>
          <p:cNvPr name="Group 14" id="14"/>
          <p:cNvGrpSpPr/>
          <p:nvPr/>
        </p:nvGrpSpPr>
        <p:grpSpPr>
          <a:xfrm rot="0">
            <a:off x="5120640" y="2788920"/>
            <a:ext cx="3904488" cy="1051560"/>
            <a:chOff x="0" y="0"/>
            <a:chExt cx="5205984" cy="1402080"/>
          </a:xfrm>
        </p:grpSpPr>
        <p:sp>
          <p:nvSpPr>
            <p:cNvPr name="Freeform 15" id="15"/>
            <p:cNvSpPr/>
            <p:nvPr/>
          </p:nvSpPr>
          <p:spPr>
            <a:xfrm flipH="false" flipV="false" rot="0">
              <a:off x="0" y="0"/>
              <a:ext cx="5205984" cy="1402080"/>
            </a:xfrm>
            <a:custGeom>
              <a:avLst/>
              <a:gdLst/>
              <a:ahLst/>
              <a:cxnLst/>
              <a:rect r="r" b="b" t="t" l="l"/>
              <a:pathLst>
                <a:path h="1402080" w="5205984">
                  <a:moveTo>
                    <a:pt x="0" y="168275"/>
                  </a:moveTo>
                  <a:cubicBezTo>
                    <a:pt x="0" y="75311"/>
                    <a:pt x="75311" y="0"/>
                    <a:pt x="168275" y="0"/>
                  </a:cubicBezTo>
                  <a:lnTo>
                    <a:pt x="5037709" y="0"/>
                  </a:lnTo>
                  <a:cubicBezTo>
                    <a:pt x="5130673" y="0"/>
                    <a:pt x="5205984" y="75311"/>
                    <a:pt x="5205984" y="168275"/>
                  </a:cubicBezTo>
                  <a:lnTo>
                    <a:pt x="5205984" y="1233805"/>
                  </a:lnTo>
                  <a:cubicBezTo>
                    <a:pt x="5205984" y="1326769"/>
                    <a:pt x="5130673" y="1402080"/>
                    <a:pt x="5037709" y="1402080"/>
                  </a:cubicBezTo>
                  <a:lnTo>
                    <a:pt x="168275" y="1402080"/>
                  </a:lnTo>
                  <a:cubicBezTo>
                    <a:pt x="75311" y="1402080"/>
                    <a:pt x="0" y="1326769"/>
                    <a:pt x="0" y="1233805"/>
                  </a:cubicBezTo>
                  <a:close/>
                </a:path>
              </a:pathLst>
            </a:custGeom>
            <a:solidFill>
              <a:srgbClr val="FDE2CF"/>
            </a:solidFill>
          </p:spPr>
        </p:sp>
      </p:grpSp>
      <p:grpSp>
        <p:nvGrpSpPr>
          <p:cNvPr name="Group 16" id="16"/>
          <p:cNvGrpSpPr/>
          <p:nvPr/>
        </p:nvGrpSpPr>
        <p:grpSpPr>
          <a:xfrm rot="0">
            <a:off x="5257800" y="3063240"/>
            <a:ext cx="1234440" cy="502920"/>
            <a:chOff x="0" y="0"/>
            <a:chExt cx="1645920" cy="670560"/>
          </a:xfrm>
        </p:grpSpPr>
        <p:sp>
          <p:nvSpPr>
            <p:cNvPr name="Freeform 17" id="17"/>
            <p:cNvSpPr/>
            <p:nvPr/>
          </p:nvSpPr>
          <p:spPr>
            <a:xfrm flipH="false" flipV="false" rot="0">
              <a:off x="0" y="0"/>
              <a:ext cx="1645920" cy="670560"/>
            </a:xfrm>
            <a:custGeom>
              <a:avLst/>
              <a:gdLst/>
              <a:ahLst/>
              <a:cxnLst/>
              <a:rect r="r" b="b" t="t" l="l"/>
              <a:pathLst>
                <a:path h="670560" w="1645920">
                  <a:moveTo>
                    <a:pt x="0" y="335280"/>
                  </a:moveTo>
                  <a:cubicBezTo>
                    <a:pt x="0" y="150114"/>
                    <a:pt x="150114" y="0"/>
                    <a:pt x="335280" y="0"/>
                  </a:cubicBezTo>
                  <a:lnTo>
                    <a:pt x="1310640" y="0"/>
                  </a:lnTo>
                  <a:cubicBezTo>
                    <a:pt x="1495806" y="0"/>
                    <a:pt x="1645920" y="150114"/>
                    <a:pt x="1645920" y="335280"/>
                  </a:cubicBezTo>
                  <a:cubicBezTo>
                    <a:pt x="1645920" y="520446"/>
                    <a:pt x="1495806" y="670560"/>
                    <a:pt x="1310640" y="670560"/>
                  </a:cubicBezTo>
                  <a:lnTo>
                    <a:pt x="335280" y="670560"/>
                  </a:lnTo>
                  <a:cubicBezTo>
                    <a:pt x="150114" y="670560"/>
                    <a:pt x="0" y="520446"/>
                    <a:pt x="0" y="335280"/>
                  </a:cubicBezTo>
                  <a:close/>
                </a:path>
              </a:pathLst>
            </a:custGeom>
            <a:solidFill>
              <a:srgbClr val="F58A4B"/>
            </a:solidFill>
          </p:spPr>
        </p:sp>
        <p:sp>
          <p:nvSpPr>
            <p:cNvPr name="TextBox 18" id="18"/>
            <p:cNvSpPr txBox="true"/>
            <p:nvPr/>
          </p:nvSpPr>
          <p:spPr>
            <a:xfrm>
              <a:off x="0" y="-19050"/>
              <a:ext cx="1645920" cy="689610"/>
            </a:xfrm>
            <a:prstGeom prst="rect">
              <a:avLst/>
            </a:prstGeom>
          </p:spPr>
          <p:txBody>
            <a:bodyPr anchor="ctr" rtlCol="false" tIns="50800" lIns="50800" bIns="50800" rIns="50800"/>
            <a:lstStyle/>
            <a:p>
              <a:pPr algn="ctr">
                <a:lnSpc>
                  <a:spcPts val="1800"/>
                </a:lnSpc>
              </a:pPr>
              <a:r>
                <a:rPr lang="en-US" sz="1500" b="true">
                  <a:solidFill>
                    <a:srgbClr val="FFFFFF"/>
                  </a:solidFill>
                  <a:latin typeface="Arimo Bold"/>
                  <a:ea typeface="Arimo Bold"/>
                  <a:cs typeface="Arimo Bold"/>
                  <a:sym typeface="Arimo Bold"/>
                </a:rPr>
                <a:t>TRAVEL</a:t>
              </a:r>
            </a:p>
          </p:txBody>
        </p:sp>
      </p:grpSp>
      <p:grpSp>
        <p:nvGrpSpPr>
          <p:cNvPr name="Group 19" id="19"/>
          <p:cNvGrpSpPr/>
          <p:nvPr/>
        </p:nvGrpSpPr>
        <p:grpSpPr>
          <a:xfrm rot="0">
            <a:off x="6629400" y="2880360"/>
            <a:ext cx="2286000" cy="868680"/>
            <a:chOff x="0" y="0"/>
            <a:chExt cx="3048000" cy="1158240"/>
          </a:xfrm>
        </p:grpSpPr>
        <p:sp>
          <p:nvSpPr>
            <p:cNvPr name="Freeform 20" id="20"/>
            <p:cNvSpPr/>
            <p:nvPr/>
          </p:nvSpPr>
          <p:spPr>
            <a:xfrm flipH="false" flipV="false" rot="0">
              <a:off x="0" y="0"/>
              <a:ext cx="3048000" cy="1158240"/>
            </a:xfrm>
            <a:custGeom>
              <a:avLst/>
              <a:gdLst/>
              <a:ahLst/>
              <a:cxnLst/>
              <a:rect r="r" b="b" t="t" l="l"/>
              <a:pathLst>
                <a:path h="1158240" w="3048000">
                  <a:moveTo>
                    <a:pt x="0" y="0"/>
                  </a:moveTo>
                  <a:lnTo>
                    <a:pt x="3048000" y="0"/>
                  </a:lnTo>
                  <a:lnTo>
                    <a:pt x="3048000" y="1158240"/>
                  </a:lnTo>
                  <a:lnTo>
                    <a:pt x="0" y="1158240"/>
                  </a:lnTo>
                  <a:close/>
                </a:path>
              </a:pathLst>
            </a:custGeom>
            <a:blipFill>
              <a:blip r:embed="rId9">
                <a:alphaModFix amt="0"/>
              </a:blip>
              <a:stretch>
                <a:fillRect l="0" t="-1276" r="0" b="-1276"/>
              </a:stretch>
            </a:blipFill>
          </p:spPr>
        </p:sp>
        <p:sp>
          <p:nvSpPr>
            <p:cNvPr name="TextBox 21" id="21"/>
            <p:cNvSpPr txBox="true"/>
            <p:nvPr/>
          </p:nvSpPr>
          <p:spPr>
            <a:xfrm>
              <a:off x="0" y="-19050"/>
              <a:ext cx="3048000" cy="1177290"/>
            </a:xfrm>
            <a:prstGeom prst="rect">
              <a:avLst/>
            </a:prstGeom>
          </p:spPr>
          <p:txBody>
            <a:bodyPr anchor="ctr" rtlCol="false" tIns="0" lIns="0" bIns="0" rIns="0"/>
            <a:lstStyle/>
            <a:p>
              <a:pPr algn="l">
                <a:lnSpc>
                  <a:spcPts val="1800"/>
                </a:lnSpc>
              </a:pPr>
              <a:r>
                <a:rPr lang="en-US" sz="1500" b="true">
                  <a:solidFill>
                    <a:srgbClr val="1F2A44"/>
                  </a:solidFill>
                  <a:latin typeface="Arimo Bold"/>
                  <a:ea typeface="Arimo Bold"/>
                  <a:cs typeface="Arimo Bold"/>
                  <a:sym typeface="Arimo Bold"/>
                </a:rPr>
                <a:t>AI picks places, food and activities for you</a:t>
              </a:r>
            </a:p>
          </p:txBody>
        </p:sp>
      </p:grpSp>
      <p:grpSp>
        <p:nvGrpSpPr>
          <p:cNvPr name="Group 22" id="22"/>
          <p:cNvGrpSpPr/>
          <p:nvPr/>
        </p:nvGrpSpPr>
        <p:grpSpPr>
          <a:xfrm rot="0">
            <a:off x="5120640" y="4023360"/>
            <a:ext cx="3904488" cy="1051560"/>
            <a:chOff x="0" y="0"/>
            <a:chExt cx="5205984" cy="1402080"/>
          </a:xfrm>
        </p:grpSpPr>
        <p:sp>
          <p:nvSpPr>
            <p:cNvPr name="Freeform 23" id="23"/>
            <p:cNvSpPr/>
            <p:nvPr/>
          </p:nvSpPr>
          <p:spPr>
            <a:xfrm flipH="false" flipV="false" rot="0">
              <a:off x="0" y="0"/>
              <a:ext cx="5205984" cy="1402080"/>
            </a:xfrm>
            <a:custGeom>
              <a:avLst/>
              <a:gdLst/>
              <a:ahLst/>
              <a:cxnLst/>
              <a:rect r="r" b="b" t="t" l="l"/>
              <a:pathLst>
                <a:path h="1402080" w="5205984">
                  <a:moveTo>
                    <a:pt x="0" y="168275"/>
                  </a:moveTo>
                  <a:cubicBezTo>
                    <a:pt x="0" y="75311"/>
                    <a:pt x="75311" y="0"/>
                    <a:pt x="168275" y="0"/>
                  </a:cubicBezTo>
                  <a:lnTo>
                    <a:pt x="5037709" y="0"/>
                  </a:lnTo>
                  <a:cubicBezTo>
                    <a:pt x="5130673" y="0"/>
                    <a:pt x="5205984" y="75311"/>
                    <a:pt x="5205984" y="168275"/>
                  </a:cubicBezTo>
                  <a:lnTo>
                    <a:pt x="5205984" y="1233805"/>
                  </a:lnTo>
                  <a:cubicBezTo>
                    <a:pt x="5205984" y="1326769"/>
                    <a:pt x="5130673" y="1402080"/>
                    <a:pt x="5037709" y="1402080"/>
                  </a:cubicBezTo>
                  <a:lnTo>
                    <a:pt x="168275" y="1402080"/>
                  </a:lnTo>
                  <a:cubicBezTo>
                    <a:pt x="75311" y="1402080"/>
                    <a:pt x="0" y="1326769"/>
                    <a:pt x="0" y="1233805"/>
                  </a:cubicBezTo>
                  <a:close/>
                </a:path>
              </a:pathLst>
            </a:custGeom>
            <a:solidFill>
              <a:srgbClr val="D3EFEC"/>
            </a:solidFill>
          </p:spPr>
        </p:sp>
      </p:grpSp>
      <p:grpSp>
        <p:nvGrpSpPr>
          <p:cNvPr name="Group 24" id="24"/>
          <p:cNvGrpSpPr/>
          <p:nvPr/>
        </p:nvGrpSpPr>
        <p:grpSpPr>
          <a:xfrm rot="0">
            <a:off x="5257800" y="4297680"/>
            <a:ext cx="1234440" cy="502920"/>
            <a:chOff x="0" y="0"/>
            <a:chExt cx="1645920" cy="670560"/>
          </a:xfrm>
        </p:grpSpPr>
        <p:sp>
          <p:nvSpPr>
            <p:cNvPr name="Freeform 25" id="25"/>
            <p:cNvSpPr/>
            <p:nvPr/>
          </p:nvSpPr>
          <p:spPr>
            <a:xfrm flipH="false" flipV="false" rot="0">
              <a:off x="0" y="0"/>
              <a:ext cx="1645920" cy="670560"/>
            </a:xfrm>
            <a:custGeom>
              <a:avLst/>
              <a:gdLst/>
              <a:ahLst/>
              <a:cxnLst/>
              <a:rect r="r" b="b" t="t" l="l"/>
              <a:pathLst>
                <a:path h="670560" w="1645920">
                  <a:moveTo>
                    <a:pt x="0" y="335280"/>
                  </a:moveTo>
                  <a:cubicBezTo>
                    <a:pt x="0" y="150114"/>
                    <a:pt x="150114" y="0"/>
                    <a:pt x="335280" y="0"/>
                  </a:cubicBezTo>
                  <a:lnTo>
                    <a:pt x="1310640" y="0"/>
                  </a:lnTo>
                  <a:cubicBezTo>
                    <a:pt x="1495806" y="0"/>
                    <a:pt x="1645920" y="150114"/>
                    <a:pt x="1645920" y="335280"/>
                  </a:cubicBezTo>
                  <a:cubicBezTo>
                    <a:pt x="1645920" y="520446"/>
                    <a:pt x="1495806" y="670560"/>
                    <a:pt x="1310640" y="670560"/>
                  </a:cubicBezTo>
                  <a:lnTo>
                    <a:pt x="335280" y="670560"/>
                  </a:lnTo>
                  <a:cubicBezTo>
                    <a:pt x="150114" y="670560"/>
                    <a:pt x="0" y="520446"/>
                    <a:pt x="0" y="335280"/>
                  </a:cubicBezTo>
                  <a:close/>
                </a:path>
              </a:pathLst>
            </a:custGeom>
            <a:solidFill>
              <a:srgbClr val="2A9D93"/>
            </a:solidFill>
          </p:spPr>
        </p:sp>
        <p:sp>
          <p:nvSpPr>
            <p:cNvPr name="TextBox 26" id="26"/>
            <p:cNvSpPr txBox="true"/>
            <p:nvPr/>
          </p:nvSpPr>
          <p:spPr>
            <a:xfrm>
              <a:off x="0" y="-19050"/>
              <a:ext cx="1645920" cy="689610"/>
            </a:xfrm>
            <a:prstGeom prst="rect">
              <a:avLst/>
            </a:prstGeom>
          </p:spPr>
          <p:txBody>
            <a:bodyPr anchor="ctr" rtlCol="false" tIns="50800" lIns="50800" bIns="50800" rIns="50800"/>
            <a:lstStyle/>
            <a:p>
              <a:pPr algn="ctr">
                <a:lnSpc>
                  <a:spcPts val="1800"/>
                </a:lnSpc>
              </a:pPr>
              <a:r>
                <a:rPr lang="en-US" sz="1500" b="true">
                  <a:solidFill>
                    <a:srgbClr val="FFFFFF"/>
                  </a:solidFill>
                  <a:latin typeface="Arimo Bold"/>
                  <a:ea typeface="Arimo Bold"/>
                  <a:cs typeface="Arimo Bold"/>
                  <a:sym typeface="Arimo Bold"/>
                </a:rPr>
                <a:t>CONNECT</a:t>
              </a:r>
            </a:p>
          </p:txBody>
        </p:sp>
      </p:grpSp>
      <p:grpSp>
        <p:nvGrpSpPr>
          <p:cNvPr name="Group 27" id="27"/>
          <p:cNvGrpSpPr/>
          <p:nvPr/>
        </p:nvGrpSpPr>
        <p:grpSpPr>
          <a:xfrm rot="0">
            <a:off x="6629400" y="4114800"/>
            <a:ext cx="2286000" cy="868680"/>
            <a:chOff x="0" y="0"/>
            <a:chExt cx="3048000" cy="1158240"/>
          </a:xfrm>
        </p:grpSpPr>
        <p:sp>
          <p:nvSpPr>
            <p:cNvPr name="Freeform 28" id="28"/>
            <p:cNvSpPr/>
            <p:nvPr/>
          </p:nvSpPr>
          <p:spPr>
            <a:xfrm flipH="false" flipV="false" rot="0">
              <a:off x="0" y="0"/>
              <a:ext cx="3048000" cy="1158240"/>
            </a:xfrm>
            <a:custGeom>
              <a:avLst/>
              <a:gdLst/>
              <a:ahLst/>
              <a:cxnLst/>
              <a:rect r="r" b="b" t="t" l="l"/>
              <a:pathLst>
                <a:path h="1158240" w="3048000">
                  <a:moveTo>
                    <a:pt x="0" y="0"/>
                  </a:moveTo>
                  <a:lnTo>
                    <a:pt x="3048000" y="0"/>
                  </a:lnTo>
                  <a:lnTo>
                    <a:pt x="3048000" y="1158240"/>
                  </a:lnTo>
                  <a:lnTo>
                    <a:pt x="0" y="1158240"/>
                  </a:lnTo>
                  <a:close/>
                </a:path>
              </a:pathLst>
            </a:custGeom>
            <a:blipFill>
              <a:blip r:embed="rId9">
                <a:alphaModFix amt="0"/>
              </a:blip>
              <a:stretch>
                <a:fillRect l="0" t="-1276" r="0" b="-1276"/>
              </a:stretch>
            </a:blipFill>
          </p:spPr>
        </p:sp>
        <p:sp>
          <p:nvSpPr>
            <p:cNvPr name="TextBox 29" id="29"/>
            <p:cNvSpPr txBox="true"/>
            <p:nvPr/>
          </p:nvSpPr>
          <p:spPr>
            <a:xfrm>
              <a:off x="0" y="-19050"/>
              <a:ext cx="3048000" cy="1177290"/>
            </a:xfrm>
            <a:prstGeom prst="rect">
              <a:avLst/>
            </a:prstGeom>
          </p:spPr>
          <p:txBody>
            <a:bodyPr anchor="ctr" rtlCol="false" tIns="0" lIns="0" bIns="0" rIns="0"/>
            <a:lstStyle/>
            <a:p>
              <a:pPr algn="l">
                <a:lnSpc>
                  <a:spcPts val="1800"/>
                </a:lnSpc>
              </a:pPr>
              <a:r>
                <a:rPr lang="en-US" sz="1500" b="true">
                  <a:solidFill>
                    <a:srgbClr val="1F2A44"/>
                  </a:solidFill>
                  <a:latin typeface="Arimo Bold"/>
                  <a:ea typeface="Arimo Bold"/>
                  <a:cs typeface="Arimo Bold"/>
                  <a:sym typeface="Arimo Bold"/>
                </a:rPr>
                <a:t>Stamps at local shops unlock a market voucher</a:t>
              </a:r>
            </a:p>
          </p:txBody>
        </p:sp>
      </p:grpSp>
      <p:grpSp>
        <p:nvGrpSpPr>
          <p:cNvPr name="Group 30" id="30"/>
          <p:cNvGrpSpPr/>
          <p:nvPr/>
        </p:nvGrpSpPr>
        <p:grpSpPr>
          <a:xfrm rot="0">
            <a:off x="5120640" y="5257800"/>
            <a:ext cx="3904488" cy="1051560"/>
            <a:chOff x="0" y="0"/>
            <a:chExt cx="5205984" cy="1402080"/>
          </a:xfrm>
        </p:grpSpPr>
        <p:sp>
          <p:nvSpPr>
            <p:cNvPr name="Freeform 31" id="31"/>
            <p:cNvSpPr/>
            <p:nvPr/>
          </p:nvSpPr>
          <p:spPr>
            <a:xfrm flipH="false" flipV="false" rot="0">
              <a:off x="0" y="0"/>
              <a:ext cx="5205984" cy="1402080"/>
            </a:xfrm>
            <a:custGeom>
              <a:avLst/>
              <a:gdLst/>
              <a:ahLst/>
              <a:cxnLst/>
              <a:rect r="r" b="b" t="t" l="l"/>
              <a:pathLst>
                <a:path h="1402080" w="5205984">
                  <a:moveTo>
                    <a:pt x="0" y="168275"/>
                  </a:moveTo>
                  <a:cubicBezTo>
                    <a:pt x="0" y="75311"/>
                    <a:pt x="75311" y="0"/>
                    <a:pt x="168275" y="0"/>
                  </a:cubicBezTo>
                  <a:lnTo>
                    <a:pt x="5037709" y="0"/>
                  </a:lnTo>
                  <a:cubicBezTo>
                    <a:pt x="5130673" y="0"/>
                    <a:pt x="5205984" y="75311"/>
                    <a:pt x="5205984" y="168275"/>
                  </a:cubicBezTo>
                  <a:lnTo>
                    <a:pt x="5205984" y="1233805"/>
                  </a:lnTo>
                  <a:cubicBezTo>
                    <a:pt x="5205984" y="1326769"/>
                    <a:pt x="5130673" y="1402080"/>
                    <a:pt x="5037709" y="1402080"/>
                  </a:cubicBezTo>
                  <a:lnTo>
                    <a:pt x="168275" y="1402080"/>
                  </a:lnTo>
                  <a:cubicBezTo>
                    <a:pt x="75311" y="1402080"/>
                    <a:pt x="0" y="1326769"/>
                    <a:pt x="0" y="1233805"/>
                  </a:cubicBezTo>
                  <a:close/>
                </a:path>
              </a:pathLst>
            </a:custGeom>
            <a:solidFill>
              <a:srgbClr val="FBE9A6"/>
            </a:solidFill>
          </p:spPr>
        </p:sp>
      </p:grpSp>
      <p:grpSp>
        <p:nvGrpSpPr>
          <p:cNvPr name="Group 32" id="32"/>
          <p:cNvGrpSpPr/>
          <p:nvPr/>
        </p:nvGrpSpPr>
        <p:grpSpPr>
          <a:xfrm rot="0">
            <a:off x="5257800" y="5532120"/>
            <a:ext cx="1234440" cy="502920"/>
            <a:chOff x="0" y="0"/>
            <a:chExt cx="1645920" cy="670560"/>
          </a:xfrm>
        </p:grpSpPr>
        <p:sp>
          <p:nvSpPr>
            <p:cNvPr name="Freeform 33" id="33"/>
            <p:cNvSpPr/>
            <p:nvPr/>
          </p:nvSpPr>
          <p:spPr>
            <a:xfrm flipH="false" flipV="false" rot="0">
              <a:off x="0" y="0"/>
              <a:ext cx="1645920" cy="670560"/>
            </a:xfrm>
            <a:custGeom>
              <a:avLst/>
              <a:gdLst/>
              <a:ahLst/>
              <a:cxnLst/>
              <a:rect r="r" b="b" t="t" l="l"/>
              <a:pathLst>
                <a:path h="670560" w="1645920">
                  <a:moveTo>
                    <a:pt x="0" y="335280"/>
                  </a:moveTo>
                  <a:cubicBezTo>
                    <a:pt x="0" y="150114"/>
                    <a:pt x="150114" y="0"/>
                    <a:pt x="335280" y="0"/>
                  </a:cubicBezTo>
                  <a:lnTo>
                    <a:pt x="1310640" y="0"/>
                  </a:lnTo>
                  <a:cubicBezTo>
                    <a:pt x="1495806" y="0"/>
                    <a:pt x="1645920" y="150114"/>
                    <a:pt x="1645920" y="335280"/>
                  </a:cubicBezTo>
                  <a:cubicBezTo>
                    <a:pt x="1645920" y="520446"/>
                    <a:pt x="1495806" y="670560"/>
                    <a:pt x="1310640" y="670560"/>
                  </a:cubicBezTo>
                  <a:lnTo>
                    <a:pt x="335280" y="670560"/>
                  </a:lnTo>
                  <a:cubicBezTo>
                    <a:pt x="150114" y="670560"/>
                    <a:pt x="0" y="520446"/>
                    <a:pt x="0" y="335280"/>
                  </a:cubicBezTo>
                  <a:close/>
                </a:path>
              </a:pathLst>
            </a:custGeom>
            <a:solidFill>
              <a:srgbClr val="F6C945"/>
            </a:solidFill>
          </p:spPr>
        </p:sp>
        <p:sp>
          <p:nvSpPr>
            <p:cNvPr name="TextBox 34" id="34"/>
            <p:cNvSpPr txBox="true"/>
            <p:nvPr/>
          </p:nvSpPr>
          <p:spPr>
            <a:xfrm>
              <a:off x="0" y="-19050"/>
              <a:ext cx="1645920" cy="689610"/>
            </a:xfrm>
            <a:prstGeom prst="rect">
              <a:avLst/>
            </a:prstGeom>
          </p:spPr>
          <p:txBody>
            <a:bodyPr anchor="ctr" rtlCol="false" tIns="50800" lIns="50800" bIns="50800" rIns="50800"/>
            <a:lstStyle/>
            <a:p>
              <a:pPr algn="ctr">
                <a:lnSpc>
                  <a:spcPts val="1800"/>
                </a:lnSpc>
              </a:pPr>
              <a:r>
                <a:rPr lang="en-US" sz="1500" b="true">
                  <a:solidFill>
                    <a:srgbClr val="0D1B4C"/>
                  </a:solidFill>
                  <a:latin typeface="Arimo Bold"/>
                  <a:ea typeface="Arimo Bold"/>
                  <a:cs typeface="Arimo Bold"/>
                  <a:sym typeface="Arimo Bold"/>
                </a:rPr>
                <a:t>PROTECT</a:t>
              </a:r>
            </a:p>
          </p:txBody>
        </p:sp>
      </p:grpSp>
      <p:grpSp>
        <p:nvGrpSpPr>
          <p:cNvPr name="Group 35" id="35"/>
          <p:cNvGrpSpPr/>
          <p:nvPr/>
        </p:nvGrpSpPr>
        <p:grpSpPr>
          <a:xfrm rot="0">
            <a:off x="6629400" y="5349240"/>
            <a:ext cx="2286000" cy="868680"/>
            <a:chOff x="0" y="0"/>
            <a:chExt cx="3048000" cy="1158240"/>
          </a:xfrm>
        </p:grpSpPr>
        <p:sp>
          <p:nvSpPr>
            <p:cNvPr name="Freeform 36" id="36"/>
            <p:cNvSpPr/>
            <p:nvPr/>
          </p:nvSpPr>
          <p:spPr>
            <a:xfrm flipH="false" flipV="false" rot="0">
              <a:off x="0" y="0"/>
              <a:ext cx="3048000" cy="1158240"/>
            </a:xfrm>
            <a:custGeom>
              <a:avLst/>
              <a:gdLst/>
              <a:ahLst/>
              <a:cxnLst/>
              <a:rect r="r" b="b" t="t" l="l"/>
              <a:pathLst>
                <a:path h="1158240" w="3048000">
                  <a:moveTo>
                    <a:pt x="0" y="0"/>
                  </a:moveTo>
                  <a:lnTo>
                    <a:pt x="3048000" y="0"/>
                  </a:lnTo>
                  <a:lnTo>
                    <a:pt x="3048000" y="1158240"/>
                  </a:lnTo>
                  <a:lnTo>
                    <a:pt x="0" y="1158240"/>
                  </a:lnTo>
                  <a:close/>
                </a:path>
              </a:pathLst>
            </a:custGeom>
            <a:blipFill>
              <a:blip r:embed="rId9">
                <a:alphaModFix amt="0"/>
              </a:blip>
              <a:stretch>
                <a:fillRect l="0" t="-1276" r="0" b="-1276"/>
              </a:stretch>
            </a:blipFill>
          </p:spPr>
        </p:sp>
        <p:sp>
          <p:nvSpPr>
            <p:cNvPr name="TextBox 37" id="37"/>
            <p:cNvSpPr txBox="true"/>
            <p:nvPr/>
          </p:nvSpPr>
          <p:spPr>
            <a:xfrm>
              <a:off x="0" y="-19050"/>
              <a:ext cx="3048000" cy="1177290"/>
            </a:xfrm>
            <a:prstGeom prst="rect">
              <a:avLst/>
            </a:prstGeom>
          </p:spPr>
          <p:txBody>
            <a:bodyPr anchor="ctr" rtlCol="false" tIns="0" lIns="0" bIns="0" rIns="0"/>
            <a:lstStyle/>
            <a:p>
              <a:pPr algn="l">
                <a:lnSpc>
                  <a:spcPts val="1800"/>
                </a:lnSpc>
              </a:pPr>
              <a:r>
                <a:rPr lang="en-US" sz="1500" b="true">
                  <a:solidFill>
                    <a:srgbClr val="1F2A44"/>
                  </a:solidFill>
                  <a:latin typeface="Arimo Bold"/>
                  <a:ea typeface="Arimo Bold"/>
                  <a:cs typeface="Arimo Bold"/>
                  <a:sym typeface="Arimo Bold"/>
                </a:rPr>
                <a:t>SOS sends your info to the help desk</a:t>
              </a:r>
            </a:p>
          </p:txBody>
        </p:sp>
      </p:grpSp>
      <p:sp>
        <p:nvSpPr>
          <p:cNvPr name="Freeform 38" id="38"/>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0" id="1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Live Demo</a:t>
            </a:r>
          </a:p>
        </p:txBody>
      </p:sp>
      <p:sp>
        <p:nvSpPr>
          <p:cNvPr name="TextBox 11" id="11"/>
          <p:cNvSpPr txBox="true"/>
          <p:nvPr/>
        </p:nvSpPr>
        <p:spPr>
          <a:xfrm rot="0">
            <a:off x="731520" y="1352550"/>
            <a:ext cx="8293608" cy="750570"/>
          </a:xfrm>
          <a:prstGeom prst="rect">
            <a:avLst/>
          </a:prstGeom>
        </p:spPr>
        <p:txBody>
          <a:bodyPr anchor="t" rtlCol="false" tIns="0" lIns="0" bIns="0" rIns="0">
            <a:spAutoFit/>
          </a:bodyPr>
          <a:lstStyle/>
          <a:p>
            <a:pPr algn="ctr">
              <a:lnSpc>
                <a:spcPts val="5280"/>
              </a:lnSpc>
            </a:pPr>
            <a:r>
              <a:rPr lang="en-US" sz="4400" b="true">
                <a:solidFill>
                  <a:srgbClr val="F58A4B"/>
                </a:solidFill>
                <a:latin typeface="Arimo Bold"/>
                <a:ea typeface="Arimo Bold"/>
                <a:cs typeface="Arimo Bold"/>
                <a:sym typeface="Arimo Bold"/>
              </a:rPr>
              <a:t>LIVE DEMO</a:t>
            </a:r>
          </a:p>
        </p:txBody>
      </p:sp>
      <p:grpSp>
        <p:nvGrpSpPr>
          <p:cNvPr name="Group 12" id="12"/>
          <p:cNvGrpSpPr/>
          <p:nvPr/>
        </p:nvGrpSpPr>
        <p:grpSpPr>
          <a:xfrm rot="0">
            <a:off x="731520" y="2377440"/>
            <a:ext cx="1874520" cy="2743200"/>
            <a:chOff x="0" y="0"/>
            <a:chExt cx="2499360" cy="3657600"/>
          </a:xfrm>
        </p:grpSpPr>
        <p:sp>
          <p:nvSpPr>
            <p:cNvPr name="Freeform 13" id="13"/>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FDE2CF"/>
            </a:solidFill>
          </p:spPr>
        </p:sp>
      </p:grpSp>
      <p:grpSp>
        <p:nvGrpSpPr>
          <p:cNvPr name="Group 14" id="14"/>
          <p:cNvGrpSpPr/>
          <p:nvPr/>
        </p:nvGrpSpPr>
        <p:grpSpPr>
          <a:xfrm rot="0">
            <a:off x="1417320" y="2560320"/>
            <a:ext cx="502920" cy="502920"/>
            <a:chOff x="0" y="0"/>
            <a:chExt cx="670560" cy="670560"/>
          </a:xfrm>
        </p:grpSpPr>
        <p:sp>
          <p:nvSpPr>
            <p:cNvPr name="Freeform 15" id="15"/>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F58A4B"/>
            </a:solidFill>
          </p:spPr>
        </p:sp>
        <p:sp>
          <p:nvSpPr>
            <p:cNvPr name="TextBox 16" id="16"/>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1</a:t>
              </a:r>
            </a:p>
          </p:txBody>
        </p:sp>
      </p:grpSp>
      <p:sp>
        <p:nvSpPr>
          <p:cNvPr name="TextBox 17" id="17"/>
          <p:cNvSpPr txBox="true"/>
          <p:nvPr/>
        </p:nvSpPr>
        <p:spPr>
          <a:xfrm rot="0">
            <a:off x="841248" y="3227070"/>
            <a:ext cx="1655064" cy="2857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AI picks</a:t>
            </a:r>
          </a:p>
        </p:txBody>
      </p:sp>
      <p:sp>
        <p:nvSpPr>
          <p:cNvPr name="TextBox 18" id="18"/>
          <p:cNvSpPr txBox="true"/>
          <p:nvPr/>
        </p:nvSpPr>
        <p:spPr>
          <a:xfrm rot="0">
            <a:off x="868680" y="3741420"/>
            <a:ext cx="1600200" cy="11620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AI pick</a:t>
            </a:r>
            <a:r>
              <a:rPr lang="en-US" sz="1500">
                <a:solidFill>
                  <a:srgbClr val="1F2A44"/>
                </a:solidFill>
                <a:latin typeface="Arimo"/>
                <a:ea typeface="Arimo"/>
                <a:cs typeface="Arimo"/>
                <a:sym typeface="Arimo"/>
              </a:rPr>
              <a:t>s today’s place, food and activity from weather, interests and crowd level</a:t>
            </a:r>
          </a:p>
        </p:txBody>
      </p:sp>
      <p:grpSp>
        <p:nvGrpSpPr>
          <p:cNvPr name="Group 19" id="19"/>
          <p:cNvGrpSpPr/>
          <p:nvPr/>
        </p:nvGrpSpPr>
        <p:grpSpPr>
          <a:xfrm rot="0">
            <a:off x="2624328" y="3566160"/>
            <a:ext cx="219456" cy="292608"/>
            <a:chOff x="0" y="0"/>
            <a:chExt cx="292608" cy="390144"/>
          </a:xfrm>
        </p:grpSpPr>
        <p:sp>
          <p:nvSpPr>
            <p:cNvPr name="Freeform 20" id="20"/>
            <p:cNvSpPr/>
            <p:nvPr/>
          </p:nvSpPr>
          <p:spPr>
            <a:xfrm flipH="false" flipV="false" rot="0">
              <a:off x="0" y="0"/>
              <a:ext cx="292608" cy="390144"/>
            </a:xfrm>
            <a:custGeom>
              <a:avLst/>
              <a:gdLst/>
              <a:ahLst/>
              <a:cxnLst/>
              <a:rect r="r" b="b" t="t" l="l"/>
              <a:pathLst>
                <a:path h="390144" w="292608">
                  <a:moveTo>
                    <a:pt x="0" y="97536"/>
                  </a:moveTo>
                  <a:lnTo>
                    <a:pt x="146304" y="97536"/>
                  </a:lnTo>
                  <a:lnTo>
                    <a:pt x="146304" y="0"/>
                  </a:lnTo>
                  <a:lnTo>
                    <a:pt x="292608" y="195072"/>
                  </a:lnTo>
                  <a:lnTo>
                    <a:pt x="146304" y="390144"/>
                  </a:lnTo>
                  <a:lnTo>
                    <a:pt x="146304" y="292608"/>
                  </a:lnTo>
                  <a:lnTo>
                    <a:pt x="0" y="292608"/>
                  </a:lnTo>
                  <a:close/>
                </a:path>
              </a:pathLst>
            </a:custGeom>
            <a:solidFill>
              <a:srgbClr val="0D1B4C"/>
            </a:solidFill>
          </p:spPr>
        </p:sp>
      </p:grpSp>
      <p:grpSp>
        <p:nvGrpSpPr>
          <p:cNvPr name="Group 21" id="21"/>
          <p:cNvGrpSpPr/>
          <p:nvPr/>
        </p:nvGrpSpPr>
        <p:grpSpPr>
          <a:xfrm rot="0">
            <a:off x="2862072" y="2377440"/>
            <a:ext cx="1874520" cy="2743200"/>
            <a:chOff x="0" y="0"/>
            <a:chExt cx="2499360" cy="3657600"/>
          </a:xfrm>
        </p:grpSpPr>
        <p:sp>
          <p:nvSpPr>
            <p:cNvPr name="Freeform 22" id="22"/>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D3EFEC"/>
            </a:solidFill>
          </p:spPr>
        </p:sp>
      </p:grpSp>
      <p:grpSp>
        <p:nvGrpSpPr>
          <p:cNvPr name="Group 23" id="23"/>
          <p:cNvGrpSpPr/>
          <p:nvPr/>
        </p:nvGrpSpPr>
        <p:grpSpPr>
          <a:xfrm rot="0">
            <a:off x="3547872" y="2560320"/>
            <a:ext cx="502920" cy="502920"/>
            <a:chOff x="0" y="0"/>
            <a:chExt cx="670560" cy="670560"/>
          </a:xfrm>
        </p:grpSpPr>
        <p:sp>
          <p:nvSpPr>
            <p:cNvPr name="Freeform 24" id="24"/>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2A9D93"/>
            </a:solidFill>
          </p:spPr>
        </p:sp>
        <p:sp>
          <p:nvSpPr>
            <p:cNvPr name="TextBox 25" id="25"/>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sp>
        <p:nvSpPr>
          <p:cNvPr name="TextBox 26" id="26"/>
          <p:cNvSpPr txBox="true"/>
          <p:nvPr/>
        </p:nvSpPr>
        <p:spPr>
          <a:xfrm rot="0">
            <a:off x="2971800" y="3227070"/>
            <a:ext cx="1655064" cy="75057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Tap 3 stations</a:t>
            </a:r>
          </a:p>
        </p:txBody>
      </p:sp>
      <p:sp>
        <p:nvSpPr>
          <p:cNvPr name="TextBox 27" id="27"/>
          <p:cNvSpPr txBox="true"/>
          <p:nvPr/>
        </p:nvSpPr>
        <p:spPr>
          <a:xfrm rot="0">
            <a:off x="3002280" y="3729990"/>
            <a:ext cx="1600200" cy="7048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Place, food, activity: beep + stamp</a:t>
            </a:r>
          </a:p>
        </p:txBody>
      </p:sp>
      <p:grpSp>
        <p:nvGrpSpPr>
          <p:cNvPr name="Group 28" id="28"/>
          <p:cNvGrpSpPr/>
          <p:nvPr/>
        </p:nvGrpSpPr>
        <p:grpSpPr>
          <a:xfrm rot="0">
            <a:off x="4754880" y="3566160"/>
            <a:ext cx="219456" cy="292608"/>
            <a:chOff x="0" y="0"/>
            <a:chExt cx="292608" cy="390144"/>
          </a:xfrm>
        </p:grpSpPr>
        <p:sp>
          <p:nvSpPr>
            <p:cNvPr name="Freeform 29" id="29"/>
            <p:cNvSpPr/>
            <p:nvPr/>
          </p:nvSpPr>
          <p:spPr>
            <a:xfrm flipH="false" flipV="false" rot="0">
              <a:off x="0" y="0"/>
              <a:ext cx="292608" cy="390144"/>
            </a:xfrm>
            <a:custGeom>
              <a:avLst/>
              <a:gdLst/>
              <a:ahLst/>
              <a:cxnLst/>
              <a:rect r="r" b="b" t="t" l="l"/>
              <a:pathLst>
                <a:path h="390144" w="292608">
                  <a:moveTo>
                    <a:pt x="0" y="97536"/>
                  </a:moveTo>
                  <a:lnTo>
                    <a:pt x="146304" y="97536"/>
                  </a:lnTo>
                  <a:lnTo>
                    <a:pt x="146304" y="0"/>
                  </a:lnTo>
                  <a:lnTo>
                    <a:pt x="292608" y="195072"/>
                  </a:lnTo>
                  <a:lnTo>
                    <a:pt x="146304" y="390144"/>
                  </a:lnTo>
                  <a:lnTo>
                    <a:pt x="146304" y="292608"/>
                  </a:lnTo>
                  <a:lnTo>
                    <a:pt x="0" y="292608"/>
                  </a:lnTo>
                  <a:close/>
                </a:path>
              </a:pathLst>
            </a:custGeom>
            <a:solidFill>
              <a:srgbClr val="0D1B4C"/>
            </a:solidFill>
          </p:spPr>
        </p:sp>
      </p:grpSp>
      <p:grpSp>
        <p:nvGrpSpPr>
          <p:cNvPr name="Group 30" id="30"/>
          <p:cNvGrpSpPr/>
          <p:nvPr/>
        </p:nvGrpSpPr>
        <p:grpSpPr>
          <a:xfrm rot="0">
            <a:off x="4992624" y="2377440"/>
            <a:ext cx="1874520" cy="2743200"/>
            <a:chOff x="0" y="0"/>
            <a:chExt cx="2499360" cy="3657600"/>
          </a:xfrm>
        </p:grpSpPr>
        <p:sp>
          <p:nvSpPr>
            <p:cNvPr name="Freeform 31" id="31"/>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FBE9A6"/>
            </a:solidFill>
          </p:spPr>
        </p:sp>
      </p:grpSp>
      <p:grpSp>
        <p:nvGrpSpPr>
          <p:cNvPr name="Group 32" id="32"/>
          <p:cNvGrpSpPr/>
          <p:nvPr/>
        </p:nvGrpSpPr>
        <p:grpSpPr>
          <a:xfrm rot="0">
            <a:off x="5678424" y="2560320"/>
            <a:ext cx="502920" cy="502920"/>
            <a:chOff x="0" y="0"/>
            <a:chExt cx="670560" cy="670560"/>
          </a:xfrm>
        </p:grpSpPr>
        <p:sp>
          <p:nvSpPr>
            <p:cNvPr name="Freeform 33" id="33"/>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F6C945"/>
            </a:solidFill>
          </p:spPr>
        </p:sp>
        <p:sp>
          <p:nvSpPr>
            <p:cNvPr name="TextBox 34" id="34"/>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0D1B4C"/>
                  </a:solidFill>
                  <a:latin typeface="Arimo Bold"/>
                  <a:ea typeface="Arimo Bold"/>
                  <a:cs typeface="Arimo Bold"/>
                  <a:sym typeface="Arimo Bold"/>
                </a:rPr>
                <a:t>3</a:t>
              </a:r>
            </a:p>
          </p:txBody>
        </p:sp>
      </p:grpSp>
      <p:sp>
        <p:nvSpPr>
          <p:cNvPr name="TextBox 35" id="35"/>
          <p:cNvSpPr txBox="true"/>
          <p:nvPr/>
        </p:nvSpPr>
        <p:spPr>
          <a:xfrm rot="0">
            <a:off x="5106543" y="3135630"/>
            <a:ext cx="1655064" cy="75057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Voucher unlocked</a:t>
            </a:r>
          </a:p>
        </p:txBody>
      </p:sp>
      <p:sp>
        <p:nvSpPr>
          <p:cNvPr name="TextBox 36" id="36"/>
          <p:cNvSpPr txBox="true"/>
          <p:nvPr/>
        </p:nvSpPr>
        <p:spPr>
          <a:xfrm rot="0">
            <a:off x="5129784" y="3958590"/>
            <a:ext cx="1600200" cy="107061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4,000 KRW at Dongmun Market</a:t>
            </a:r>
          </a:p>
        </p:txBody>
      </p:sp>
      <p:grpSp>
        <p:nvGrpSpPr>
          <p:cNvPr name="Group 37" id="37"/>
          <p:cNvGrpSpPr/>
          <p:nvPr/>
        </p:nvGrpSpPr>
        <p:grpSpPr>
          <a:xfrm rot="0">
            <a:off x="6885432" y="3566160"/>
            <a:ext cx="219456" cy="292608"/>
            <a:chOff x="0" y="0"/>
            <a:chExt cx="292608" cy="390144"/>
          </a:xfrm>
        </p:grpSpPr>
        <p:sp>
          <p:nvSpPr>
            <p:cNvPr name="Freeform 38" id="38"/>
            <p:cNvSpPr/>
            <p:nvPr/>
          </p:nvSpPr>
          <p:spPr>
            <a:xfrm flipH="false" flipV="false" rot="0">
              <a:off x="0" y="0"/>
              <a:ext cx="292608" cy="390144"/>
            </a:xfrm>
            <a:custGeom>
              <a:avLst/>
              <a:gdLst/>
              <a:ahLst/>
              <a:cxnLst/>
              <a:rect r="r" b="b" t="t" l="l"/>
              <a:pathLst>
                <a:path h="390144" w="292608">
                  <a:moveTo>
                    <a:pt x="0" y="97536"/>
                  </a:moveTo>
                  <a:lnTo>
                    <a:pt x="146304" y="97536"/>
                  </a:lnTo>
                  <a:lnTo>
                    <a:pt x="146304" y="0"/>
                  </a:lnTo>
                  <a:lnTo>
                    <a:pt x="292608" y="195072"/>
                  </a:lnTo>
                  <a:lnTo>
                    <a:pt x="146304" y="390144"/>
                  </a:lnTo>
                  <a:lnTo>
                    <a:pt x="146304" y="292608"/>
                  </a:lnTo>
                  <a:lnTo>
                    <a:pt x="0" y="292608"/>
                  </a:lnTo>
                  <a:close/>
                </a:path>
              </a:pathLst>
            </a:custGeom>
            <a:solidFill>
              <a:srgbClr val="0D1B4C"/>
            </a:solidFill>
          </p:spPr>
        </p:sp>
      </p:grpSp>
      <p:grpSp>
        <p:nvGrpSpPr>
          <p:cNvPr name="Group 39" id="39"/>
          <p:cNvGrpSpPr/>
          <p:nvPr/>
        </p:nvGrpSpPr>
        <p:grpSpPr>
          <a:xfrm rot="0">
            <a:off x="7123176" y="2377440"/>
            <a:ext cx="1874520" cy="2743200"/>
            <a:chOff x="0" y="0"/>
            <a:chExt cx="2499360" cy="3657600"/>
          </a:xfrm>
        </p:grpSpPr>
        <p:sp>
          <p:nvSpPr>
            <p:cNvPr name="Freeform 40" id="40"/>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F9D6D6"/>
            </a:solidFill>
          </p:spPr>
        </p:sp>
      </p:grpSp>
      <p:grpSp>
        <p:nvGrpSpPr>
          <p:cNvPr name="Group 41" id="41"/>
          <p:cNvGrpSpPr/>
          <p:nvPr/>
        </p:nvGrpSpPr>
        <p:grpSpPr>
          <a:xfrm rot="0">
            <a:off x="7808976" y="2560320"/>
            <a:ext cx="502920" cy="502920"/>
            <a:chOff x="0" y="0"/>
            <a:chExt cx="670560" cy="670560"/>
          </a:xfrm>
        </p:grpSpPr>
        <p:sp>
          <p:nvSpPr>
            <p:cNvPr name="Freeform 42" id="42"/>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D64545"/>
            </a:solidFill>
          </p:spPr>
        </p:sp>
        <p:sp>
          <p:nvSpPr>
            <p:cNvPr name="TextBox 43" id="43"/>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4</a:t>
              </a:r>
            </a:p>
          </p:txBody>
        </p:sp>
      </p:grpSp>
      <p:sp>
        <p:nvSpPr>
          <p:cNvPr name="TextBox 44" id="44"/>
          <p:cNvSpPr txBox="true"/>
          <p:nvPr/>
        </p:nvSpPr>
        <p:spPr>
          <a:xfrm rot="0">
            <a:off x="7232904" y="3227070"/>
            <a:ext cx="1655064" cy="75057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5-tap SOS</a:t>
            </a:r>
          </a:p>
        </p:txBody>
      </p:sp>
      <p:sp>
        <p:nvSpPr>
          <p:cNvPr name="TextBox 45" id="45"/>
          <p:cNvSpPr txBox="true"/>
          <p:nvPr/>
        </p:nvSpPr>
        <p:spPr>
          <a:xfrm rot="0">
            <a:off x="7260336" y="3958590"/>
            <a:ext cx="1600200" cy="107061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No phone? Tap the band 5 times</a:t>
            </a:r>
          </a:p>
        </p:txBody>
      </p:sp>
      <p:sp>
        <p:nvSpPr>
          <p:cNvPr name="TextBox 46" id="46"/>
          <p:cNvSpPr txBox="true"/>
          <p:nvPr/>
        </p:nvSpPr>
        <p:spPr>
          <a:xfrm rot="0">
            <a:off x="731520" y="5467350"/>
            <a:ext cx="8293608" cy="842010"/>
          </a:xfrm>
          <a:prstGeom prst="rect">
            <a:avLst/>
          </a:prstGeom>
        </p:spPr>
        <p:txBody>
          <a:bodyPr anchor="t" rtlCol="false" tIns="0" lIns="0" bIns="0" rIns="0">
            <a:spAutoFit/>
          </a:bodyPr>
          <a:lstStyle/>
          <a:p>
            <a:pPr algn="ctr">
              <a:lnSpc>
                <a:spcPts val="2160"/>
              </a:lnSpc>
            </a:pPr>
            <a:r>
              <a:rPr lang="en-US" sz="1800" b="true">
                <a:solidFill>
                  <a:srgbClr val="1F8A80"/>
                </a:solidFill>
                <a:latin typeface="Arimo Bold"/>
                <a:ea typeface="Arimo Bold"/>
                <a:cs typeface="Arimo Bold"/>
                <a:sym typeface="Arimo Bold"/>
              </a:rPr>
              <a:t>Watch the phone app and the help desk update live</a:t>
            </a:r>
          </a:p>
        </p:txBody>
      </p:sp>
      <p:sp>
        <p:nvSpPr>
          <p:cNvPr name="Freeform 47" id="47"/>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731520" y="1988846"/>
            <a:ext cx="1874520" cy="4136292"/>
            <a:chOff x="0" y="0"/>
            <a:chExt cx="2499360" cy="5515057"/>
          </a:xfrm>
        </p:grpSpPr>
        <p:sp>
          <p:nvSpPr>
            <p:cNvPr name="Freeform 10" id="10"/>
            <p:cNvSpPr/>
            <p:nvPr/>
          </p:nvSpPr>
          <p:spPr>
            <a:xfrm flipH="false" flipV="false" rot="0">
              <a:off x="0" y="0"/>
              <a:ext cx="2499360" cy="5515056"/>
            </a:xfrm>
            <a:custGeom>
              <a:avLst/>
              <a:gdLst/>
              <a:ahLst/>
              <a:cxnLst/>
              <a:rect r="r" b="b" t="t" l="l"/>
              <a:pathLst>
                <a:path h="5515056" w="2499360">
                  <a:moveTo>
                    <a:pt x="0" y="452311"/>
                  </a:moveTo>
                  <a:cubicBezTo>
                    <a:pt x="0" y="202410"/>
                    <a:pt x="134239" y="0"/>
                    <a:pt x="299974" y="0"/>
                  </a:cubicBezTo>
                  <a:lnTo>
                    <a:pt x="2199386" y="0"/>
                  </a:lnTo>
                  <a:cubicBezTo>
                    <a:pt x="2364994" y="0"/>
                    <a:pt x="2499360" y="202410"/>
                    <a:pt x="2499360" y="452311"/>
                  </a:cubicBezTo>
                  <a:lnTo>
                    <a:pt x="2499360" y="5062745"/>
                  </a:lnTo>
                  <a:cubicBezTo>
                    <a:pt x="2499360" y="5312455"/>
                    <a:pt x="2365121" y="5515056"/>
                    <a:pt x="2199386" y="5515056"/>
                  </a:cubicBezTo>
                  <a:lnTo>
                    <a:pt x="299974" y="5515056"/>
                  </a:lnTo>
                  <a:cubicBezTo>
                    <a:pt x="134239" y="5515056"/>
                    <a:pt x="0" y="5312646"/>
                    <a:pt x="0" y="5062745"/>
                  </a:cubicBezTo>
                  <a:close/>
                </a:path>
              </a:pathLst>
            </a:custGeom>
            <a:solidFill>
              <a:srgbClr val="FDE2CF"/>
            </a:solidFill>
          </p:spPr>
        </p:sp>
      </p:grpSp>
      <p:grpSp>
        <p:nvGrpSpPr>
          <p:cNvPr name="Group 11" id="11"/>
          <p:cNvGrpSpPr/>
          <p:nvPr/>
        </p:nvGrpSpPr>
        <p:grpSpPr>
          <a:xfrm rot="0">
            <a:off x="1417320" y="2228850"/>
            <a:ext cx="502920" cy="502920"/>
            <a:chOff x="0" y="0"/>
            <a:chExt cx="670560" cy="670560"/>
          </a:xfrm>
        </p:grpSpPr>
        <p:sp>
          <p:nvSpPr>
            <p:cNvPr name="Freeform 12" id="12"/>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F58A4B"/>
            </a:solidFill>
          </p:spPr>
        </p:sp>
        <p:sp>
          <p:nvSpPr>
            <p:cNvPr name="TextBox 13" id="13"/>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1</a:t>
              </a:r>
            </a:p>
          </p:txBody>
        </p:sp>
      </p:grpSp>
      <p:sp>
        <p:nvSpPr>
          <p:cNvPr name="Freeform 14" id="14"/>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_SCROLL_VIDEO" id="15"/>
          <p:cNvSpPr/>
          <p:nvPr/>
        </p:nvSpPr>
        <p:spPr>
          <a:xfrm flipH="false" flipV="false" rot="0">
            <a:off x="4932906" y="1857375"/>
            <a:ext cx="2133028" cy="4627691"/>
          </a:xfrm>
          <a:custGeom>
            <a:avLst/>
            <a:gdLst/>
            <a:ahLst/>
            <a:cxnLst/>
            <a:rect r="r" b="b" t="t" l="l"/>
            <a:pathLst>
              <a:path h="4627691" w="2133028">
                <a:moveTo>
                  <a:pt x="0" y="0"/>
                </a:moveTo>
                <a:lnTo>
                  <a:pt x="2133028" y="0"/>
                </a:lnTo>
                <a:lnTo>
                  <a:pt x="2133028" y="4627691"/>
                </a:lnTo>
                <a:lnTo>
                  <a:pt x="0" y="4627691"/>
                </a:lnTo>
                <a:lnTo>
                  <a:pt x="0" y="0"/>
                </a:lnTo>
                <a:close/>
              </a:path>
            </a:pathLst>
          </a:custGeom>
          <a:blipFill>
            <a:blip r:embed="rId12"/>
            <a:stretch>
              <a:fillRect l="0" t="0" r="0" b="0"/>
            </a:stretch>
          </a:blipFill>
        </p:spPr>
      </p:sp>
      <p:sp>
        <p:nvSpPr>
          <p:cNvPr name="TextBox 17" id="17"/>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8" id="18"/>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Live Demo</a:t>
            </a:r>
          </a:p>
        </p:txBody>
      </p:sp>
      <p:sp>
        <p:nvSpPr>
          <p:cNvPr name="TextBox 19" id="19"/>
          <p:cNvSpPr txBox="true"/>
          <p:nvPr/>
        </p:nvSpPr>
        <p:spPr>
          <a:xfrm rot="0">
            <a:off x="841248" y="3007995"/>
            <a:ext cx="1655064" cy="2857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AI picks</a:t>
            </a:r>
          </a:p>
        </p:txBody>
      </p:sp>
      <p:sp>
        <p:nvSpPr>
          <p:cNvPr name="TextBox 20" id="20"/>
          <p:cNvSpPr txBox="true"/>
          <p:nvPr/>
        </p:nvSpPr>
        <p:spPr>
          <a:xfrm rot="0">
            <a:off x="868680" y="3741420"/>
            <a:ext cx="1600200" cy="11620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AI pick</a:t>
            </a:r>
            <a:r>
              <a:rPr lang="en-US" sz="1500">
                <a:solidFill>
                  <a:srgbClr val="1F2A44"/>
                </a:solidFill>
                <a:latin typeface="Arimo"/>
                <a:ea typeface="Arimo"/>
                <a:cs typeface="Arimo"/>
                <a:sym typeface="Arimo"/>
              </a:rPr>
              <a:t>s today’s place, food and activity from weather, interests and crowd level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28987"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731520" y="2377440"/>
            <a:ext cx="1874520" cy="2743200"/>
            <a:chOff x="0" y="0"/>
            <a:chExt cx="2499360" cy="3657600"/>
          </a:xfrm>
        </p:grpSpPr>
        <p:sp>
          <p:nvSpPr>
            <p:cNvPr name="Freeform 10" id="10"/>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FDE2CF"/>
            </a:solidFill>
          </p:spPr>
        </p:sp>
      </p:grpSp>
      <p:sp>
        <p:nvSpPr>
          <p:cNvPr name="Freeform 11" id="11"/>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731520" y="1988846"/>
            <a:ext cx="1874520" cy="4136292"/>
            <a:chOff x="0" y="0"/>
            <a:chExt cx="2499360" cy="5515057"/>
          </a:xfrm>
        </p:grpSpPr>
        <p:sp>
          <p:nvSpPr>
            <p:cNvPr name="Freeform 13" id="13"/>
            <p:cNvSpPr/>
            <p:nvPr/>
          </p:nvSpPr>
          <p:spPr>
            <a:xfrm flipH="false" flipV="false" rot="0">
              <a:off x="0" y="0"/>
              <a:ext cx="2499360" cy="5515056"/>
            </a:xfrm>
            <a:custGeom>
              <a:avLst/>
              <a:gdLst/>
              <a:ahLst/>
              <a:cxnLst/>
              <a:rect r="r" b="b" t="t" l="l"/>
              <a:pathLst>
                <a:path h="5515056" w="2499360">
                  <a:moveTo>
                    <a:pt x="0" y="452311"/>
                  </a:moveTo>
                  <a:cubicBezTo>
                    <a:pt x="0" y="202410"/>
                    <a:pt x="134239" y="0"/>
                    <a:pt x="299974" y="0"/>
                  </a:cubicBezTo>
                  <a:lnTo>
                    <a:pt x="2199386" y="0"/>
                  </a:lnTo>
                  <a:cubicBezTo>
                    <a:pt x="2364994" y="0"/>
                    <a:pt x="2499360" y="202410"/>
                    <a:pt x="2499360" y="452311"/>
                  </a:cubicBezTo>
                  <a:lnTo>
                    <a:pt x="2499360" y="5062745"/>
                  </a:lnTo>
                  <a:cubicBezTo>
                    <a:pt x="2499360" y="5312455"/>
                    <a:pt x="2365121" y="5515056"/>
                    <a:pt x="2199386" y="5515056"/>
                  </a:cubicBezTo>
                  <a:lnTo>
                    <a:pt x="299974" y="5515056"/>
                  </a:lnTo>
                  <a:cubicBezTo>
                    <a:pt x="134239" y="5515056"/>
                    <a:pt x="0" y="5312646"/>
                    <a:pt x="0" y="5062745"/>
                  </a:cubicBezTo>
                  <a:close/>
                </a:path>
              </a:pathLst>
            </a:custGeom>
            <a:solidFill>
              <a:srgbClr val="D3EFEC"/>
            </a:solidFill>
          </p:spPr>
        </p:sp>
      </p:grpSp>
      <p:grpSp>
        <p:nvGrpSpPr>
          <p:cNvPr name="Group 14" id="14"/>
          <p:cNvGrpSpPr/>
          <p:nvPr/>
        </p:nvGrpSpPr>
        <p:grpSpPr>
          <a:xfrm rot="0">
            <a:off x="1414208" y="2228850"/>
            <a:ext cx="502920" cy="502920"/>
            <a:chOff x="0" y="0"/>
            <a:chExt cx="670560" cy="670560"/>
          </a:xfrm>
        </p:grpSpPr>
        <p:sp>
          <p:nvSpPr>
            <p:cNvPr name="Freeform 15" id="15"/>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2A9D93"/>
            </a:solidFill>
          </p:spPr>
        </p:sp>
        <p:sp>
          <p:nvSpPr>
            <p:cNvPr name="TextBox 16" id="16"/>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sp>
        <p:nvSpPr>
          <p:cNvPr name="Freeform 17" id="17"/>
          <p:cNvSpPr/>
          <p:nvPr/>
        </p:nvSpPr>
        <p:spPr>
          <a:xfrm flipH="false" flipV="false" rot="0">
            <a:off x="3249737" y="1988846"/>
            <a:ext cx="2454026" cy="4263339"/>
          </a:xfrm>
          <a:custGeom>
            <a:avLst/>
            <a:gdLst/>
            <a:ahLst/>
            <a:cxnLst/>
            <a:rect r="r" b="b" t="t" l="l"/>
            <a:pathLst>
              <a:path h="4263339" w="2454026">
                <a:moveTo>
                  <a:pt x="0" y="0"/>
                </a:moveTo>
                <a:lnTo>
                  <a:pt x="2454026" y="0"/>
                </a:lnTo>
                <a:lnTo>
                  <a:pt x="2454026" y="4263338"/>
                </a:lnTo>
                <a:lnTo>
                  <a:pt x="0" y="4263338"/>
                </a:lnTo>
                <a:lnTo>
                  <a:pt x="0" y="0"/>
                </a:lnTo>
                <a:close/>
              </a:path>
            </a:pathLst>
          </a:custGeom>
          <a:blipFill>
            <a:blip r:embed="rId10"/>
            <a:stretch>
              <a:fillRect l="0" t="-7944" r="-715" b="-18019"/>
            </a:stretch>
          </a:blipFill>
        </p:spPr>
      </p:sp>
      <p:sp>
        <p:nvSpPr>
          <p:cNvPr name="Freeform 18" id="18"/>
          <p:cNvSpPr/>
          <p:nvPr/>
        </p:nvSpPr>
        <p:spPr>
          <a:xfrm flipH="false" flipV="false" rot="0">
            <a:off x="6208921" y="1983552"/>
            <a:ext cx="2471574" cy="4141586"/>
          </a:xfrm>
          <a:custGeom>
            <a:avLst/>
            <a:gdLst/>
            <a:ahLst/>
            <a:cxnLst/>
            <a:rect r="r" b="b" t="t" l="l"/>
            <a:pathLst>
              <a:path h="4141586" w="2471574">
                <a:moveTo>
                  <a:pt x="0" y="0"/>
                </a:moveTo>
                <a:lnTo>
                  <a:pt x="2471573" y="0"/>
                </a:lnTo>
                <a:lnTo>
                  <a:pt x="2471573" y="4141586"/>
                </a:lnTo>
                <a:lnTo>
                  <a:pt x="0" y="4141586"/>
                </a:lnTo>
                <a:lnTo>
                  <a:pt x="0" y="0"/>
                </a:lnTo>
                <a:close/>
              </a:path>
            </a:pathLst>
          </a:custGeom>
          <a:blipFill>
            <a:blip r:embed="rId11"/>
            <a:stretch>
              <a:fillRect l="0" t="-9954" r="0" b="-19712"/>
            </a:stretch>
          </a:blipFill>
        </p:spPr>
      </p:sp>
      <p:sp>
        <p:nvSpPr>
          <p:cNvPr name="TextBox 19" id="1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20" id="2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Live Demo</a:t>
            </a:r>
          </a:p>
        </p:txBody>
      </p:sp>
      <p:sp>
        <p:nvSpPr>
          <p:cNvPr name="TextBox 21" id="21"/>
          <p:cNvSpPr txBox="true"/>
          <p:nvPr/>
        </p:nvSpPr>
        <p:spPr>
          <a:xfrm rot="0">
            <a:off x="865568" y="3091943"/>
            <a:ext cx="1655064" cy="8191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Tap 3 stations, unlock a voucher</a:t>
            </a:r>
          </a:p>
        </p:txBody>
      </p:sp>
      <p:sp>
        <p:nvSpPr>
          <p:cNvPr name="TextBox 22" id="22"/>
          <p:cNvSpPr txBox="true"/>
          <p:nvPr/>
        </p:nvSpPr>
        <p:spPr>
          <a:xfrm rot="0">
            <a:off x="865568" y="4234943"/>
            <a:ext cx="1600200" cy="11620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Collect 3 stamps (p</a:t>
            </a:r>
            <a:r>
              <a:rPr lang="en-US" sz="1500">
                <a:solidFill>
                  <a:srgbClr val="1F2A44"/>
                </a:solidFill>
                <a:latin typeface="Arimo"/>
                <a:ea typeface="Arimo"/>
                <a:cs typeface="Arimo"/>
                <a:sym typeface="Arimo"/>
              </a:rPr>
              <a:t>lace, food or activity) and redeem at Dongmun Market</a:t>
            </a:r>
          </a:p>
        </p:txBody>
      </p:sp>
      <p:sp>
        <p:nvSpPr>
          <p:cNvPr id="23" name="TextBox 22"/>
          <p:cNvSpPr txBox="1"/>
          <p:nvPr/>
        </p:nvSpPr>
        <p:spPr>
          <a:xfrm>
            <a:off x="731520" y="6300000"/>
            <a:ext cx="8293608" cy="330000"/>
          </a:xfrm>
          <a:prstGeom prst="rect">
            <a:avLst/>
          </a:prstGeom>
          <a:noFill/>
        </p:spPr>
        <p:txBody>
          <a:bodyPr wrap="square">
            <a:spAutoFit/>
          </a:bodyPr>
          <a:lstStyle/>
          <a:p>
            <a:pPr algn="ctr"/>
            <a:r>
              <a:rPr sz="1500" b="1">
                <a:solidFill>
                  <a:srgbClr val="D9480F"/>
                </a:solidFill>
                <a:latin typeface="Arial"/>
              </a:rPr>
              <a:t>3rd tap: activity stamp. 3 / 3, 4,000 KRW voucher unlocked!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28987"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731520" y="2377440"/>
            <a:ext cx="1874520" cy="2743200"/>
            <a:chOff x="0" y="0"/>
            <a:chExt cx="2499360" cy="3657600"/>
          </a:xfrm>
        </p:grpSpPr>
        <p:sp>
          <p:nvSpPr>
            <p:cNvPr name="Freeform 10" id="10"/>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FDE2CF"/>
            </a:solidFill>
          </p:spPr>
        </p:sp>
      </p:grpSp>
      <p:sp>
        <p:nvSpPr>
          <p:cNvPr name="Freeform 11" id="11"/>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731520" y="2377440"/>
            <a:ext cx="1874520" cy="2743200"/>
            <a:chOff x="0" y="0"/>
            <a:chExt cx="2499360" cy="3657600"/>
          </a:xfrm>
        </p:grpSpPr>
        <p:sp>
          <p:nvSpPr>
            <p:cNvPr name="Freeform 13" id="13"/>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D3EFEC"/>
            </a:solidFill>
          </p:spPr>
        </p:sp>
      </p:grpSp>
      <p:grpSp>
        <p:nvGrpSpPr>
          <p:cNvPr name="Group 14" id="14"/>
          <p:cNvGrpSpPr/>
          <p:nvPr/>
        </p:nvGrpSpPr>
        <p:grpSpPr>
          <a:xfrm rot="0">
            <a:off x="1441640" y="2560320"/>
            <a:ext cx="502920" cy="502920"/>
            <a:chOff x="0" y="0"/>
            <a:chExt cx="670560" cy="670560"/>
          </a:xfrm>
        </p:grpSpPr>
        <p:sp>
          <p:nvSpPr>
            <p:cNvPr name="Freeform 15" id="15"/>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2A9D93"/>
            </a:solidFill>
          </p:spPr>
        </p:sp>
        <p:sp>
          <p:nvSpPr>
            <p:cNvPr name="TextBox 16" id="16"/>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sp>
        <p:nvSpPr>
          <p:cNvPr name="TextBox 17" id="17"/>
          <p:cNvSpPr txBox="true"/>
          <p:nvPr/>
        </p:nvSpPr>
        <p:spPr>
          <a:xfrm rot="0">
            <a:off x="865568" y="3227070"/>
            <a:ext cx="1655064" cy="75057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Tap 3 stations</a:t>
            </a:r>
          </a:p>
        </p:txBody>
      </p:sp>
      <p:sp>
        <p:nvSpPr>
          <p:cNvPr name="TextBox 18" id="18"/>
          <p:cNvSpPr txBox="true"/>
          <p:nvPr/>
        </p:nvSpPr>
        <p:spPr>
          <a:xfrm rot="0">
            <a:off x="896048" y="3729990"/>
            <a:ext cx="1600200" cy="7048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Place, food, activity: beep + stamp</a:t>
            </a:r>
          </a:p>
        </p:txBody>
      </p:sp>
      <p:grpSp>
        <p:nvGrpSpPr>
          <p:cNvPr name="Group 19" id="19"/>
          <p:cNvGrpSpPr/>
          <p:nvPr/>
        </p:nvGrpSpPr>
        <p:grpSpPr>
          <a:xfrm rot="0">
            <a:off x="736790" y="1988846"/>
            <a:ext cx="1874520" cy="4136292"/>
            <a:chOff x="0" y="0"/>
            <a:chExt cx="2499360" cy="5515057"/>
          </a:xfrm>
        </p:grpSpPr>
        <p:sp>
          <p:nvSpPr>
            <p:cNvPr name="Freeform 20" id="20"/>
            <p:cNvSpPr/>
            <p:nvPr/>
          </p:nvSpPr>
          <p:spPr>
            <a:xfrm flipH="false" flipV="false" rot="0">
              <a:off x="0" y="0"/>
              <a:ext cx="2499360" cy="5515056"/>
            </a:xfrm>
            <a:custGeom>
              <a:avLst/>
              <a:gdLst/>
              <a:ahLst/>
              <a:cxnLst/>
              <a:rect r="r" b="b" t="t" l="l"/>
              <a:pathLst>
                <a:path h="5515056" w="2499360">
                  <a:moveTo>
                    <a:pt x="0" y="452311"/>
                  </a:moveTo>
                  <a:cubicBezTo>
                    <a:pt x="0" y="202410"/>
                    <a:pt x="134239" y="0"/>
                    <a:pt x="299974" y="0"/>
                  </a:cubicBezTo>
                  <a:lnTo>
                    <a:pt x="2199386" y="0"/>
                  </a:lnTo>
                  <a:cubicBezTo>
                    <a:pt x="2364994" y="0"/>
                    <a:pt x="2499360" y="202410"/>
                    <a:pt x="2499360" y="452311"/>
                  </a:cubicBezTo>
                  <a:lnTo>
                    <a:pt x="2499360" y="5062745"/>
                  </a:lnTo>
                  <a:cubicBezTo>
                    <a:pt x="2499360" y="5312455"/>
                    <a:pt x="2365121" y="5515056"/>
                    <a:pt x="2199386" y="5515056"/>
                  </a:cubicBezTo>
                  <a:lnTo>
                    <a:pt x="299974" y="5515056"/>
                  </a:lnTo>
                  <a:cubicBezTo>
                    <a:pt x="134239" y="5515056"/>
                    <a:pt x="0" y="5312646"/>
                    <a:pt x="0" y="5062745"/>
                  </a:cubicBezTo>
                  <a:close/>
                </a:path>
              </a:pathLst>
            </a:custGeom>
            <a:solidFill>
              <a:srgbClr val="F9D6D6"/>
            </a:solidFill>
          </p:spPr>
        </p:sp>
      </p:grpSp>
      <p:grpSp>
        <p:nvGrpSpPr>
          <p:cNvPr name="Group 21" id="21"/>
          <p:cNvGrpSpPr/>
          <p:nvPr/>
        </p:nvGrpSpPr>
        <p:grpSpPr>
          <a:xfrm rot="0">
            <a:off x="1422590" y="2228850"/>
            <a:ext cx="502920" cy="502920"/>
            <a:chOff x="0" y="0"/>
            <a:chExt cx="670560" cy="670560"/>
          </a:xfrm>
        </p:grpSpPr>
        <p:sp>
          <p:nvSpPr>
            <p:cNvPr name="Freeform 22" id="22"/>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D64545"/>
            </a:solidFill>
          </p:spPr>
        </p:sp>
        <p:sp>
          <p:nvSpPr>
            <p:cNvPr name="TextBox 23" id="23"/>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3</a:t>
              </a:r>
            </a:p>
          </p:txBody>
        </p:sp>
      </p:grpSp>
      <p:sp>
        <p:nvSpPr>
          <p:cNvPr name="Freeform 24" id="24"/>
          <p:cNvSpPr/>
          <p:nvPr/>
        </p:nvSpPr>
        <p:spPr>
          <a:xfrm flipH="false" flipV="false" rot="0">
            <a:off x="3326683" y="1988846"/>
            <a:ext cx="2471574" cy="4084461"/>
          </a:xfrm>
          <a:custGeom>
            <a:avLst/>
            <a:gdLst/>
            <a:ahLst/>
            <a:cxnLst/>
            <a:rect r="r" b="b" t="t" l="l"/>
            <a:pathLst>
              <a:path h="4084461" w="2471574">
                <a:moveTo>
                  <a:pt x="0" y="0"/>
                </a:moveTo>
                <a:lnTo>
                  <a:pt x="2471574" y="0"/>
                </a:lnTo>
                <a:lnTo>
                  <a:pt x="2471574" y="4084461"/>
                </a:lnTo>
                <a:lnTo>
                  <a:pt x="0" y="4084461"/>
                </a:lnTo>
                <a:lnTo>
                  <a:pt x="0" y="0"/>
                </a:lnTo>
                <a:close/>
              </a:path>
            </a:pathLst>
          </a:custGeom>
          <a:blipFill>
            <a:blip r:embed="rId10"/>
            <a:stretch>
              <a:fillRect l="0" t="-22790" r="0" b="-8690"/>
            </a:stretch>
          </a:blipFill>
        </p:spPr>
      </p:sp>
      <p:sp>
        <p:nvSpPr>
          <p:cNvPr name="Freeform 25" id="25"/>
          <p:cNvSpPr/>
          <p:nvPr/>
        </p:nvSpPr>
        <p:spPr>
          <a:xfrm flipH="false" flipV="false" rot="0">
            <a:off x="6160212" y="1628842"/>
            <a:ext cx="2471574" cy="4605985"/>
          </a:xfrm>
          <a:custGeom>
            <a:avLst/>
            <a:gdLst/>
            <a:ahLst/>
            <a:cxnLst/>
            <a:rect r="r" b="b" t="t" l="l"/>
            <a:pathLst>
              <a:path h="4605985" w="2471574">
                <a:moveTo>
                  <a:pt x="0" y="0"/>
                </a:moveTo>
                <a:lnTo>
                  <a:pt x="2471573" y="0"/>
                </a:lnTo>
                <a:lnTo>
                  <a:pt x="2471573" y="4605985"/>
                </a:lnTo>
                <a:lnTo>
                  <a:pt x="0" y="4605985"/>
                </a:lnTo>
                <a:lnTo>
                  <a:pt x="0" y="0"/>
                </a:lnTo>
                <a:close/>
              </a:path>
            </a:pathLst>
          </a:custGeom>
          <a:blipFill>
            <a:blip r:embed="rId11"/>
            <a:stretch>
              <a:fillRect l="0" t="-8435" r="0" b="-8157"/>
            </a:stretch>
          </a:blipFill>
        </p:spPr>
      </p:sp>
      <p:sp>
        <p:nvSpPr>
          <p:cNvPr name="TextBox 26" id="26"/>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27" id="27"/>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Live Demo</a:t>
            </a:r>
          </a:p>
        </p:txBody>
      </p:sp>
      <p:sp>
        <p:nvSpPr>
          <p:cNvPr name="TextBox 28" id="28"/>
          <p:cNvSpPr txBox="true"/>
          <p:nvPr/>
        </p:nvSpPr>
        <p:spPr>
          <a:xfrm rot="0">
            <a:off x="846518" y="3143164"/>
            <a:ext cx="1655064" cy="75057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5-tap SOS</a:t>
            </a:r>
          </a:p>
        </p:txBody>
      </p:sp>
      <p:sp>
        <p:nvSpPr>
          <p:cNvPr name="TextBox 29" id="29"/>
          <p:cNvSpPr txBox="true"/>
          <p:nvPr/>
        </p:nvSpPr>
        <p:spPr>
          <a:xfrm rot="0">
            <a:off x="883475" y="3836584"/>
            <a:ext cx="1600200" cy="107061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No phone? Tap the band 5 times</a:t>
            </a:r>
          </a:p>
        </p:txBody>
      </p:sp>
      <p:sp>
        <p:nvSpPr>
          <p:cNvPr id="30" name="TextBox 29"/>
          <p:cNvSpPr txBox="1"/>
          <p:nvPr/>
        </p:nvSpPr>
        <p:spPr>
          <a:xfrm>
            <a:off x="731520" y="6300000"/>
            <a:ext cx="8293608" cy="330000"/>
          </a:xfrm>
          <a:prstGeom prst="rect">
            <a:avLst/>
          </a:prstGeom>
          <a:noFill/>
        </p:spPr>
        <p:txBody>
          <a:bodyPr wrap="square">
            <a:spAutoFit/>
          </a:bodyPr>
          <a:lstStyle/>
          <a:p>
            <a:pPr algn="ctr"/>
            <a:r>
              <a:rPr sz="1500" b="1">
                <a:solidFill>
                  <a:srgbClr val="C92A2A"/>
                </a:solidFill>
                <a:latin typeface="Arial"/>
              </a:rPr>
              <a:t>SOS sent: help desk sees the alert and last location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36295" y="1421718"/>
            <a:ext cx="8024517" cy="5019118"/>
          </a:xfrm>
          <a:custGeom>
            <a:avLst/>
            <a:gdLst/>
            <a:ahLst/>
            <a:cxnLst/>
            <a:rect r="r" b="b" t="t" l="l"/>
            <a:pathLst>
              <a:path h="5019118" w="8024517">
                <a:moveTo>
                  <a:pt x="0" y="0"/>
                </a:moveTo>
                <a:lnTo>
                  <a:pt x="8024517" y="0"/>
                </a:lnTo>
                <a:lnTo>
                  <a:pt x="8024517" y="5019118"/>
                </a:lnTo>
                <a:lnTo>
                  <a:pt x="0" y="5019118"/>
                </a:lnTo>
                <a:lnTo>
                  <a:pt x="0" y="0"/>
                </a:lnTo>
                <a:close/>
              </a:path>
            </a:pathLst>
          </a:custGeom>
          <a:blipFill>
            <a:blip r:embed="rId8"/>
            <a:stretch>
              <a:fillRect l="0" t="0" r="0" b="0"/>
            </a:stretch>
          </a:blipFill>
        </p:spPr>
      </p:sp>
      <p:sp>
        <p:nvSpPr>
          <p:cNvPr name="TextBox 10" id="10"/>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1" id="11"/>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How It Works</a:t>
            </a:r>
          </a:p>
        </p:txBody>
      </p:sp>
      <p:sp>
        <p:nvSpPr>
          <p:cNvPr name="Freeform 12" id="12"/>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0" id="1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How We Will Measure It</a:t>
            </a:r>
          </a:p>
        </p:txBody>
      </p:sp>
      <p:grpSp>
        <p:nvGrpSpPr>
          <p:cNvPr name="Group 11" id="11"/>
          <p:cNvGrpSpPr/>
          <p:nvPr/>
        </p:nvGrpSpPr>
        <p:grpSpPr>
          <a:xfrm rot="0">
            <a:off x="685800" y="1463040"/>
            <a:ext cx="4114800" cy="1874520"/>
            <a:chOff x="0" y="0"/>
            <a:chExt cx="5486400" cy="2499360"/>
          </a:xfrm>
        </p:grpSpPr>
        <p:sp>
          <p:nvSpPr>
            <p:cNvPr name="Freeform 12" id="12"/>
            <p:cNvSpPr/>
            <p:nvPr/>
          </p:nvSpPr>
          <p:spPr>
            <a:xfrm flipH="false" flipV="false" rot="0">
              <a:off x="0" y="0"/>
              <a:ext cx="5486400" cy="2499360"/>
            </a:xfrm>
            <a:custGeom>
              <a:avLst/>
              <a:gdLst/>
              <a:ahLst/>
              <a:cxnLst/>
              <a:rect r="r" b="b" t="t" l="l"/>
              <a:pathLst>
                <a:path h="2499360" w="5486400">
                  <a:moveTo>
                    <a:pt x="0" y="299974"/>
                  </a:moveTo>
                  <a:cubicBezTo>
                    <a:pt x="0" y="134239"/>
                    <a:pt x="134239" y="0"/>
                    <a:pt x="299974" y="0"/>
                  </a:cubicBezTo>
                  <a:lnTo>
                    <a:pt x="5186426" y="0"/>
                  </a:lnTo>
                  <a:cubicBezTo>
                    <a:pt x="5352161" y="0"/>
                    <a:pt x="5486400" y="134239"/>
                    <a:pt x="5486400" y="299974"/>
                  </a:cubicBezTo>
                  <a:lnTo>
                    <a:pt x="5486400" y="2199386"/>
                  </a:lnTo>
                  <a:cubicBezTo>
                    <a:pt x="5486400" y="2364994"/>
                    <a:pt x="5352161" y="2499360"/>
                    <a:pt x="5186426" y="2499360"/>
                  </a:cubicBezTo>
                  <a:lnTo>
                    <a:pt x="299974" y="2499360"/>
                  </a:lnTo>
                  <a:cubicBezTo>
                    <a:pt x="134239" y="2499360"/>
                    <a:pt x="0" y="2365121"/>
                    <a:pt x="0" y="2199386"/>
                  </a:cubicBezTo>
                  <a:close/>
                </a:path>
              </a:pathLst>
            </a:custGeom>
            <a:solidFill>
              <a:srgbClr val="FDE2CF"/>
            </a:solidFill>
          </p:spPr>
        </p:sp>
      </p:grpSp>
      <p:sp>
        <p:nvSpPr>
          <p:cNvPr name="TextBox 13" id="13"/>
          <p:cNvSpPr txBox="true"/>
          <p:nvPr/>
        </p:nvSpPr>
        <p:spPr>
          <a:xfrm rot="0">
            <a:off x="960120" y="1727835"/>
            <a:ext cx="3566160" cy="512445"/>
          </a:xfrm>
          <a:prstGeom prst="rect">
            <a:avLst/>
          </a:prstGeom>
        </p:spPr>
        <p:txBody>
          <a:bodyPr anchor="t" rtlCol="false" tIns="0" lIns="0" bIns="0" rIns="0">
            <a:spAutoFit/>
          </a:bodyPr>
          <a:lstStyle/>
          <a:p>
            <a:pPr algn="l">
              <a:lnSpc>
                <a:spcPts val="2400"/>
              </a:lnSpc>
            </a:pPr>
            <a:r>
              <a:rPr lang="en-US" sz="2000" b="true">
                <a:solidFill>
                  <a:srgbClr val="0D1B4C"/>
                </a:solidFill>
                <a:latin typeface="Arimo Bold"/>
                <a:ea typeface="Arimo Bold"/>
                <a:cs typeface="Arimo Bold"/>
                <a:sym typeface="Arimo Bold"/>
              </a:rPr>
              <a:t>Recommendation conversion</a:t>
            </a:r>
          </a:p>
        </p:txBody>
      </p:sp>
      <p:sp>
        <p:nvSpPr>
          <p:cNvPr name="TextBox 14" id="14"/>
          <p:cNvSpPr txBox="true"/>
          <p:nvPr/>
        </p:nvSpPr>
        <p:spPr>
          <a:xfrm rot="0">
            <a:off x="960120" y="2312670"/>
            <a:ext cx="3566160" cy="842010"/>
          </a:xfrm>
          <a:prstGeom prst="rect">
            <a:avLst/>
          </a:prstGeom>
        </p:spPr>
        <p:txBody>
          <a:bodyPr anchor="t" rtlCol="false" tIns="0" lIns="0" bIns="0" rIns="0">
            <a:spAutoFit/>
          </a:bodyPr>
          <a:lstStyle/>
          <a:p>
            <a:pPr algn="l">
              <a:lnSpc>
                <a:spcPts val="1919"/>
              </a:lnSpc>
            </a:pPr>
            <a:r>
              <a:rPr lang="en-US" sz="1599">
                <a:solidFill>
                  <a:srgbClr val="1F2A44"/>
                </a:solidFill>
                <a:latin typeface="Arimo"/>
                <a:ea typeface="Arimo"/>
                <a:cs typeface="Arimo"/>
                <a:sym typeface="Arimo"/>
              </a:rPr>
              <a:t>How many AI picks turn into a real visit</a:t>
            </a:r>
          </a:p>
        </p:txBody>
      </p:sp>
      <p:grpSp>
        <p:nvGrpSpPr>
          <p:cNvPr name="Group 15" id="15"/>
          <p:cNvGrpSpPr/>
          <p:nvPr/>
        </p:nvGrpSpPr>
        <p:grpSpPr>
          <a:xfrm rot="0">
            <a:off x="4937760" y="1463040"/>
            <a:ext cx="4114800" cy="1874520"/>
            <a:chOff x="0" y="0"/>
            <a:chExt cx="5486400" cy="2499360"/>
          </a:xfrm>
        </p:grpSpPr>
        <p:sp>
          <p:nvSpPr>
            <p:cNvPr name="Freeform 16" id="16"/>
            <p:cNvSpPr/>
            <p:nvPr/>
          </p:nvSpPr>
          <p:spPr>
            <a:xfrm flipH="false" flipV="false" rot="0">
              <a:off x="0" y="0"/>
              <a:ext cx="5486400" cy="2499360"/>
            </a:xfrm>
            <a:custGeom>
              <a:avLst/>
              <a:gdLst/>
              <a:ahLst/>
              <a:cxnLst/>
              <a:rect r="r" b="b" t="t" l="l"/>
              <a:pathLst>
                <a:path h="2499360" w="5486400">
                  <a:moveTo>
                    <a:pt x="0" y="299974"/>
                  </a:moveTo>
                  <a:cubicBezTo>
                    <a:pt x="0" y="134239"/>
                    <a:pt x="134239" y="0"/>
                    <a:pt x="299974" y="0"/>
                  </a:cubicBezTo>
                  <a:lnTo>
                    <a:pt x="5186426" y="0"/>
                  </a:lnTo>
                  <a:cubicBezTo>
                    <a:pt x="5352161" y="0"/>
                    <a:pt x="5486400" y="134239"/>
                    <a:pt x="5486400" y="299974"/>
                  </a:cubicBezTo>
                  <a:lnTo>
                    <a:pt x="5486400" y="2199386"/>
                  </a:lnTo>
                  <a:cubicBezTo>
                    <a:pt x="5486400" y="2364994"/>
                    <a:pt x="5352161" y="2499360"/>
                    <a:pt x="5186426" y="2499360"/>
                  </a:cubicBezTo>
                  <a:lnTo>
                    <a:pt x="299974" y="2499360"/>
                  </a:lnTo>
                  <a:cubicBezTo>
                    <a:pt x="134239" y="2499360"/>
                    <a:pt x="0" y="2365121"/>
                    <a:pt x="0" y="2199386"/>
                  </a:cubicBezTo>
                  <a:close/>
                </a:path>
              </a:pathLst>
            </a:custGeom>
            <a:solidFill>
              <a:srgbClr val="D3EFEC"/>
            </a:solidFill>
          </p:spPr>
        </p:sp>
      </p:grpSp>
      <p:sp>
        <p:nvSpPr>
          <p:cNvPr name="TextBox 17" id="17"/>
          <p:cNvSpPr txBox="true"/>
          <p:nvPr/>
        </p:nvSpPr>
        <p:spPr>
          <a:xfrm rot="0">
            <a:off x="5212080" y="1727835"/>
            <a:ext cx="3566160" cy="512445"/>
          </a:xfrm>
          <a:prstGeom prst="rect">
            <a:avLst/>
          </a:prstGeom>
        </p:spPr>
        <p:txBody>
          <a:bodyPr anchor="t" rtlCol="false" tIns="0" lIns="0" bIns="0" rIns="0">
            <a:spAutoFit/>
          </a:bodyPr>
          <a:lstStyle/>
          <a:p>
            <a:pPr algn="l">
              <a:lnSpc>
                <a:spcPts val="2400"/>
              </a:lnSpc>
            </a:pPr>
            <a:r>
              <a:rPr lang="en-US" sz="2000" b="true">
                <a:solidFill>
                  <a:srgbClr val="0D1B4C"/>
                </a:solidFill>
                <a:latin typeface="Arimo Bold"/>
                <a:ea typeface="Arimo Bold"/>
                <a:cs typeface="Arimo Bold"/>
                <a:sym typeface="Arimo Bold"/>
              </a:rPr>
              <a:t>User satisfaction</a:t>
            </a:r>
          </a:p>
        </p:txBody>
      </p:sp>
      <p:sp>
        <p:nvSpPr>
          <p:cNvPr name="TextBox 18" id="18"/>
          <p:cNvSpPr txBox="true"/>
          <p:nvPr/>
        </p:nvSpPr>
        <p:spPr>
          <a:xfrm rot="0">
            <a:off x="5212080" y="2312670"/>
            <a:ext cx="3566160" cy="842010"/>
          </a:xfrm>
          <a:prstGeom prst="rect">
            <a:avLst/>
          </a:prstGeom>
        </p:spPr>
        <p:txBody>
          <a:bodyPr anchor="t" rtlCol="false" tIns="0" lIns="0" bIns="0" rIns="0">
            <a:spAutoFit/>
          </a:bodyPr>
          <a:lstStyle/>
          <a:p>
            <a:pPr algn="l">
              <a:lnSpc>
                <a:spcPts val="1919"/>
              </a:lnSpc>
            </a:pPr>
            <a:r>
              <a:rPr lang="en-US" sz="1599">
                <a:solidFill>
                  <a:srgbClr val="1F2A44"/>
                </a:solidFill>
                <a:latin typeface="Arimo"/>
                <a:ea typeface="Arimo"/>
                <a:cs typeface="Arimo"/>
                <a:sym typeface="Arimo"/>
              </a:rPr>
              <a:t>Short survey in the app after the trip</a:t>
            </a:r>
          </a:p>
        </p:txBody>
      </p:sp>
      <p:grpSp>
        <p:nvGrpSpPr>
          <p:cNvPr name="Group 19" id="19"/>
          <p:cNvGrpSpPr/>
          <p:nvPr/>
        </p:nvGrpSpPr>
        <p:grpSpPr>
          <a:xfrm rot="0">
            <a:off x="685800" y="3566160"/>
            <a:ext cx="4114800" cy="1874520"/>
            <a:chOff x="0" y="0"/>
            <a:chExt cx="5486400" cy="2499360"/>
          </a:xfrm>
        </p:grpSpPr>
        <p:sp>
          <p:nvSpPr>
            <p:cNvPr name="Freeform 20" id="20"/>
            <p:cNvSpPr/>
            <p:nvPr/>
          </p:nvSpPr>
          <p:spPr>
            <a:xfrm flipH="false" flipV="false" rot="0">
              <a:off x="0" y="0"/>
              <a:ext cx="5486400" cy="2499360"/>
            </a:xfrm>
            <a:custGeom>
              <a:avLst/>
              <a:gdLst/>
              <a:ahLst/>
              <a:cxnLst/>
              <a:rect r="r" b="b" t="t" l="l"/>
              <a:pathLst>
                <a:path h="2499360" w="5486400">
                  <a:moveTo>
                    <a:pt x="0" y="299974"/>
                  </a:moveTo>
                  <a:cubicBezTo>
                    <a:pt x="0" y="134239"/>
                    <a:pt x="134239" y="0"/>
                    <a:pt x="299974" y="0"/>
                  </a:cubicBezTo>
                  <a:lnTo>
                    <a:pt x="5186426" y="0"/>
                  </a:lnTo>
                  <a:cubicBezTo>
                    <a:pt x="5352161" y="0"/>
                    <a:pt x="5486400" y="134239"/>
                    <a:pt x="5486400" y="299974"/>
                  </a:cubicBezTo>
                  <a:lnTo>
                    <a:pt x="5486400" y="2199386"/>
                  </a:lnTo>
                  <a:cubicBezTo>
                    <a:pt x="5486400" y="2364994"/>
                    <a:pt x="5352161" y="2499360"/>
                    <a:pt x="5186426" y="2499360"/>
                  </a:cubicBezTo>
                  <a:lnTo>
                    <a:pt x="299974" y="2499360"/>
                  </a:lnTo>
                  <a:cubicBezTo>
                    <a:pt x="134239" y="2499360"/>
                    <a:pt x="0" y="2365121"/>
                    <a:pt x="0" y="2199386"/>
                  </a:cubicBezTo>
                  <a:close/>
                </a:path>
              </a:pathLst>
            </a:custGeom>
            <a:solidFill>
              <a:srgbClr val="FBE9A6"/>
            </a:solidFill>
          </p:spPr>
        </p:sp>
      </p:grpSp>
      <p:sp>
        <p:nvSpPr>
          <p:cNvPr name="TextBox 21" id="21"/>
          <p:cNvSpPr txBox="true"/>
          <p:nvPr/>
        </p:nvSpPr>
        <p:spPr>
          <a:xfrm rot="0">
            <a:off x="960120" y="3830955"/>
            <a:ext cx="3566160" cy="512445"/>
          </a:xfrm>
          <a:prstGeom prst="rect">
            <a:avLst/>
          </a:prstGeom>
        </p:spPr>
        <p:txBody>
          <a:bodyPr anchor="t" rtlCol="false" tIns="0" lIns="0" bIns="0" rIns="0">
            <a:spAutoFit/>
          </a:bodyPr>
          <a:lstStyle/>
          <a:p>
            <a:pPr algn="l">
              <a:lnSpc>
                <a:spcPts val="2400"/>
              </a:lnSpc>
            </a:pPr>
            <a:r>
              <a:rPr lang="en-US" sz="2000" b="true">
                <a:solidFill>
                  <a:srgbClr val="0D1B4C"/>
                </a:solidFill>
                <a:latin typeface="Arimo Bold"/>
                <a:ea typeface="Arimo Bold"/>
                <a:cs typeface="Arimo Bold"/>
                <a:sym typeface="Arimo Bold"/>
              </a:rPr>
              <a:t>Check-ins and stamps</a:t>
            </a:r>
          </a:p>
        </p:txBody>
      </p:sp>
      <p:sp>
        <p:nvSpPr>
          <p:cNvPr name="TextBox 22" id="22"/>
          <p:cNvSpPr txBox="true"/>
          <p:nvPr/>
        </p:nvSpPr>
        <p:spPr>
          <a:xfrm rot="0">
            <a:off x="960120" y="4415790"/>
            <a:ext cx="3566160" cy="842010"/>
          </a:xfrm>
          <a:prstGeom prst="rect">
            <a:avLst/>
          </a:prstGeom>
        </p:spPr>
        <p:txBody>
          <a:bodyPr anchor="t" rtlCol="false" tIns="0" lIns="0" bIns="0" rIns="0">
            <a:spAutoFit/>
          </a:bodyPr>
          <a:lstStyle/>
          <a:p>
            <a:pPr algn="l">
              <a:lnSpc>
                <a:spcPts val="1919"/>
              </a:lnSpc>
            </a:pPr>
            <a:r>
              <a:rPr lang="en-US" sz="1599">
                <a:solidFill>
                  <a:srgbClr val="1F2A44"/>
                </a:solidFill>
                <a:latin typeface="Arimo"/>
                <a:ea typeface="Arimo"/>
                <a:cs typeface="Arimo"/>
                <a:sym typeface="Arimo"/>
              </a:rPr>
              <a:t>Taps at local places and shops</a:t>
            </a:r>
          </a:p>
        </p:txBody>
      </p:sp>
      <p:grpSp>
        <p:nvGrpSpPr>
          <p:cNvPr name="Group 23" id="23"/>
          <p:cNvGrpSpPr/>
          <p:nvPr/>
        </p:nvGrpSpPr>
        <p:grpSpPr>
          <a:xfrm rot="0">
            <a:off x="4937760" y="3566160"/>
            <a:ext cx="4114800" cy="1874520"/>
            <a:chOff x="0" y="0"/>
            <a:chExt cx="5486400" cy="2499360"/>
          </a:xfrm>
        </p:grpSpPr>
        <p:sp>
          <p:nvSpPr>
            <p:cNvPr name="Freeform 24" id="24"/>
            <p:cNvSpPr/>
            <p:nvPr/>
          </p:nvSpPr>
          <p:spPr>
            <a:xfrm flipH="false" flipV="false" rot="0">
              <a:off x="0" y="0"/>
              <a:ext cx="5486400" cy="2499360"/>
            </a:xfrm>
            <a:custGeom>
              <a:avLst/>
              <a:gdLst/>
              <a:ahLst/>
              <a:cxnLst/>
              <a:rect r="r" b="b" t="t" l="l"/>
              <a:pathLst>
                <a:path h="2499360" w="5486400">
                  <a:moveTo>
                    <a:pt x="0" y="299974"/>
                  </a:moveTo>
                  <a:cubicBezTo>
                    <a:pt x="0" y="134239"/>
                    <a:pt x="134239" y="0"/>
                    <a:pt x="299974" y="0"/>
                  </a:cubicBezTo>
                  <a:lnTo>
                    <a:pt x="5186426" y="0"/>
                  </a:lnTo>
                  <a:cubicBezTo>
                    <a:pt x="5352161" y="0"/>
                    <a:pt x="5486400" y="134239"/>
                    <a:pt x="5486400" y="299974"/>
                  </a:cubicBezTo>
                  <a:lnTo>
                    <a:pt x="5486400" y="2199386"/>
                  </a:lnTo>
                  <a:cubicBezTo>
                    <a:pt x="5486400" y="2364994"/>
                    <a:pt x="5352161" y="2499360"/>
                    <a:pt x="5186426" y="2499360"/>
                  </a:cubicBezTo>
                  <a:lnTo>
                    <a:pt x="299974" y="2499360"/>
                  </a:lnTo>
                  <a:cubicBezTo>
                    <a:pt x="134239" y="2499360"/>
                    <a:pt x="0" y="2365121"/>
                    <a:pt x="0" y="2199386"/>
                  </a:cubicBezTo>
                  <a:close/>
                </a:path>
              </a:pathLst>
            </a:custGeom>
            <a:solidFill>
              <a:srgbClr val="D9EAD6"/>
            </a:solidFill>
          </p:spPr>
        </p:sp>
      </p:grpSp>
      <p:sp>
        <p:nvSpPr>
          <p:cNvPr name="TextBox 25" id="25"/>
          <p:cNvSpPr txBox="true"/>
          <p:nvPr/>
        </p:nvSpPr>
        <p:spPr>
          <a:xfrm rot="0">
            <a:off x="5212080" y="3830955"/>
            <a:ext cx="3566160" cy="512445"/>
          </a:xfrm>
          <a:prstGeom prst="rect">
            <a:avLst/>
          </a:prstGeom>
        </p:spPr>
        <p:txBody>
          <a:bodyPr anchor="t" rtlCol="false" tIns="0" lIns="0" bIns="0" rIns="0">
            <a:spAutoFit/>
          </a:bodyPr>
          <a:lstStyle/>
          <a:p>
            <a:pPr algn="l">
              <a:lnSpc>
                <a:spcPts val="2400"/>
              </a:lnSpc>
            </a:pPr>
            <a:r>
              <a:rPr lang="en-US" sz="2000" b="true">
                <a:solidFill>
                  <a:srgbClr val="0D1B4C"/>
                </a:solidFill>
                <a:latin typeface="Arimo Bold"/>
                <a:ea typeface="Arimo Bold"/>
                <a:cs typeface="Arimo Bold"/>
                <a:sym typeface="Arimo Bold"/>
              </a:rPr>
              <a:t>Last-location success</a:t>
            </a:r>
          </a:p>
        </p:txBody>
      </p:sp>
      <p:sp>
        <p:nvSpPr>
          <p:cNvPr name="TextBox 26" id="26"/>
          <p:cNvSpPr txBox="true"/>
          <p:nvPr/>
        </p:nvSpPr>
        <p:spPr>
          <a:xfrm rot="0">
            <a:off x="5212080" y="4415790"/>
            <a:ext cx="3566160" cy="842010"/>
          </a:xfrm>
          <a:prstGeom prst="rect">
            <a:avLst/>
          </a:prstGeom>
        </p:spPr>
        <p:txBody>
          <a:bodyPr anchor="t" rtlCol="false" tIns="0" lIns="0" bIns="0" rIns="0">
            <a:spAutoFit/>
          </a:bodyPr>
          <a:lstStyle/>
          <a:p>
            <a:pPr algn="l">
              <a:lnSpc>
                <a:spcPts val="1919"/>
              </a:lnSpc>
            </a:pPr>
            <a:r>
              <a:rPr lang="en-US" sz="1599">
                <a:solidFill>
                  <a:srgbClr val="1F2A44"/>
                </a:solidFill>
                <a:latin typeface="Arimo"/>
                <a:ea typeface="Arimo"/>
                <a:cs typeface="Arimo"/>
                <a:sym typeface="Arimo"/>
              </a:rPr>
              <a:t>SOS alerts that arrive with a usable location</a:t>
            </a:r>
          </a:p>
        </p:txBody>
      </p:sp>
      <p:sp>
        <p:nvSpPr>
          <p:cNvPr name="Freeform 27" id="27"/>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0" id="1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Who Pays?</a:t>
            </a:r>
          </a:p>
        </p:txBody>
      </p:sp>
      <p:sp>
        <p:nvSpPr>
          <p:cNvPr name="TextBox 11" id="11"/>
          <p:cNvSpPr txBox="true"/>
          <p:nvPr/>
        </p:nvSpPr>
        <p:spPr>
          <a:xfrm rot="0">
            <a:off x="685800" y="1407795"/>
            <a:ext cx="8366760" cy="466725"/>
          </a:xfrm>
          <a:prstGeom prst="rect">
            <a:avLst/>
          </a:prstGeom>
        </p:spPr>
        <p:txBody>
          <a:bodyPr anchor="t" rtlCol="false" tIns="0" lIns="0" bIns="0" rIns="0">
            <a:spAutoFit/>
          </a:bodyPr>
          <a:lstStyle/>
          <a:p>
            <a:pPr algn="ctr">
              <a:lnSpc>
                <a:spcPts val="2400"/>
              </a:lnSpc>
            </a:pPr>
            <a:r>
              <a:rPr lang="en-US" sz="2000" b="true">
                <a:solidFill>
                  <a:srgbClr val="0D1B4C"/>
                </a:solidFill>
                <a:latin typeface="Arimo Bold"/>
                <a:ea typeface="Arimo Bold"/>
                <a:cs typeface="Arimo Bold"/>
                <a:sym typeface="Arimo Bold"/>
              </a:rPr>
              <a:t>Three groups gain, so three groups can pay</a:t>
            </a:r>
          </a:p>
        </p:txBody>
      </p:sp>
      <p:grpSp>
        <p:nvGrpSpPr>
          <p:cNvPr name="Group 12" id="12"/>
          <p:cNvGrpSpPr/>
          <p:nvPr/>
        </p:nvGrpSpPr>
        <p:grpSpPr>
          <a:xfrm rot="0">
            <a:off x="685800" y="2057400"/>
            <a:ext cx="2651760" cy="3291840"/>
            <a:chOff x="0" y="0"/>
            <a:chExt cx="3535680" cy="4389120"/>
          </a:xfrm>
        </p:grpSpPr>
        <p:sp>
          <p:nvSpPr>
            <p:cNvPr name="Freeform 13" id="13"/>
            <p:cNvSpPr/>
            <p:nvPr/>
          </p:nvSpPr>
          <p:spPr>
            <a:xfrm flipH="false" flipV="false" rot="0">
              <a:off x="0" y="0"/>
              <a:ext cx="3535680" cy="4389120"/>
            </a:xfrm>
            <a:custGeom>
              <a:avLst/>
              <a:gdLst/>
              <a:ahLst/>
              <a:cxnLst/>
              <a:rect r="r" b="b" t="t" l="l"/>
              <a:pathLst>
                <a:path h="4389120" w="3535680">
                  <a:moveTo>
                    <a:pt x="0" y="424307"/>
                  </a:moveTo>
                  <a:cubicBezTo>
                    <a:pt x="0" y="189992"/>
                    <a:pt x="189992" y="0"/>
                    <a:pt x="424307" y="0"/>
                  </a:cubicBezTo>
                  <a:lnTo>
                    <a:pt x="3111373" y="0"/>
                  </a:lnTo>
                  <a:cubicBezTo>
                    <a:pt x="3345688" y="0"/>
                    <a:pt x="3535680" y="189992"/>
                    <a:pt x="3535680" y="424307"/>
                  </a:cubicBezTo>
                  <a:lnTo>
                    <a:pt x="3535680" y="3964813"/>
                  </a:lnTo>
                  <a:cubicBezTo>
                    <a:pt x="3535680" y="4199128"/>
                    <a:pt x="3345688" y="4389120"/>
                    <a:pt x="3111373" y="4389120"/>
                  </a:cubicBezTo>
                  <a:lnTo>
                    <a:pt x="424307" y="4389120"/>
                  </a:lnTo>
                  <a:cubicBezTo>
                    <a:pt x="189992" y="4389120"/>
                    <a:pt x="0" y="4199128"/>
                    <a:pt x="0" y="3964813"/>
                  </a:cubicBezTo>
                  <a:close/>
                </a:path>
              </a:pathLst>
            </a:custGeom>
            <a:solidFill>
              <a:srgbClr val="FDE2CF"/>
            </a:solidFill>
          </p:spPr>
        </p:sp>
      </p:grpSp>
      <p:grpSp>
        <p:nvGrpSpPr>
          <p:cNvPr name="Group 14" id="14"/>
          <p:cNvGrpSpPr/>
          <p:nvPr/>
        </p:nvGrpSpPr>
        <p:grpSpPr>
          <a:xfrm rot="0">
            <a:off x="1783080" y="2240280"/>
            <a:ext cx="457200" cy="457200"/>
            <a:chOff x="0" y="0"/>
            <a:chExt cx="609600" cy="609600"/>
          </a:xfrm>
        </p:grpSpPr>
        <p:sp>
          <p:nvSpPr>
            <p:cNvPr name="Freeform 15" id="15"/>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58A4B"/>
            </a:solidFill>
          </p:spPr>
        </p:sp>
        <p:sp>
          <p:nvSpPr>
            <p:cNvPr name="TextBox 16" id="16"/>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1</a:t>
              </a:r>
            </a:p>
          </p:txBody>
        </p:sp>
      </p:grpSp>
      <p:sp>
        <p:nvSpPr>
          <p:cNvPr name="TextBox 17" id="17"/>
          <p:cNvSpPr txBox="true"/>
          <p:nvPr/>
        </p:nvSpPr>
        <p:spPr>
          <a:xfrm rot="0">
            <a:off x="822960" y="2825115"/>
            <a:ext cx="2377440" cy="741045"/>
          </a:xfrm>
          <a:prstGeom prst="rect">
            <a:avLst/>
          </a:prstGeom>
        </p:spPr>
        <p:txBody>
          <a:bodyPr anchor="t" rtlCol="false" tIns="0" lIns="0" bIns="0" rIns="0">
            <a:spAutoFit/>
          </a:bodyPr>
          <a:lstStyle/>
          <a:p>
            <a:pPr algn="ctr">
              <a:lnSpc>
                <a:spcPts val="2279"/>
              </a:lnSpc>
            </a:pPr>
            <a:r>
              <a:rPr lang="en-US" sz="1899" b="true">
                <a:solidFill>
                  <a:srgbClr val="0D1B4C"/>
                </a:solidFill>
                <a:latin typeface="Arimo Bold"/>
                <a:ea typeface="Arimo Bold"/>
                <a:cs typeface="Arimo Bold"/>
                <a:sym typeface="Arimo Bold"/>
              </a:rPr>
              <a:t>Travelers</a:t>
            </a:r>
          </a:p>
        </p:txBody>
      </p:sp>
      <p:sp>
        <p:nvSpPr>
          <p:cNvPr name="TextBox 18" id="18"/>
          <p:cNvSpPr txBox="true"/>
          <p:nvPr/>
        </p:nvSpPr>
        <p:spPr>
          <a:xfrm rot="0">
            <a:off x="914400" y="3592830"/>
            <a:ext cx="2194560" cy="1162050"/>
          </a:xfrm>
          <a:prstGeom prst="rect">
            <a:avLst/>
          </a:prstGeom>
        </p:spPr>
        <p:txBody>
          <a:bodyPr anchor="t" rtlCol="false" tIns="0" lIns="0" bIns="0" rIns="0">
            <a:spAutoFit/>
          </a:bodyPr>
          <a:lstStyle/>
          <a:p>
            <a:pPr algn="l">
              <a:lnSpc>
                <a:spcPts val="1800"/>
              </a:lnSpc>
            </a:pPr>
            <a:r>
              <a:rPr lang="en-US" sz="1500" b="true">
                <a:solidFill>
                  <a:srgbClr val="1F8A80"/>
                </a:solidFill>
                <a:latin typeface="Arimo Bold"/>
                <a:ea typeface="Arimo Bold"/>
                <a:cs typeface="Arimo Bold"/>
                <a:sym typeface="Arimo Bold"/>
              </a:rPr>
              <a:t>✓  </a:t>
            </a:r>
            <a:r>
              <a:rPr lang="en-US" sz="1500">
                <a:solidFill>
                  <a:srgbClr val="1F2A44"/>
                </a:solidFill>
                <a:latin typeface="Arimo"/>
                <a:ea typeface="Arimo"/>
                <a:cs typeface="Arimo"/>
                <a:sym typeface="Arimo"/>
              </a:rPr>
              <a:t>10,000 KRW refundable deposit per band</a:t>
            </a:r>
          </a:p>
          <a:p>
            <a:pPr algn="l">
              <a:lnSpc>
                <a:spcPts val="1800"/>
              </a:lnSpc>
            </a:pPr>
            <a:r>
              <a:rPr lang="en-US" sz="1500" b="true">
                <a:solidFill>
                  <a:srgbClr val="1F8A80"/>
                </a:solidFill>
                <a:latin typeface="Arimo Bold"/>
                <a:ea typeface="Arimo Bold"/>
                <a:cs typeface="Arimo Bold"/>
                <a:sym typeface="Arimo Bold"/>
              </a:rPr>
              <a:t>✓  </a:t>
            </a:r>
            <a:r>
              <a:rPr lang="en-US" sz="1500">
                <a:solidFill>
                  <a:srgbClr val="1F2A44"/>
                </a:solidFill>
                <a:latin typeface="Arimo"/>
                <a:ea typeface="Arimo"/>
                <a:cs typeface="Arimo"/>
                <a:sym typeface="Arimo"/>
              </a:rPr>
              <a:t>Keep the band as a souvenir (sale)</a:t>
            </a:r>
          </a:p>
        </p:txBody>
      </p:sp>
      <p:grpSp>
        <p:nvGrpSpPr>
          <p:cNvPr name="Group 19" id="19"/>
          <p:cNvGrpSpPr/>
          <p:nvPr/>
        </p:nvGrpSpPr>
        <p:grpSpPr>
          <a:xfrm rot="0">
            <a:off x="3520440" y="2057400"/>
            <a:ext cx="2651760" cy="3291840"/>
            <a:chOff x="0" y="0"/>
            <a:chExt cx="3535680" cy="4389120"/>
          </a:xfrm>
        </p:grpSpPr>
        <p:sp>
          <p:nvSpPr>
            <p:cNvPr name="Freeform 20" id="20"/>
            <p:cNvSpPr/>
            <p:nvPr/>
          </p:nvSpPr>
          <p:spPr>
            <a:xfrm flipH="false" flipV="false" rot="0">
              <a:off x="0" y="0"/>
              <a:ext cx="3535680" cy="4389120"/>
            </a:xfrm>
            <a:custGeom>
              <a:avLst/>
              <a:gdLst/>
              <a:ahLst/>
              <a:cxnLst/>
              <a:rect r="r" b="b" t="t" l="l"/>
              <a:pathLst>
                <a:path h="4389120" w="3535680">
                  <a:moveTo>
                    <a:pt x="0" y="424307"/>
                  </a:moveTo>
                  <a:cubicBezTo>
                    <a:pt x="0" y="189992"/>
                    <a:pt x="189992" y="0"/>
                    <a:pt x="424307" y="0"/>
                  </a:cubicBezTo>
                  <a:lnTo>
                    <a:pt x="3111373" y="0"/>
                  </a:lnTo>
                  <a:cubicBezTo>
                    <a:pt x="3345688" y="0"/>
                    <a:pt x="3535680" y="189992"/>
                    <a:pt x="3535680" y="424307"/>
                  </a:cubicBezTo>
                  <a:lnTo>
                    <a:pt x="3535680" y="3964813"/>
                  </a:lnTo>
                  <a:cubicBezTo>
                    <a:pt x="3535680" y="4199128"/>
                    <a:pt x="3345688" y="4389120"/>
                    <a:pt x="3111373" y="4389120"/>
                  </a:cubicBezTo>
                  <a:lnTo>
                    <a:pt x="424307" y="4389120"/>
                  </a:lnTo>
                  <a:cubicBezTo>
                    <a:pt x="189992" y="4389120"/>
                    <a:pt x="0" y="4199128"/>
                    <a:pt x="0" y="3964813"/>
                  </a:cubicBezTo>
                  <a:close/>
                </a:path>
              </a:pathLst>
            </a:custGeom>
            <a:solidFill>
              <a:srgbClr val="D3EFEC"/>
            </a:solidFill>
          </p:spPr>
        </p:sp>
      </p:grpSp>
      <p:grpSp>
        <p:nvGrpSpPr>
          <p:cNvPr name="Group 21" id="21"/>
          <p:cNvGrpSpPr/>
          <p:nvPr/>
        </p:nvGrpSpPr>
        <p:grpSpPr>
          <a:xfrm rot="0">
            <a:off x="4617720" y="2240280"/>
            <a:ext cx="457200" cy="457200"/>
            <a:chOff x="0" y="0"/>
            <a:chExt cx="609600" cy="609600"/>
          </a:xfrm>
        </p:grpSpPr>
        <p:sp>
          <p:nvSpPr>
            <p:cNvPr name="Freeform 22" id="22"/>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2A9D93"/>
            </a:solidFill>
          </p:spPr>
        </p:sp>
        <p:sp>
          <p:nvSpPr>
            <p:cNvPr name="TextBox 23" id="23"/>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sp>
        <p:nvSpPr>
          <p:cNvPr name="TextBox 24" id="24"/>
          <p:cNvSpPr txBox="true"/>
          <p:nvPr/>
        </p:nvSpPr>
        <p:spPr>
          <a:xfrm rot="0">
            <a:off x="3657600" y="2825115"/>
            <a:ext cx="2377440" cy="741045"/>
          </a:xfrm>
          <a:prstGeom prst="rect">
            <a:avLst/>
          </a:prstGeom>
        </p:spPr>
        <p:txBody>
          <a:bodyPr anchor="t" rtlCol="false" tIns="0" lIns="0" bIns="0" rIns="0">
            <a:spAutoFit/>
          </a:bodyPr>
          <a:lstStyle/>
          <a:p>
            <a:pPr algn="ctr">
              <a:lnSpc>
                <a:spcPts val="2279"/>
              </a:lnSpc>
            </a:pPr>
            <a:r>
              <a:rPr lang="en-US" sz="1899" b="true">
                <a:solidFill>
                  <a:srgbClr val="0D1B4C"/>
                </a:solidFill>
                <a:latin typeface="Arimo Bold"/>
                <a:ea typeface="Arimo Bold"/>
                <a:cs typeface="Arimo Bold"/>
                <a:sym typeface="Arimo Bold"/>
              </a:rPr>
              <a:t>Local businesses</a:t>
            </a:r>
          </a:p>
        </p:txBody>
      </p:sp>
      <p:sp>
        <p:nvSpPr>
          <p:cNvPr name="TextBox 25" id="25"/>
          <p:cNvSpPr txBox="true"/>
          <p:nvPr/>
        </p:nvSpPr>
        <p:spPr>
          <a:xfrm rot="0">
            <a:off x="3749040" y="3592830"/>
            <a:ext cx="2194560" cy="1664970"/>
          </a:xfrm>
          <a:prstGeom prst="rect">
            <a:avLst/>
          </a:prstGeom>
        </p:spPr>
        <p:txBody>
          <a:bodyPr anchor="t" rtlCol="false" tIns="0" lIns="0" bIns="0" rIns="0">
            <a:spAutoFit/>
          </a:bodyPr>
          <a:lstStyle/>
          <a:p>
            <a:pPr algn="l">
              <a:lnSpc>
                <a:spcPts val="1800"/>
              </a:lnSpc>
            </a:pPr>
            <a:r>
              <a:rPr lang="en-US" sz="1500" b="true">
                <a:solidFill>
                  <a:srgbClr val="1F8A80"/>
                </a:solidFill>
                <a:latin typeface="Arimo Bold"/>
                <a:ea typeface="Arimo Bold"/>
                <a:cs typeface="Arimo Bold"/>
                <a:sym typeface="Arimo Bold"/>
              </a:rPr>
              <a:t>✓  </a:t>
            </a:r>
            <a:r>
              <a:rPr lang="en-US" sz="1500">
                <a:solidFill>
                  <a:srgbClr val="1F2A44"/>
                </a:solidFill>
                <a:latin typeface="Arimo"/>
                <a:ea typeface="Arimo"/>
                <a:cs typeface="Arimo"/>
                <a:sym typeface="Arimo"/>
              </a:rPr>
              <a:t>Partner shop listing (ranking stays fair)</a:t>
            </a:r>
          </a:p>
          <a:p>
            <a:pPr algn="l">
              <a:lnSpc>
                <a:spcPts val="1800"/>
              </a:lnSpc>
            </a:pPr>
            <a:r>
              <a:rPr lang="en-US" sz="1500" b="true">
                <a:solidFill>
                  <a:srgbClr val="1F8A80"/>
                </a:solidFill>
                <a:latin typeface="Arimo Bold"/>
                <a:ea typeface="Arimo Bold"/>
                <a:cs typeface="Arimo Bold"/>
                <a:sym typeface="Arimo Bold"/>
              </a:rPr>
              <a:t>✓  </a:t>
            </a:r>
            <a:r>
              <a:rPr lang="en-US" sz="1500">
                <a:solidFill>
                  <a:srgbClr val="1F2A44"/>
                </a:solidFill>
                <a:latin typeface="Arimo"/>
                <a:ea typeface="Arimo"/>
                <a:cs typeface="Arimo"/>
                <a:sym typeface="Arimo"/>
              </a:rPr>
              <a:t>Co-fund the 4,000 KRW voucher</a:t>
            </a:r>
          </a:p>
        </p:txBody>
      </p:sp>
      <p:grpSp>
        <p:nvGrpSpPr>
          <p:cNvPr name="Group 26" id="26"/>
          <p:cNvGrpSpPr/>
          <p:nvPr/>
        </p:nvGrpSpPr>
        <p:grpSpPr>
          <a:xfrm rot="0">
            <a:off x="6355080" y="2057400"/>
            <a:ext cx="2651760" cy="3291840"/>
            <a:chOff x="0" y="0"/>
            <a:chExt cx="3535680" cy="4389120"/>
          </a:xfrm>
        </p:grpSpPr>
        <p:sp>
          <p:nvSpPr>
            <p:cNvPr name="Freeform 27" id="27"/>
            <p:cNvSpPr/>
            <p:nvPr/>
          </p:nvSpPr>
          <p:spPr>
            <a:xfrm flipH="false" flipV="false" rot="0">
              <a:off x="0" y="0"/>
              <a:ext cx="3535680" cy="4389120"/>
            </a:xfrm>
            <a:custGeom>
              <a:avLst/>
              <a:gdLst/>
              <a:ahLst/>
              <a:cxnLst/>
              <a:rect r="r" b="b" t="t" l="l"/>
              <a:pathLst>
                <a:path h="4389120" w="3535680">
                  <a:moveTo>
                    <a:pt x="0" y="424307"/>
                  </a:moveTo>
                  <a:cubicBezTo>
                    <a:pt x="0" y="189992"/>
                    <a:pt x="189992" y="0"/>
                    <a:pt x="424307" y="0"/>
                  </a:cubicBezTo>
                  <a:lnTo>
                    <a:pt x="3111373" y="0"/>
                  </a:lnTo>
                  <a:cubicBezTo>
                    <a:pt x="3345688" y="0"/>
                    <a:pt x="3535680" y="189992"/>
                    <a:pt x="3535680" y="424307"/>
                  </a:cubicBezTo>
                  <a:lnTo>
                    <a:pt x="3535680" y="3964813"/>
                  </a:lnTo>
                  <a:cubicBezTo>
                    <a:pt x="3535680" y="4199128"/>
                    <a:pt x="3345688" y="4389120"/>
                    <a:pt x="3111373" y="4389120"/>
                  </a:cubicBezTo>
                  <a:lnTo>
                    <a:pt x="424307" y="4389120"/>
                  </a:lnTo>
                  <a:cubicBezTo>
                    <a:pt x="189992" y="4389120"/>
                    <a:pt x="0" y="4199128"/>
                    <a:pt x="0" y="3964813"/>
                  </a:cubicBezTo>
                  <a:close/>
                </a:path>
              </a:pathLst>
            </a:custGeom>
            <a:solidFill>
              <a:srgbClr val="FBE9A6"/>
            </a:solidFill>
          </p:spPr>
        </p:sp>
      </p:grpSp>
      <p:grpSp>
        <p:nvGrpSpPr>
          <p:cNvPr name="Group 28" id="28"/>
          <p:cNvGrpSpPr/>
          <p:nvPr/>
        </p:nvGrpSpPr>
        <p:grpSpPr>
          <a:xfrm rot="0">
            <a:off x="7452360" y="2240280"/>
            <a:ext cx="457200" cy="457200"/>
            <a:chOff x="0" y="0"/>
            <a:chExt cx="609600" cy="609600"/>
          </a:xfrm>
        </p:grpSpPr>
        <p:sp>
          <p:nvSpPr>
            <p:cNvPr name="Freeform 29" id="29"/>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6C945"/>
            </a:solidFill>
          </p:spPr>
        </p:sp>
        <p:sp>
          <p:nvSpPr>
            <p:cNvPr name="TextBox 30" id="30"/>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0D1B4C"/>
                  </a:solidFill>
                  <a:latin typeface="Arimo Bold"/>
                  <a:ea typeface="Arimo Bold"/>
                  <a:cs typeface="Arimo Bold"/>
                  <a:sym typeface="Arimo Bold"/>
                </a:rPr>
                <a:t>3</a:t>
              </a:r>
            </a:p>
          </p:txBody>
        </p:sp>
      </p:grpSp>
      <p:sp>
        <p:nvSpPr>
          <p:cNvPr name="TextBox 31" id="31"/>
          <p:cNvSpPr txBox="true"/>
          <p:nvPr/>
        </p:nvSpPr>
        <p:spPr>
          <a:xfrm rot="0">
            <a:off x="6492240" y="2825115"/>
            <a:ext cx="2377440" cy="741045"/>
          </a:xfrm>
          <a:prstGeom prst="rect">
            <a:avLst/>
          </a:prstGeom>
        </p:spPr>
        <p:txBody>
          <a:bodyPr anchor="t" rtlCol="false" tIns="0" lIns="0" bIns="0" rIns="0">
            <a:spAutoFit/>
          </a:bodyPr>
          <a:lstStyle/>
          <a:p>
            <a:pPr algn="ctr">
              <a:lnSpc>
                <a:spcPts val="2279"/>
              </a:lnSpc>
            </a:pPr>
            <a:r>
              <a:rPr lang="en-US" sz="1899" b="true">
                <a:solidFill>
                  <a:srgbClr val="0D1B4C"/>
                </a:solidFill>
                <a:latin typeface="Arimo Bold"/>
                <a:ea typeface="Arimo Bold"/>
                <a:cs typeface="Arimo Bold"/>
                <a:sym typeface="Arimo Bold"/>
              </a:rPr>
              <a:t>Tourism &amp; safety bodies</a:t>
            </a:r>
          </a:p>
        </p:txBody>
      </p:sp>
      <p:sp>
        <p:nvSpPr>
          <p:cNvPr name="TextBox 32" id="32"/>
          <p:cNvSpPr txBox="true"/>
          <p:nvPr/>
        </p:nvSpPr>
        <p:spPr>
          <a:xfrm rot="0">
            <a:off x="6583680" y="3592830"/>
            <a:ext cx="2194560" cy="1664970"/>
          </a:xfrm>
          <a:prstGeom prst="rect">
            <a:avLst/>
          </a:prstGeom>
        </p:spPr>
        <p:txBody>
          <a:bodyPr anchor="t" rtlCol="false" tIns="0" lIns="0" bIns="0" rIns="0">
            <a:spAutoFit/>
          </a:bodyPr>
          <a:lstStyle/>
          <a:p>
            <a:pPr algn="l">
              <a:lnSpc>
                <a:spcPts val="1800"/>
              </a:lnSpc>
            </a:pPr>
            <a:r>
              <a:rPr lang="en-US" sz="1500" b="true">
                <a:solidFill>
                  <a:srgbClr val="1F8A80"/>
                </a:solidFill>
                <a:latin typeface="Arimo Bold"/>
                <a:ea typeface="Arimo Bold"/>
                <a:cs typeface="Arimo Bold"/>
                <a:sym typeface="Arimo Bold"/>
              </a:rPr>
              <a:t>✓  </a:t>
            </a:r>
            <a:r>
              <a:rPr lang="en-US" sz="1500">
                <a:solidFill>
                  <a:srgbClr val="1F2A44"/>
                </a:solidFill>
                <a:latin typeface="Arimo"/>
                <a:ea typeface="Arimo"/>
                <a:cs typeface="Arimo"/>
                <a:sym typeface="Arimo"/>
              </a:rPr>
              <a:t>Pilot program funding</a:t>
            </a:r>
          </a:p>
          <a:p>
            <a:pPr algn="l">
              <a:lnSpc>
                <a:spcPts val="1800"/>
              </a:lnSpc>
            </a:pPr>
            <a:r>
              <a:rPr lang="en-US" sz="1500" b="true">
                <a:solidFill>
                  <a:srgbClr val="1F8A80"/>
                </a:solidFill>
                <a:latin typeface="Arimo Bold"/>
                <a:ea typeface="Arimo Bold"/>
                <a:cs typeface="Arimo Bold"/>
                <a:sym typeface="Arimo Bold"/>
              </a:rPr>
              <a:t>✓  </a:t>
            </a:r>
            <a:r>
              <a:rPr lang="en-US" sz="1500">
                <a:solidFill>
                  <a:srgbClr val="1F2A44"/>
                </a:solidFill>
                <a:latin typeface="Arimo"/>
                <a:ea typeface="Arimo"/>
                <a:cs typeface="Arimo"/>
                <a:sym typeface="Arimo"/>
              </a:rPr>
              <a:t>Anonymous visitor-flow insights</a:t>
            </a:r>
          </a:p>
        </p:txBody>
      </p:sp>
      <p:sp>
        <p:nvSpPr>
          <p:cNvPr name="Freeform 33" id="33"/>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8" id="8"/>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0" id="1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Our Wish</a:t>
            </a:r>
          </a:p>
        </p:txBody>
      </p:sp>
      <p:grpSp>
        <p:nvGrpSpPr>
          <p:cNvPr name="Group 11" id="11"/>
          <p:cNvGrpSpPr/>
          <p:nvPr/>
        </p:nvGrpSpPr>
        <p:grpSpPr>
          <a:xfrm rot="0">
            <a:off x="1463040" y="1371600"/>
            <a:ext cx="6830568" cy="822960"/>
            <a:chOff x="0" y="0"/>
            <a:chExt cx="9107424" cy="1097280"/>
          </a:xfrm>
        </p:grpSpPr>
        <p:sp>
          <p:nvSpPr>
            <p:cNvPr name="Freeform 12" id="12"/>
            <p:cNvSpPr/>
            <p:nvPr/>
          </p:nvSpPr>
          <p:spPr>
            <a:xfrm flipH="false" flipV="false" rot="0">
              <a:off x="0" y="0"/>
              <a:ext cx="9107424" cy="1097280"/>
            </a:xfrm>
            <a:custGeom>
              <a:avLst/>
              <a:gdLst/>
              <a:ahLst/>
              <a:cxnLst/>
              <a:rect r="r" b="b" t="t" l="l"/>
              <a:pathLst>
                <a:path h="1097280" w="9107424">
                  <a:moveTo>
                    <a:pt x="0" y="131699"/>
                  </a:moveTo>
                  <a:cubicBezTo>
                    <a:pt x="0" y="58928"/>
                    <a:pt x="58928" y="0"/>
                    <a:pt x="131699" y="0"/>
                  </a:cubicBezTo>
                  <a:lnTo>
                    <a:pt x="8975725" y="0"/>
                  </a:lnTo>
                  <a:cubicBezTo>
                    <a:pt x="9048496" y="0"/>
                    <a:pt x="9107424" y="58928"/>
                    <a:pt x="9107424" y="131699"/>
                  </a:cubicBezTo>
                  <a:lnTo>
                    <a:pt x="9107424" y="965581"/>
                  </a:lnTo>
                  <a:cubicBezTo>
                    <a:pt x="9107424" y="1038352"/>
                    <a:pt x="9048496" y="1097280"/>
                    <a:pt x="8975725" y="1097280"/>
                  </a:cubicBezTo>
                  <a:lnTo>
                    <a:pt x="131699" y="1097280"/>
                  </a:lnTo>
                  <a:cubicBezTo>
                    <a:pt x="58928" y="1097280"/>
                    <a:pt x="0" y="1038352"/>
                    <a:pt x="0" y="965581"/>
                  </a:cubicBezTo>
                  <a:close/>
                </a:path>
              </a:pathLst>
            </a:custGeom>
            <a:solidFill>
              <a:srgbClr val="FDE2CF"/>
            </a:solidFill>
          </p:spPr>
        </p:sp>
      </p:grpSp>
      <p:grpSp>
        <p:nvGrpSpPr>
          <p:cNvPr name="Group 13" id="13"/>
          <p:cNvGrpSpPr/>
          <p:nvPr/>
        </p:nvGrpSpPr>
        <p:grpSpPr>
          <a:xfrm rot="0">
            <a:off x="1645920" y="1508760"/>
            <a:ext cx="1828800" cy="548640"/>
            <a:chOff x="0" y="0"/>
            <a:chExt cx="2438400" cy="731520"/>
          </a:xfrm>
        </p:grpSpPr>
        <p:sp>
          <p:nvSpPr>
            <p:cNvPr name="Freeform 14" id="14"/>
            <p:cNvSpPr/>
            <p:nvPr/>
          </p:nvSpPr>
          <p:spPr>
            <a:xfrm flipH="false" flipV="false" rot="0">
              <a:off x="0" y="0"/>
              <a:ext cx="2438400" cy="731520"/>
            </a:xfrm>
            <a:custGeom>
              <a:avLst/>
              <a:gdLst/>
              <a:ahLst/>
              <a:cxnLst/>
              <a:rect r="r" b="b" t="t" l="l"/>
              <a:pathLst>
                <a:path h="731520" w="2438400">
                  <a:moveTo>
                    <a:pt x="0" y="365760"/>
                  </a:moveTo>
                  <a:cubicBezTo>
                    <a:pt x="0" y="163703"/>
                    <a:pt x="163703" y="0"/>
                    <a:pt x="365760" y="0"/>
                  </a:cubicBezTo>
                  <a:lnTo>
                    <a:pt x="2072640" y="0"/>
                  </a:lnTo>
                  <a:cubicBezTo>
                    <a:pt x="2274697" y="0"/>
                    <a:pt x="2438400" y="163703"/>
                    <a:pt x="2438400" y="365760"/>
                  </a:cubicBezTo>
                  <a:cubicBezTo>
                    <a:pt x="2438400" y="567817"/>
                    <a:pt x="2274697" y="731520"/>
                    <a:pt x="2072640" y="731520"/>
                  </a:cubicBezTo>
                  <a:lnTo>
                    <a:pt x="365760" y="731520"/>
                  </a:lnTo>
                  <a:cubicBezTo>
                    <a:pt x="163703" y="731520"/>
                    <a:pt x="0" y="567817"/>
                    <a:pt x="0" y="365760"/>
                  </a:cubicBezTo>
                  <a:close/>
                </a:path>
              </a:pathLst>
            </a:custGeom>
            <a:solidFill>
              <a:srgbClr val="F58A4B"/>
            </a:solidFill>
          </p:spPr>
        </p:sp>
        <p:sp>
          <p:nvSpPr>
            <p:cNvPr name="TextBox 15" id="15"/>
            <p:cNvSpPr txBox="true"/>
            <p:nvPr/>
          </p:nvSpPr>
          <p:spPr>
            <a:xfrm>
              <a:off x="0" y="-9525"/>
              <a:ext cx="2438400" cy="741045"/>
            </a:xfrm>
            <a:prstGeom prst="rect">
              <a:avLst/>
            </a:prstGeom>
          </p:spPr>
          <p:txBody>
            <a:bodyPr anchor="ctr" rtlCol="false" tIns="50800" lIns="50800" bIns="50800" rIns="50800"/>
            <a:lstStyle/>
            <a:p>
              <a:pPr algn="ctr">
                <a:lnSpc>
                  <a:spcPts val="2400"/>
                </a:lnSpc>
              </a:pPr>
              <a:r>
                <a:rPr lang="en-US" sz="2000" b="true">
                  <a:solidFill>
                    <a:srgbClr val="FFFFFF"/>
                  </a:solidFill>
                  <a:latin typeface="Arimo Bold"/>
                  <a:ea typeface="Arimo Bold"/>
                  <a:cs typeface="Arimo Bold"/>
                  <a:sym typeface="Arimo Bold"/>
                </a:rPr>
                <a:t>SMARTER</a:t>
              </a:r>
            </a:p>
          </p:txBody>
        </p:sp>
      </p:grpSp>
      <p:grpSp>
        <p:nvGrpSpPr>
          <p:cNvPr name="Group 16" id="16"/>
          <p:cNvGrpSpPr/>
          <p:nvPr/>
        </p:nvGrpSpPr>
        <p:grpSpPr>
          <a:xfrm rot="0">
            <a:off x="3703320" y="1463040"/>
            <a:ext cx="4480560" cy="685800"/>
            <a:chOff x="0" y="0"/>
            <a:chExt cx="5974080" cy="914400"/>
          </a:xfrm>
        </p:grpSpPr>
        <p:sp>
          <p:nvSpPr>
            <p:cNvPr name="Freeform 17" id="17"/>
            <p:cNvSpPr/>
            <p:nvPr/>
          </p:nvSpPr>
          <p:spPr>
            <a:xfrm flipH="false" flipV="false" rot="0">
              <a:off x="0" y="0"/>
              <a:ext cx="5974080" cy="914400"/>
            </a:xfrm>
            <a:custGeom>
              <a:avLst/>
              <a:gdLst/>
              <a:ahLst/>
              <a:cxnLst/>
              <a:rect r="r" b="b" t="t" l="l"/>
              <a:pathLst>
                <a:path h="914400" w="5974080">
                  <a:moveTo>
                    <a:pt x="0" y="0"/>
                  </a:moveTo>
                  <a:lnTo>
                    <a:pt x="5974080" y="0"/>
                  </a:lnTo>
                  <a:lnTo>
                    <a:pt x="5974080" y="914400"/>
                  </a:lnTo>
                  <a:lnTo>
                    <a:pt x="0" y="914400"/>
                  </a:lnTo>
                  <a:close/>
                </a:path>
              </a:pathLst>
            </a:custGeom>
            <a:blipFill>
              <a:blip r:embed="rId8">
                <a:alphaModFix amt="0"/>
              </a:blip>
              <a:stretch>
                <a:fillRect l="0" t="-77302" r="0" b="-77302"/>
              </a:stretch>
            </a:blipFill>
          </p:spPr>
        </p:sp>
        <p:sp>
          <p:nvSpPr>
            <p:cNvPr name="TextBox 18" id="18"/>
            <p:cNvSpPr txBox="true"/>
            <p:nvPr/>
          </p:nvSpPr>
          <p:spPr>
            <a:xfrm>
              <a:off x="0" y="-9525"/>
              <a:ext cx="5974080" cy="923925"/>
            </a:xfrm>
            <a:prstGeom prst="rect">
              <a:avLst/>
            </a:prstGeom>
          </p:spPr>
          <p:txBody>
            <a:bodyPr anchor="ctr" rtlCol="false" tIns="0" lIns="0" bIns="0" rIns="0"/>
            <a:lstStyle/>
            <a:p>
              <a:pPr algn="l">
                <a:lnSpc>
                  <a:spcPts val="2879"/>
                </a:lnSpc>
              </a:pPr>
              <a:r>
                <a:rPr lang="en-US" sz="2400">
                  <a:solidFill>
                    <a:srgbClr val="0D1B4C"/>
                  </a:solidFill>
                  <a:latin typeface="Arimo"/>
                  <a:ea typeface="Arimo"/>
                  <a:cs typeface="Arimo"/>
                  <a:sym typeface="Arimo"/>
                </a:rPr>
                <a:t>trips for visitors</a:t>
              </a:r>
            </a:p>
          </p:txBody>
        </p:sp>
      </p:grpSp>
      <p:grpSp>
        <p:nvGrpSpPr>
          <p:cNvPr name="Group 19" id="19"/>
          <p:cNvGrpSpPr/>
          <p:nvPr/>
        </p:nvGrpSpPr>
        <p:grpSpPr>
          <a:xfrm rot="0">
            <a:off x="1463040" y="2331720"/>
            <a:ext cx="6830568" cy="822960"/>
            <a:chOff x="0" y="0"/>
            <a:chExt cx="9107424" cy="1097280"/>
          </a:xfrm>
        </p:grpSpPr>
        <p:sp>
          <p:nvSpPr>
            <p:cNvPr name="Freeform 20" id="20"/>
            <p:cNvSpPr/>
            <p:nvPr/>
          </p:nvSpPr>
          <p:spPr>
            <a:xfrm flipH="false" flipV="false" rot="0">
              <a:off x="0" y="0"/>
              <a:ext cx="9107424" cy="1097280"/>
            </a:xfrm>
            <a:custGeom>
              <a:avLst/>
              <a:gdLst/>
              <a:ahLst/>
              <a:cxnLst/>
              <a:rect r="r" b="b" t="t" l="l"/>
              <a:pathLst>
                <a:path h="1097280" w="9107424">
                  <a:moveTo>
                    <a:pt x="0" y="131699"/>
                  </a:moveTo>
                  <a:cubicBezTo>
                    <a:pt x="0" y="58928"/>
                    <a:pt x="58928" y="0"/>
                    <a:pt x="131699" y="0"/>
                  </a:cubicBezTo>
                  <a:lnTo>
                    <a:pt x="8975725" y="0"/>
                  </a:lnTo>
                  <a:cubicBezTo>
                    <a:pt x="9048496" y="0"/>
                    <a:pt x="9107424" y="58928"/>
                    <a:pt x="9107424" y="131699"/>
                  </a:cubicBezTo>
                  <a:lnTo>
                    <a:pt x="9107424" y="965581"/>
                  </a:lnTo>
                  <a:cubicBezTo>
                    <a:pt x="9107424" y="1038352"/>
                    <a:pt x="9048496" y="1097280"/>
                    <a:pt x="8975725" y="1097280"/>
                  </a:cubicBezTo>
                  <a:lnTo>
                    <a:pt x="131699" y="1097280"/>
                  </a:lnTo>
                  <a:cubicBezTo>
                    <a:pt x="58928" y="1097280"/>
                    <a:pt x="0" y="1038352"/>
                    <a:pt x="0" y="965581"/>
                  </a:cubicBezTo>
                  <a:close/>
                </a:path>
              </a:pathLst>
            </a:custGeom>
            <a:solidFill>
              <a:srgbClr val="D3EFEC"/>
            </a:solidFill>
          </p:spPr>
        </p:sp>
      </p:grpSp>
      <p:grpSp>
        <p:nvGrpSpPr>
          <p:cNvPr name="Group 21" id="21"/>
          <p:cNvGrpSpPr/>
          <p:nvPr/>
        </p:nvGrpSpPr>
        <p:grpSpPr>
          <a:xfrm rot="0">
            <a:off x="1645920" y="2468880"/>
            <a:ext cx="1828800" cy="548640"/>
            <a:chOff x="0" y="0"/>
            <a:chExt cx="2438400" cy="731520"/>
          </a:xfrm>
        </p:grpSpPr>
        <p:sp>
          <p:nvSpPr>
            <p:cNvPr name="Freeform 22" id="22"/>
            <p:cNvSpPr/>
            <p:nvPr/>
          </p:nvSpPr>
          <p:spPr>
            <a:xfrm flipH="false" flipV="false" rot="0">
              <a:off x="0" y="0"/>
              <a:ext cx="2438400" cy="731520"/>
            </a:xfrm>
            <a:custGeom>
              <a:avLst/>
              <a:gdLst/>
              <a:ahLst/>
              <a:cxnLst/>
              <a:rect r="r" b="b" t="t" l="l"/>
              <a:pathLst>
                <a:path h="731520" w="2438400">
                  <a:moveTo>
                    <a:pt x="0" y="365760"/>
                  </a:moveTo>
                  <a:cubicBezTo>
                    <a:pt x="0" y="163703"/>
                    <a:pt x="163703" y="0"/>
                    <a:pt x="365760" y="0"/>
                  </a:cubicBezTo>
                  <a:lnTo>
                    <a:pt x="2072640" y="0"/>
                  </a:lnTo>
                  <a:cubicBezTo>
                    <a:pt x="2274697" y="0"/>
                    <a:pt x="2438400" y="163703"/>
                    <a:pt x="2438400" y="365760"/>
                  </a:cubicBezTo>
                  <a:cubicBezTo>
                    <a:pt x="2438400" y="567817"/>
                    <a:pt x="2274697" y="731520"/>
                    <a:pt x="2072640" y="731520"/>
                  </a:cubicBezTo>
                  <a:lnTo>
                    <a:pt x="365760" y="731520"/>
                  </a:lnTo>
                  <a:cubicBezTo>
                    <a:pt x="163703" y="731520"/>
                    <a:pt x="0" y="567817"/>
                    <a:pt x="0" y="365760"/>
                  </a:cubicBezTo>
                  <a:close/>
                </a:path>
              </a:pathLst>
            </a:custGeom>
            <a:solidFill>
              <a:srgbClr val="2A9D93"/>
            </a:solidFill>
          </p:spPr>
        </p:sp>
        <p:sp>
          <p:nvSpPr>
            <p:cNvPr name="TextBox 23" id="23"/>
            <p:cNvSpPr txBox="true"/>
            <p:nvPr/>
          </p:nvSpPr>
          <p:spPr>
            <a:xfrm>
              <a:off x="0" y="-9525"/>
              <a:ext cx="2438400" cy="741045"/>
            </a:xfrm>
            <a:prstGeom prst="rect">
              <a:avLst/>
            </a:prstGeom>
          </p:spPr>
          <p:txBody>
            <a:bodyPr anchor="ctr" rtlCol="false" tIns="50800" lIns="50800" bIns="50800" rIns="50800"/>
            <a:lstStyle/>
            <a:p>
              <a:pPr algn="ctr">
                <a:lnSpc>
                  <a:spcPts val="2400"/>
                </a:lnSpc>
              </a:pPr>
              <a:r>
                <a:rPr lang="en-US" sz="2000" b="true">
                  <a:solidFill>
                    <a:srgbClr val="FFFFFF"/>
                  </a:solidFill>
                  <a:latin typeface="Arimo Bold"/>
                  <a:ea typeface="Arimo Bold"/>
                  <a:cs typeface="Arimo Bold"/>
                  <a:sym typeface="Arimo Bold"/>
                </a:rPr>
                <a:t>FAIRER</a:t>
              </a:r>
            </a:p>
          </p:txBody>
        </p:sp>
      </p:grpSp>
      <p:grpSp>
        <p:nvGrpSpPr>
          <p:cNvPr name="Group 24" id="24"/>
          <p:cNvGrpSpPr/>
          <p:nvPr/>
        </p:nvGrpSpPr>
        <p:grpSpPr>
          <a:xfrm rot="0">
            <a:off x="3703320" y="2423160"/>
            <a:ext cx="4480560" cy="685800"/>
            <a:chOff x="0" y="0"/>
            <a:chExt cx="5974080" cy="914400"/>
          </a:xfrm>
        </p:grpSpPr>
        <p:sp>
          <p:nvSpPr>
            <p:cNvPr name="Freeform 25" id="25"/>
            <p:cNvSpPr/>
            <p:nvPr/>
          </p:nvSpPr>
          <p:spPr>
            <a:xfrm flipH="false" flipV="false" rot="0">
              <a:off x="0" y="0"/>
              <a:ext cx="5974080" cy="914400"/>
            </a:xfrm>
            <a:custGeom>
              <a:avLst/>
              <a:gdLst/>
              <a:ahLst/>
              <a:cxnLst/>
              <a:rect r="r" b="b" t="t" l="l"/>
              <a:pathLst>
                <a:path h="914400" w="5974080">
                  <a:moveTo>
                    <a:pt x="0" y="0"/>
                  </a:moveTo>
                  <a:lnTo>
                    <a:pt x="5974080" y="0"/>
                  </a:lnTo>
                  <a:lnTo>
                    <a:pt x="5974080" y="914400"/>
                  </a:lnTo>
                  <a:lnTo>
                    <a:pt x="0" y="914400"/>
                  </a:lnTo>
                  <a:close/>
                </a:path>
              </a:pathLst>
            </a:custGeom>
            <a:blipFill>
              <a:blip r:embed="rId8">
                <a:alphaModFix amt="0"/>
              </a:blip>
              <a:stretch>
                <a:fillRect l="0" t="-77302" r="0" b="-77302"/>
              </a:stretch>
            </a:blipFill>
          </p:spPr>
        </p:sp>
        <p:sp>
          <p:nvSpPr>
            <p:cNvPr name="TextBox 26" id="26"/>
            <p:cNvSpPr txBox="true"/>
            <p:nvPr/>
          </p:nvSpPr>
          <p:spPr>
            <a:xfrm>
              <a:off x="0" y="-9525"/>
              <a:ext cx="5974080" cy="923925"/>
            </a:xfrm>
            <a:prstGeom prst="rect">
              <a:avLst/>
            </a:prstGeom>
          </p:spPr>
          <p:txBody>
            <a:bodyPr anchor="ctr" rtlCol="false" tIns="0" lIns="0" bIns="0" rIns="0"/>
            <a:lstStyle/>
            <a:p>
              <a:pPr algn="l">
                <a:lnSpc>
                  <a:spcPts val="2879"/>
                </a:lnSpc>
              </a:pPr>
              <a:r>
                <a:rPr lang="en-US" sz="2400">
                  <a:solidFill>
                    <a:srgbClr val="0D1B4C"/>
                  </a:solidFill>
                  <a:latin typeface="Arimo"/>
                  <a:ea typeface="Arimo"/>
                  <a:cs typeface="Arimo"/>
                  <a:sym typeface="Arimo"/>
                </a:rPr>
                <a:t>income for locals</a:t>
              </a:r>
            </a:p>
          </p:txBody>
        </p:sp>
      </p:grpSp>
      <p:grpSp>
        <p:nvGrpSpPr>
          <p:cNvPr name="Group 27" id="27"/>
          <p:cNvGrpSpPr/>
          <p:nvPr/>
        </p:nvGrpSpPr>
        <p:grpSpPr>
          <a:xfrm rot="0">
            <a:off x="1463040" y="3291840"/>
            <a:ext cx="6830568" cy="822960"/>
            <a:chOff x="0" y="0"/>
            <a:chExt cx="9107424" cy="1097280"/>
          </a:xfrm>
        </p:grpSpPr>
        <p:sp>
          <p:nvSpPr>
            <p:cNvPr name="Freeform 28" id="28"/>
            <p:cNvSpPr/>
            <p:nvPr/>
          </p:nvSpPr>
          <p:spPr>
            <a:xfrm flipH="false" flipV="false" rot="0">
              <a:off x="0" y="0"/>
              <a:ext cx="9107424" cy="1097280"/>
            </a:xfrm>
            <a:custGeom>
              <a:avLst/>
              <a:gdLst/>
              <a:ahLst/>
              <a:cxnLst/>
              <a:rect r="r" b="b" t="t" l="l"/>
              <a:pathLst>
                <a:path h="1097280" w="9107424">
                  <a:moveTo>
                    <a:pt x="0" y="131699"/>
                  </a:moveTo>
                  <a:cubicBezTo>
                    <a:pt x="0" y="58928"/>
                    <a:pt x="58928" y="0"/>
                    <a:pt x="131699" y="0"/>
                  </a:cubicBezTo>
                  <a:lnTo>
                    <a:pt x="8975725" y="0"/>
                  </a:lnTo>
                  <a:cubicBezTo>
                    <a:pt x="9048496" y="0"/>
                    <a:pt x="9107424" y="58928"/>
                    <a:pt x="9107424" y="131699"/>
                  </a:cubicBezTo>
                  <a:lnTo>
                    <a:pt x="9107424" y="965581"/>
                  </a:lnTo>
                  <a:cubicBezTo>
                    <a:pt x="9107424" y="1038352"/>
                    <a:pt x="9048496" y="1097280"/>
                    <a:pt x="8975725" y="1097280"/>
                  </a:cubicBezTo>
                  <a:lnTo>
                    <a:pt x="131699" y="1097280"/>
                  </a:lnTo>
                  <a:cubicBezTo>
                    <a:pt x="58928" y="1097280"/>
                    <a:pt x="0" y="1038352"/>
                    <a:pt x="0" y="965581"/>
                  </a:cubicBezTo>
                  <a:close/>
                </a:path>
              </a:pathLst>
            </a:custGeom>
            <a:solidFill>
              <a:srgbClr val="FBE9A6"/>
            </a:solidFill>
          </p:spPr>
        </p:sp>
      </p:grpSp>
      <p:grpSp>
        <p:nvGrpSpPr>
          <p:cNvPr name="Group 29" id="29"/>
          <p:cNvGrpSpPr/>
          <p:nvPr/>
        </p:nvGrpSpPr>
        <p:grpSpPr>
          <a:xfrm rot="0">
            <a:off x="1645920" y="3429000"/>
            <a:ext cx="1828800" cy="548640"/>
            <a:chOff x="0" y="0"/>
            <a:chExt cx="2438400" cy="731520"/>
          </a:xfrm>
        </p:grpSpPr>
        <p:sp>
          <p:nvSpPr>
            <p:cNvPr name="Freeform 30" id="30"/>
            <p:cNvSpPr/>
            <p:nvPr/>
          </p:nvSpPr>
          <p:spPr>
            <a:xfrm flipH="false" flipV="false" rot="0">
              <a:off x="0" y="0"/>
              <a:ext cx="2438400" cy="731520"/>
            </a:xfrm>
            <a:custGeom>
              <a:avLst/>
              <a:gdLst/>
              <a:ahLst/>
              <a:cxnLst/>
              <a:rect r="r" b="b" t="t" l="l"/>
              <a:pathLst>
                <a:path h="731520" w="2438400">
                  <a:moveTo>
                    <a:pt x="0" y="365760"/>
                  </a:moveTo>
                  <a:cubicBezTo>
                    <a:pt x="0" y="163703"/>
                    <a:pt x="163703" y="0"/>
                    <a:pt x="365760" y="0"/>
                  </a:cubicBezTo>
                  <a:lnTo>
                    <a:pt x="2072640" y="0"/>
                  </a:lnTo>
                  <a:cubicBezTo>
                    <a:pt x="2274697" y="0"/>
                    <a:pt x="2438400" y="163703"/>
                    <a:pt x="2438400" y="365760"/>
                  </a:cubicBezTo>
                  <a:cubicBezTo>
                    <a:pt x="2438400" y="567817"/>
                    <a:pt x="2274697" y="731520"/>
                    <a:pt x="2072640" y="731520"/>
                  </a:cubicBezTo>
                  <a:lnTo>
                    <a:pt x="365760" y="731520"/>
                  </a:lnTo>
                  <a:cubicBezTo>
                    <a:pt x="163703" y="731520"/>
                    <a:pt x="0" y="567817"/>
                    <a:pt x="0" y="365760"/>
                  </a:cubicBezTo>
                  <a:close/>
                </a:path>
              </a:pathLst>
            </a:custGeom>
            <a:solidFill>
              <a:srgbClr val="F6C945"/>
            </a:solidFill>
          </p:spPr>
        </p:sp>
        <p:sp>
          <p:nvSpPr>
            <p:cNvPr name="TextBox 31" id="31"/>
            <p:cNvSpPr txBox="true"/>
            <p:nvPr/>
          </p:nvSpPr>
          <p:spPr>
            <a:xfrm>
              <a:off x="0" y="-9525"/>
              <a:ext cx="2438400" cy="741045"/>
            </a:xfrm>
            <a:prstGeom prst="rect">
              <a:avLst/>
            </a:prstGeom>
          </p:spPr>
          <p:txBody>
            <a:bodyPr anchor="ctr" rtlCol="false" tIns="50800" lIns="50800" bIns="50800" rIns="50800"/>
            <a:lstStyle/>
            <a:p>
              <a:pPr algn="ctr">
                <a:lnSpc>
                  <a:spcPts val="2400"/>
                </a:lnSpc>
              </a:pPr>
              <a:r>
                <a:rPr lang="en-US" sz="2000" b="true">
                  <a:solidFill>
                    <a:srgbClr val="0D1B4C"/>
                  </a:solidFill>
                  <a:latin typeface="Arimo Bold"/>
                  <a:ea typeface="Arimo Bold"/>
                  <a:cs typeface="Arimo Bold"/>
                  <a:sym typeface="Arimo Bold"/>
                </a:rPr>
                <a:t>SAFER</a:t>
              </a:r>
            </a:p>
          </p:txBody>
        </p:sp>
      </p:grpSp>
      <p:grpSp>
        <p:nvGrpSpPr>
          <p:cNvPr name="Group 32" id="32"/>
          <p:cNvGrpSpPr/>
          <p:nvPr/>
        </p:nvGrpSpPr>
        <p:grpSpPr>
          <a:xfrm rot="0">
            <a:off x="3703320" y="3383280"/>
            <a:ext cx="4480560" cy="685800"/>
            <a:chOff x="0" y="0"/>
            <a:chExt cx="5974080" cy="914400"/>
          </a:xfrm>
        </p:grpSpPr>
        <p:sp>
          <p:nvSpPr>
            <p:cNvPr name="Freeform 33" id="33"/>
            <p:cNvSpPr/>
            <p:nvPr/>
          </p:nvSpPr>
          <p:spPr>
            <a:xfrm flipH="false" flipV="false" rot="0">
              <a:off x="0" y="0"/>
              <a:ext cx="5974080" cy="914400"/>
            </a:xfrm>
            <a:custGeom>
              <a:avLst/>
              <a:gdLst/>
              <a:ahLst/>
              <a:cxnLst/>
              <a:rect r="r" b="b" t="t" l="l"/>
              <a:pathLst>
                <a:path h="914400" w="5974080">
                  <a:moveTo>
                    <a:pt x="0" y="0"/>
                  </a:moveTo>
                  <a:lnTo>
                    <a:pt x="5974080" y="0"/>
                  </a:lnTo>
                  <a:lnTo>
                    <a:pt x="5974080" y="914400"/>
                  </a:lnTo>
                  <a:lnTo>
                    <a:pt x="0" y="914400"/>
                  </a:lnTo>
                  <a:close/>
                </a:path>
              </a:pathLst>
            </a:custGeom>
            <a:blipFill>
              <a:blip r:embed="rId8">
                <a:alphaModFix amt="0"/>
              </a:blip>
              <a:stretch>
                <a:fillRect l="0" t="-77302" r="0" b="-77302"/>
              </a:stretch>
            </a:blipFill>
          </p:spPr>
        </p:sp>
        <p:sp>
          <p:nvSpPr>
            <p:cNvPr name="TextBox 34" id="34"/>
            <p:cNvSpPr txBox="true"/>
            <p:nvPr/>
          </p:nvSpPr>
          <p:spPr>
            <a:xfrm>
              <a:off x="0" y="-9525"/>
              <a:ext cx="5974080" cy="923925"/>
            </a:xfrm>
            <a:prstGeom prst="rect">
              <a:avLst/>
            </a:prstGeom>
          </p:spPr>
          <p:txBody>
            <a:bodyPr anchor="ctr" rtlCol="false" tIns="0" lIns="0" bIns="0" rIns="0"/>
            <a:lstStyle/>
            <a:p>
              <a:pPr algn="l">
                <a:lnSpc>
                  <a:spcPts val="2879"/>
                </a:lnSpc>
              </a:pPr>
              <a:r>
                <a:rPr lang="en-US" sz="2400">
                  <a:solidFill>
                    <a:srgbClr val="0D1B4C"/>
                  </a:solidFill>
                  <a:latin typeface="Arimo"/>
                  <a:ea typeface="Arimo"/>
                  <a:cs typeface="Arimo"/>
                  <a:sym typeface="Arimo"/>
                </a:rPr>
                <a:t>Jeju for everyone</a:t>
              </a:r>
            </a:p>
          </p:txBody>
        </p:sp>
      </p:grpSp>
      <p:sp>
        <p:nvSpPr>
          <p:cNvPr name="TextBox 35" id="35"/>
          <p:cNvSpPr txBox="true"/>
          <p:nvPr/>
        </p:nvSpPr>
        <p:spPr>
          <a:xfrm rot="0">
            <a:off x="731520" y="4516755"/>
            <a:ext cx="8293608" cy="649605"/>
          </a:xfrm>
          <a:prstGeom prst="rect">
            <a:avLst/>
          </a:prstGeom>
        </p:spPr>
        <p:txBody>
          <a:bodyPr anchor="t" rtlCol="false" tIns="0" lIns="0" bIns="0" rIns="0">
            <a:spAutoFit/>
          </a:bodyPr>
          <a:lstStyle/>
          <a:p>
            <a:pPr algn="ctr">
              <a:lnSpc>
                <a:spcPts val="4799"/>
              </a:lnSpc>
            </a:pPr>
            <a:r>
              <a:rPr lang="en-US" sz="3999" b="true">
                <a:solidFill>
                  <a:srgbClr val="1F8A80"/>
                </a:solidFill>
                <a:latin typeface="Arimo Bold"/>
                <a:ea typeface="Arimo Bold"/>
                <a:cs typeface="Arimo Bold"/>
                <a:sym typeface="Arimo Bold"/>
              </a:rPr>
              <a:t>That is our wish.</a:t>
            </a:r>
          </a:p>
        </p:txBody>
      </p:sp>
      <p:sp>
        <p:nvSpPr>
          <p:cNvPr name="Freeform 36" id="36"/>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2"/>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3"/>
              <a:stretch>
                <a:fillRect l="0" t="0" r="-3" b="-3"/>
              </a:stretch>
            </a:blipFill>
          </p:spPr>
        </p:sp>
      </p:grpSp>
      <p:grpSp>
        <p:nvGrpSpPr>
          <p:cNvPr name="Group 6" id="6"/>
          <p:cNvGrpSpPr/>
          <p:nvPr/>
        </p:nvGrpSpPr>
        <p:grpSpPr>
          <a:xfrm rot="0">
            <a:off x="7603836" y="86544"/>
            <a:ext cx="544468" cy="362064"/>
            <a:chOff x="0" y="0"/>
            <a:chExt cx="725957" cy="482752"/>
          </a:xfrm>
        </p:grpSpPr>
        <p:sp>
          <p:nvSpPr>
            <p:cNvPr name="Freeform 7" id="7"/>
            <p:cNvSpPr/>
            <p:nvPr/>
          </p:nvSpPr>
          <p:spPr>
            <a:xfrm flipH="false" flipV="false" rot="0">
              <a:off x="0" y="0"/>
              <a:ext cx="725932" cy="482727"/>
            </a:xfrm>
            <a:custGeom>
              <a:avLst/>
              <a:gdLst/>
              <a:ahLst/>
              <a:cxnLst/>
              <a:rect r="r" b="b" t="t" l="l"/>
              <a:pathLst>
                <a:path h="482727" w="725932">
                  <a:moveTo>
                    <a:pt x="0" y="0"/>
                  </a:moveTo>
                  <a:lnTo>
                    <a:pt x="725932" y="0"/>
                  </a:lnTo>
                  <a:lnTo>
                    <a:pt x="725932" y="482727"/>
                  </a:lnTo>
                  <a:lnTo>
                    <a:pt x="0" y="482727"/>
                  </a:lnTo>
                  <a:lnTo>
                    <a:pt x="0" y="0"/>
                  </a:lnTo>
                  <a:close/>
                </a:path>
              </a:pathLst>
            </a:custGeom>
            <a:solidFill>
              <a:srgbClr val="00C4CC"/>
            </a:solidFill>
          </p:spPr>
        </p:sp>
      </p:grpSp>
      <p:grpSp>
        <p:nvGrpSpPr>
          <p:cNvPr name="Group 8" id="8"/>
          <p:cNvGrpSpPr/>
          <p:nvPr/>
        </p:nvGrpSpPr>
        <p:grpSpPr>
          <a:xfrm rot="0">
            <a:off x="8470944" y="86544"/>
            <a:ext cx="570186" cy="362064"/>
            <a:chOff x="0" y="0"/>
            <a:chExt cx="760247" cy="482752"/>
          </a:xfrm>
        </p:grpSpPr>
        <p:sp>
          <p:nvSpPr>
            <p:cNvPr name="Freeform 9" id="9"/>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4"/>
              <a:stretch>
                <a:fillRect l="0" t="-23" r="-3" b="-28"/>
              </a:stretch>
            </a:blipFill>
          </p:spPr>
        </p:sp>
      </p:grpSp>
      <p:sp>
        <p:nvSpPr>
          <p:cNvPr name="Freeform 10" id="10"/>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2" id="12"/>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Jeju Wish-Band</a:t>
            </a:r>
          </a:p>
        </p:txBody>
      </p:sp>
      <p:sp>
        <p:nvSpPr>
          <p:cNvPr name="TextBox 13" id="13"/>
          <p:cNvSpPr txBox="true"/>
          <p:nvPr/>
        </p:nvSpPr>
        <p:spPr>
          <a:xfrm rot="0">
            <a:off x="657549" y="1685230"/>
            <a:ext cx="8438502" cy="616268"/>
          </a:xfrm>
          <a:prstGeom prst="rect">
            <a:avLst/>
          </a:prstGeom>
        </p:spPr>
        <p:txBody>
          <a:bodyPr anchor="t" rtlCol="false" tIns="0" lIns="0" bIns="0" rIns="0">
            <a:spAutoFit/>
          </a:bodyPr>
          <a:lstStyle/>
          <a:p>
            <a:pPr algn="ctr">
              <a:lnSpc>
                <a:spcPts val="4657"/>
              </a:lnSpc>
            </a:pPr>
            <a:r>
              <a:rPr lang="en-US" sz="4050" b="true">
                <a:solidFill>
                  <a:srgbClr val="F26A1B"/>
                </a:solidFill>
                <a:latin typeface="Arimo Bold"/>
                <a:ea typeface="Arimo Bold"/>
                <a:cs typeface="Arimo Bold"/>
                <a:sym typeface="Arimo Bold"/>
              </a:rPr>
              <a:t>— Feel free to ask anything ! —</a:t>
            </a:r>
          </a:p>
        </p:txBody>
      </p:sp>
      <p:sp>
        <p:nvSpPr>
          <p:cNvPr name="TextBox 14" id="14"/>
          <p:cNvSpPr txBox="true"/>
          <p:nvPr/>
        </p:nvSpPr>
        <p:spPr>
          <a:xfrm rot="0">
            <a:off x="792480" y="5897909"/>
            <a:ext cx="8229600" cy="495300"/>
          </a:xfrm>
          <a:prstGeom prst="rect">
            <a:avLst/>
          </a:prstGeom>
        </p:spPr>
        <p:txBody>
          <a:bodyPr anchor="t" rtlCol="false" tIns="0" lIns="0" bIns="0" rIns="0">
            <a:spAutoFit/>
          </a:bodyPr>
          <a:lstStyle/>
          <a:p>
            <a:pPr algn="ctr">
              <a:lnSpc>
                <a:spcPts val="3600"/>
              </a:lnSpc>
            </a:pPr>
            <a:r>
              <a:rPr lang="en-US" sz="3000" b="true">
                <a:solidFill>
                  <a:srgbClr val="1F8A80"/>
                </a:solidFill>
                <a:latin typeface="Arimo Bold"/>
                <a:ea typeface="Arimo Bold"/>
                <a:cs typeface="Arimo Bold"/>
                <a:sym typeface="Arimo Bold"/>
              </a:rPr>
              <a:t>제주 소원 팔찌</a:t>
            </a:r>
          </a:p>
        </p:txBody>
      </p:sp>
      <p:sp>
        <p:nvSpPr>
          <p:cNvPr name="TextBox 15" id="15"/>
          <p:cNvSpPr txBox="true"/>
          <p:nvPr/>
        </p:nvSpPr>
        <p:spPr>
          <a:xfrm rot="0">
            <a:off x="577396" y="2844422"/>
            <a:ext cx="8568328" cy="2657161"/>
          </a:xfrm>
          <a:prstGeom prst="rect">
            <a:avLst/>
          </a:prstGeom>
        </p:spPr>
        <p:txBody>
          <a:bodyPr anchor="t" rtlCol="false" tIns="0" lIns="0" bIns="0" rIns="0">
            <a:spAutoFit/>
          </a:bodyPr>
          <a:lstStyle/>
          <a:p>
            <a:pPr algn="ctr">
              <a:lnSpc>
                <a:spcPts val="6842"/>
              </a:lnSpc>
            </a:pPr>
            <a:r>
              <a:rPr lang="en-US" sz="5948" b="true">
                <a:solidFill>
                  <a:srgbClr val="0047A0"/>
                </a:solidFill>
                <a:latin typeface="Arimo Bold"/>
                <a:ea typeface="Arimo Bold"/>
                <a:cs typeface="Arimo Bold"/>
                <a:sym typeface="Arimo Bold"/>
              </a:rPr>
              <a:t>Thank You</a:t>
            </a:r>
          </a:p>
          <a:p>
            <a:pPr algn="ctr">
              <a:lnSpc>
                <a:spcPts val="6842"/>
              </a:lnSpc>
            </a:pPr>
            <a:r>
              <a:rPr lang="en-US" sz="5948" b="true">
                <a:solidFill>
                  <a:srgbClr val="0047A0"/>
                </a:solidFill>
                <a:latin typeface="Arimo Bold"/>
                <a:ea typeface="Arimo Bold"/>
                <a:cs typeface="Arimo Bold"/>
                <a:sym typeface="Arimo Bold"/>
              </a:rPr>
              <a:t>for </a:t>
            </a:r>
          </a:p>
          <a:p>
            <a:pPr algn="ctr">
              <a:lnSpc>
                <a:spcPts val="6842"/>
              </a:lnSpc>
            </a:pPr>
            <a:r>
              <a:rPr lang="en-US" sz="5948" b="true">
                <a:solidFill>
                  <a:srgbClr val="0047A0"/>
                </a:solidFill>
                <a:latin typeface="Arimo Bold"/>
                <a:ea typeface="Arimo Bold"/>
                <a:cs typeface="Arimo Bold"/>
                <a:sym typeface="Arimo Bold"/>
              </a:rPr>
              <a:t>Your Kind Attention</a:t>
            </a:r>
          </a:p>
        </p:txBody>
      </p:sp>
      <p:sp>
        <p:nvSpPr>
          <p:cNvPr name="Freeform 16" id="16"/>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7603836" y="86544"/>
            <a:ext cx="544468" cy="362064"/>
            <a:chOff x="0" y="0"/>
            <a:chExt cx="725957" cy="482752"/>
          </a:xfrm>
        </p:grpSpPr>
        <p:sp>
          <p:nvSpPr>
            <p:cNvPr name="Freeform 7" id="7"/>
            <p:cNvSpPr/>
            <p:nvPr/>
          </p:nvSpPr>
          <p:spPr>
            <a:xfrm flipH="false" flipV="false" rot="0">
              <a:off x="0" y="0"/>
              <a:ext cx="725932" cy="482727"/>
            </a:xfrm>
            <a:custGeom>
              <a:avLst/>
              <a:gdLst/>
              <a:ahLst/>
              <a:cxnLst/>
              <a:rect r="r" b="b" t="t" l="l"/>
              <a:pathLst>
                <a:path h="482727" w="725932">
                  <a:moveTo>
                    <a:pt x="0" y="0"/>
                  </a:moveTo>
                  <a:lnTo>
                    <a:pt x="725932" y="0"/>
                  </a:lnTo>
                  <a:lnTo>
                    <a:pt x="725932" y="482727"/>
                  </a:lnTo>
                  <a:lnTo>
                    <a:pt x="0" y="482727"/>
                  </a:lnTo>
                  <a:lnTo>
                    <a:pt x="0" y="0"/>
                  </a:lnTo>
                  <a:close/>
                </a:path>
              </a:pathLst>
            </a:custGeom>
            <a:solidFill>
              <a:srgbClr val="00C4CC"/>
            </a:solidFill>
          </p:spPr>
        </p:sp>
      </p:grpSp>
      <p:grpSp>
        <p:nvGrpSpPr>
          <p:cNvPr name="Group 8" id="8"/>
          <p:cNvGrpSpPr/>
          <p:nvPr/>
        </p:nvGrpSpPr>
        <p:grpSpPr>
          <a:xfrm rot="0">
            <a:off x="8470944" y="86544"/>
            <a:ext cx="570186" cy="362064"/>
            <a:chOff x="0" y="0"/>
            <a:chExt cx="760247" cy="482752"/>
          </a:xfrm>
        </p:grpSpPr>
        <p:sp>
          <p:nvSpPr>
            <p:cNvPr name="Freeform 9" id="9"/>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10" id="10"/>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2" id="12"/>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How It Works</a:t>
            </a:r>
          </a:p>
        </p:txBody>
      </p:sp>
      <p:grpSp>
        <p:nvGrpSpPr>
          <p:cNvPr name="Group 13" id="13"/>
          <p:cNvGrpSpPr/>
          <p:nvPr/>
        </p:nvGrpSpPr>
        <p:grpSpPr>
          <a:xfrm rot="0">
            <a:off x="685800" y="2377440"/>
            <a:ext cx="2011680" cy="2103120"/>
            <a:chOff x="0" y="0"/>
            <a:chExt cx="2682240" cy="2804160"/>
          </a:xfrm>
        </p:grpSpPr>
        <p:sp>
          <p:nvSpPr>
            <p:cNvPr name="Freeform 14" id="14"/>
            <p:cNvSpPr/>
            <p:nvPr/>
          </p:nvSpPr>
          <p:spPr>
            <a:xfrm flipH="false" flipV="false" rot="0">
              <a:off x="0" y="0"/>
              <a:ext cx="2682240" cy="2804160"/>
            </a:xfrm>
            <a:custGeom>
              <a:avLst/>
              <a:gdLst/>
              <a:ahLst/>
              <a:cxnLst/>
              <a:rect r="r" b="b" t="t" l="l"/>
              <a:pathLst>
                <a:path h="2804160" w="2682240">
                  <a:moveTo>
                    <a:pt x="0" y="321818"/>
                  </a:moveTo>
                  <a:cubicBezTo>
                    <a:pt x="0" y="144145"/>
                    <a:pt x="144145" y="0"/>
                    <a:pt x="321818" y="0"/>
                  </a:cubicBezTo>
                  <a:lnTo>
                    <a:pt x="2360422" y="0"/>
                  </a:lnTo>
                  <a:cubicBezTo>
                    <a:pt x="2538222" y="0"/>
                    <a:pt x="2682240" y="144145"/>
                    <a:pt x="2682240" y="321818"/>
                  </a:cubicBezTo>
                  <a:lnTo>
                    <a:pt x="2682240" y="2482342"/>
                  </a:lnTo>
                  <a:cubicBezTo>
                    <a:pt x="2682240" y="2660142"/>
                    <a:pt x="2538095" y="2804160"/>
                    <a:pt x="2360422" y="2804160"/>
                  </a:cubicBezTo>
                  <a:lnTo>
                    <a:pt x="321818" y="2804160"/>
                  </a:lnTo>
                  <a:cubicBezTo>
                    <a:pt x="144145" y="2804160"/>
                    <a:pt x="0" y="2660015"/>
                    <a:pt x="0" y="2482342"/>
                  </a:cubicBezTo>
                  <a:close/>
                </a:path>
              </a:pathLst>
            </a:custGeom>
            <a:solidFill>
              <a:srgbClr val="FDE2CF"/>
            </a:solidFill>
          </p:spPr>
        </p:sp>
      </p:grpSp>
      <p:sp>
        <p:nvSpPr>
          <p:cNvPr name="TextBox 15" id="15"/>
          <p:cNvSpPr txBox="true"/>
          <p:nvPr/>
        </p:nvSpPr>
        <p:spPr>
          <a:xfrm rot="0">
            <a:off x="822960" y="2541270"/>
            <a:ext cx="1737360" cy="4762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Wish-band</a:t>
            </a:r>
          </a:p>
        </p:txBody>
      </p:sp>
      <p:sp>
        <p:nvSpPr>
          <p:cNvPr name="TextBox 16" id="16"/>
          <p:cNvSpPr txBox="true"/>
          <p:nvPr/>
        </p:nvSpPr>
        <p:spPr>
          <a:xfrm rot="0">
            <a:off x="822960" y="3089910"/>
            <a:ext cx="1737360" cy="1299210"/>
          </a:xfrm>
          <a:prstGeom prst="rect">
            <a:avLst/>
          </a:prstGeom>
        </p:spPr>
        <p:txBody>
          <a:bodyPr anchor="t" rtlCol="false" tIns="0" lIns="0" bIns="0" rIns="0">
            <a:spAutoFit/>
          </a:bodyPr>
          <a:lstStyle/>
          <a:p>
            <a:pPr algn="ctr">
              <a:lnSpc>
                <a:spcPts val="1680"/>
              </a:lnSpc>
            </a:pPr>
            <a:r>
              <a:rPr lang="en-US" sz="1400">
                <a:solidFill>
                  <a:srgbClr val="1F2A44"/>
                </a:solidFill>
                <a:latin typeface="Arimo"/>
                <a:ea typeface="Arimo"/>
                <a:cs typeface="Arimo"/>
                <a:sym typeface="Arimo"/>
              </a:rPr>
              <a:t>NFC tag in volcanic-stone beads. No battery.</a:t>
            </a:r>
          </a:p>
        </p:txBody>
      </p:sp>
      <p:grpSp>
        <p:nvGrpSpPr>
          <p:cNvPr name="Group 17" id="17"/>
          <p:cNvGrpSpPr/>
          <p:nvPr/>
        </p:nvGrpSpPr>
        <p:grpSpPr>
          <a:xfrm rot="0">
            <a:off x="2715768" y="3246120"/>
            <a:ext cx="274320" cy="365760"/>
            <a:chOff x="0" y="0"/>
            <a:chExt cx="365760" cy="487680"/>
          </a:xfrm>
        </p:grpSpPr>
        <p:sp>
          <p:nvSpPr>
            <p:cNvPr name="Freeform 18" id="18"/>
            <p:cNvSpPr/>
            <p:nvPr/>
          </p:nvSpPr>
          <p:spPr>
            <a:xfrm flipH="false" flipV="false" rot="0">
              <a:off x="0" y="0"/>
              <a:ext cx="365760" cy="487680"/>
            </a:xfrm>
            <a:custGeom>
              <a:avLst/>
              <a:gdLst/>
              <a:ahLst/>
              <a:cxnLst/>
              <a:rect r="r" b="b" t="t" l="l"/>
              <a:pathLst>
                <a:path h="487680" w="365760">
                  <a:moveTo>
                    <a:pt x="0" y="121920"/>
                  </a:moveTo>
                  <a:lnTo>
                    <a:pt x="182880" y="121920"/>
                  </a:lnTo>
                  <a:lnTo>
                    <a:pt x="182880" y="0"/>
                  </a:lnTo>
                  <a:lnTo>
                    <a:pt x="365760" y="243840"/>
                  </a:lnTo>
                  <a:lnTo>
                    <a:pt x="182880" y="487680"/>
                  </a:lnTo>
                  <a:lnTo>
                    <a:pt x="182880" y="365760"/>
                  </a:lnTo>
                  <a:lnTo>
                    <a:pt x="0" y="365760"/>
                  </a:lnTo>
                  <a:close/>
                </a:path>
              </a:pathLst>
            </a:custGeom>
            <a:solidFill>
              <a:srgbClr val="0D1B4C"/>
            </a:solidFill>
          </p:spPr>
        </p:sp>
      </p:grpSp>
      <p:grpSp>
        <p:nvGrpSpPr>
          <p:cNvPr name="Group 19" id="19"/>
          <p:cNvGrpSpPr/>
          <p:nvPr/>
        </p:nvGrpSpPr>
        <p:grpSpPr>
          <a:xfrm rot="0">
            <a:off x="3017520" y="2377440"/>
            <a:ext cx="2011680" cy="2103120"/>
            <a:chOff x="0" y="0"/>
            <a:chExt cx="2682240" cy="2804160"/>
          </a:xfrm>
        </p:grpSpPr>
        <p:sp>
          <p:nvSpPr>
            <p:cNvPr name="Freeform 20" id="20"/>
            <p:cNvSpPr/>
            <p:nvPr/>
          </p:nvSpPr>
          <p:spPr>
            <a:xfrm flipH="false" flipV="false" rot="0">
              <a:off x="0" y="0"/>
              <a:ext cx="2682240" cy="2804160"/>
            </a:xfrm>
            <a:custGeom>
              <a:avLst/>
              <a:gdLst/>
              <a:ahLst/>
              <a:cxnLst/>
              <a:rect r="r" b="b" t="t" l="l"/>
              <a:pathLst>
                <a:path h="2804160" w="2682240">
                  <a:moveTo>
                    <a:pt x="0" y="321818"/>
                  </a:moveTo>
                  <a:cubicBezTo>
                    <a:pt x="0" y="144145"/>
                    <a:pt x="144145" y="0"/>
                    <a:pt x="321818" y="0"/>
                  </a:cubicBezTo>
                  <a:lnTo>
                    <a:pt x="2360422" y="0"/>
                  </a:lnTo>
                  <a:cubicBezTo>
                    <a:pt x="2538222" y="0"/>
                    <a:pt x="2682240" y="144145"/>
                    <a:pt x="2682240" y="321818"/>
                  </a:cubicBezTo>
                  <a:lnTo>
                    <a:pt x="2682240" y="2482342"/>
                  </a:lnTo>
                  <a:cubicBezTo>
                    <a:pt x="2682240" y="2660142"/>
                    <a:pt x="2538095" y="2804160"/>
                    <a:pt x="2360422" y="2804160"/>
                  </a:cubicBezTo>
                  <a:lnTo>
                    <a:pt x="321818" y="2804160"/>
                  </a:lnTo>
                  <a:cubicBezTo>
                    <a:pt x="144145" y="2804160"/>
                    <a:pt x="0" y="2660015"/>
                    <a:pt x="0" y="2482342"/>
                  </a:cubicBezTo>
                  <a:close/>
                </a:path>
              </a:pathLst>
            </a:custGeom>
            <a:solidFill>
              <a:srgbClr val="D3EFEC"/>
            </a:solidFill>
          </p:spPr>
        </p:sp>
      </p:grpSp>
      <p:sp>
        <p:nvSpPr>
          <p:cNvPr name="TextBox 21" id="21"/>
          <p:cNvSpPr txBox="true"/>
          <p:nvPr/>
        </p:nvSpPr>
        <p:spPr>
          <a:xfrm rot="0">
            <a:off x="3154680" y="2541270"/>
            <a:ext cx="1737360" cy="4762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Check-in stations</a:t>
            </a:r>
          </a:p>
        </p:txBody>
      </p:sp>
      <p:sp>
        <p:nvSpPr>
          <p:cNvPr name="TextBox 22" id="22"/>
          <p:cNvSpPr txBox="true"/>
          <p:nvPr/>
        </p:nvSpPr>
        <p:spPr>
          <a:xfrm rot="0">
            <a:off x="3154680" y="3089910"/>
            <a:ext cx="1737360" cy="1299210"/>
          </a:xfrm>
          <a:prstGeom prst="rect">
            <a:avLst/>
          </a:prstGeom>
        </p:spPr>
        <p:txBody>
          <a:bodyPr anchor="t" rtlCol="false" tIns="0" lIns="0" bIns="0" rIns="0">
            <a:spAutoFit/>
          </a:bodyPr>
          <a:lstStyle/>
          <a:p>
            <a:pPr algn="ctr">
              <a:lnSpc>
                <a:spcPts val="1680"/>
              </a:lnSpc>
            </a:pPr>
            <a:r>
              <a:rPr lang="en-US" sz="1400">
                <a:solidFill>
                  <a:srgbClr val="1F2A44"/>
                </a:solidFill>
                <a:latin typeface="Arimo"/>
                <a:ea typeface="Arimo"/>
                <a:cs typeface="Arimo"/>
                <a:sym typeface="Arimo"/>
              </a:rPr>
              <a:t>ESP32 + NFC reader, beeps on every tap</a:t>
            </a:r>
          </a:p>
        </p:txBody>
      </p:sp>
      <p:grpSp>
        <p:nvGrpSpPr>
          <p:cNvPr name="Group 23" id="23"/>
          <p:cNvGrpSpPr/>
          <p:nvPr/>
        </p:nvGrpSpPr>
        <p:grpSpPr>
          <a:xfrm rot="0">
            <a:off x="5047488" y="3246120"/>
            <a:ext cx="274320" cy="365760"/>
            <a:chOff x="0" y="0"/>
            <a:chExt cx="365760" cy="487680"/>
          </a:xfrm>
        </p:grpSpPr>
        <p:sp>
          <p:nvSpPr>
            <p:cNvPr name="Freeform 24" id="24"/>
            <p:cNvSpPr/>
            <p:nvPr/>
          </p:nvSpPr>
          <p:spPr>
            <a:xfrm flipH="false" flipV="false" rot="0">
              <a:off x="0" y="0"/>
              <a:ext cx="365760" cy="487680"/>
            </a:xfrm>
            <a:custGeom>
              <a:avLst/>
              <a:gdLst/>
              <a:ahLst/>
              <a:cxnLst/>
              <a:rect r="r" b="b" t="t" l="l"/>
              <a:pathLst>
                <a:path h="487680" w="365760">
                  <a:moveTo>
                    <a:pt x="0" y="121920"/>
                  </a:moveTo>
                  <a:lnTo>
                    <a:pt x="182880" y="121920"/>
                  </a:lnTo>
                  <a:lnTo>
                    <a:pt x="182880" y="0"/>
                  </a:lnTo>
                  <a:lnTo>
                    <a:pt x="365760" y="243840"/>
                  </a:lnTo>
                  <a:lnTo>
                    <a:pt x="182880" y="487680"/>
                  </a:lnTo>
                  <a:lnTo>
                    <a:pt x="182880" y="365760"/>
                  </a:lnTo>
                  <a:lnTo>
                    <a:pt x="0" y="365760"/>
                  </a:lnTo>
                  <a:close/>
                </a:path>
              </a:pathLst>
            </a:custGeom>
            <a:solidFill>
              <a:srgbClr val="0D1B4C"/>
            </a:solidFill>
          </p:spPr>
        </p:sp>
      </p:grpSp>
      <p:grpSp>
        <p:nvGrpSpPr>
          <p:cNvPr name="Group 25" id="25"/>
          <p:cNvGrpSpPr/>
          <p:nvPr/>
        </p:nvGrpSpPr>
        <p:grpSpPr>
          <a:xfrm rot="0">
            <a:off x="5349240" y="2377440"/>
            <a:ext cx="2011680" cy="2103120"/>
            <a:chOff x="0" y="0"/>
            <a:chExt cx="2682240" cy="2804160"/>
          </a:xfrm>
        </p:grpSpPr>
        <p:sp>
          <p:nvSpPr>
            <p:cNvPr name="Freeform 26" id="26"/>
            <p:cNvSpPr/>
            <p:nvPr/>
          </p:nvSpPr>
          <p:spPr>
            <a:xfrm flipH="false" flipV="false" rot="0">
              <a:off x="0" y="0"/>
              <a:ext cx="2682240" cy="2804160"/>
            </a:xfrm>
            <a:custGeom>
              <a:avLst/>
              <a:gdLst/>
              <a:ahLst/>
              <a:cxnLst/>
              <a:rect r="r" b="b" t="t" l="l"/>
              <a:pathLst>
                <a:path h="2804160" w="2682240">
                  <a:moveTo>
                    <a:pt x="0" y="321818"/>
                  </a:moveTo>
                  <a:cubicBezTo>
                    <a:pt x="0" y="144145"/>
                    <a:pt x="144145" y="0"/>
                    <a:pt x="321818" y="0"/>
                  </a:cubicBezTo>
                  <a:lnTo>
                    <a:pt x="2360422" y="0"/>
                  </a:lnTo>
                  <a:cubicBezTo>
                    <a:pt x="2538222" y="0"/>
                    <a:pt x="2682240" y="144145"/>
                    <a:pt x="2682240" y="321818"/>
                  </a:cubicBezTo>
                  <a:lnTo>
                    <a:pt x="2682240" y="2482342"/>
                  </a:lnTo>
                  <a:cubicBezTo>
                    <a:pt x="2682240" y="2660142"/>
                    <a:pt x="2538095" y="2804160"/>
                    <a:pt x="2360422" y="2804160"/>
                  </a:cubicBezTo>
                  <a:lnTo>
                    <a:pt x="321818" y="2804160"/>
                  </a:lnTo>
                  <a:cubicBezTo>
                    <a:pt x="144145" y="2804160"/>
                    <a:pt x="0" y="2660015"/>
                    <a:pt x="0" y="2482342"/>
                  </a:cubicBezTo>
                  <a:close/>
                </a:path>
              </a:pathLst>
            </a:custGeom>
            <a:solidFill>
              <a:srgbClr val="FBE9A6"/>
            </a:solidFill>
          </p:spPr>
        </p:sp>
      </p:grpSp>
      <p:sp>
        <p:nvSpPr>
          <p:cNvPr name="TextBox 27" id="27"/>
          <p:cNvSpPr txBox="true"/>
          <p:nvPr/>
        </p:nvSpPr>
        <p:spPr>
          <a:xfrm rot="0">
            <a:off x="5486400" y="2541270"/>
            <a:ext cx="1737360" cy="4762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Cloud server</a:t>
            </a:r>
          </a:p>
        </p:txBody>
      </p:sp>
      <p:sp>
        <p:nvSpPr>
          <p:cNvPr name="TextBox 28" id="28"/>
          <p:cNvSpPr txBox="true"/>
          <p:nvPr/>
        </p:nvSpPr>
        <p:spPr>
          <a:xfrm rot="0">
            <a:off x="5486400" y="3023235"/>
            <a:ext cx="1737360" cy="1066800"/>
          </a:xfrm>
          <a:prstGeom prst="rect">
            <a:avLst/>
          </a:prstGeom>
        </p:spPr>
        <p:txBody>
          <a:bodyPr anchor="t" rtlCol="false" tIns="0" lIns="0" bIns="0" rIns="0">
            <a:spAutoFit/>
          </a:bodyPr>
          <a:lstStyle/>
          <a:p>
            <a:pPr algn="ctr">
              <a:lnSpc>
                <a:spcPts val="1680"/>
              </a:lnSpc>
            </a:pPr>
            <a:r>
              <a:rPr lang="en-US" sz="1400">
                <a:solidFill>
                  <a:srgbClr val="1F2A44"/>
                </a:solidFill>
                <a:latin typeface="Arimo"/>
                <a:ea typeface="Arimo"/>
                <a:cs typeface="Arimo"/>
                <a:sym typeface="Arimo"/>
              </a:rPr>
              <a:t>AI picks from weather + your interests + crowd level</a:t>
            </a:r>
            <a:r>
              <a:rPr lang="en-US" sz="1400">
                <a:solidFill>
                  <a:srgbClr val="1F2A44"/>
                </a:solidFill>
                <a:latin typeface="Arimo"/>
                <a:ea typeface="Arimo"/>
                <a:cs typeface="Arimo"/>
                <a:sym typeface="Arimo"/>
              </a:rPr>
              <a:t>, stamps, SOS, live weather, database</a:t>
            </a:r>
          </a:p>
        </p:txBody>
      </p:sp>
      <p:grpSp>
        <p:nvGrpSpPr>
          <p:cNvPr name="Group 29" id="29"/>
          <p:cNvGrpSpPr/>
          <p:nvPr/>
        </p:nvGrpSpPr>
        <p:grpSpPr>
          <a:xfrm rot="0">
            <a:off x="7379208" y="3246120"/>
            <a:ext cx="274320" cy="365760"/>
            <a:chOff x="0" y="0"/>
            <a:chExt cx="365760" cy="487680"/>
          </a:xfrm>
        </p:grpSpPr>
        <p:sp>
          <p:nvSpPr>
            <p:cNvPr name="Freeform 30" id="30"/>
            <p:cNvSpPr/>
            <p:nvPr/>
          </p:nvSpPr>
          <p:spPr>
            <a:xfrm flipH="false" flipV="false" rot="0">
              <a:off x="0" y="0"/>
              <a:ext cx="365760" cy="487680"/>
            </a:xfrm>
            <a:custGeom>
              <a:avLst/>
              <a:gdLst/>
              <a:ahLst/>
              <a:cxnLst/>
              <a:rect r="r" b="b" t="t" l="l"/>
              <a:pathLst>
                <a:path h="487680" w="365760">
                  <a:moveTo>
                    <a:pt x="0" y="121920"/>
                  </a:moveTo>
                  <a:lnTo>
                    <a:pt x="182880" y="121920"/>
                  </a:lnTo>
                  <a:lnTo>
                    <a:pt x="182880" y="0"/>
                  </a:lnTo>
                  <a:lnTo>
                    <a:pt x="365760" y="243840"/>
                  </a:lnTo>
                  <a:lnTo>
                    <a:pt x="182880" y="487680"/>
                  </a:lnTo>
                  <a:lnTo>
                    <a:pt x="182880" y="365760"/>
                  </a:lnTo>
                  <a:lnTo>
                    <a:pt x="0" y="365760"/>
                  </a:lnTo>
                  <a:close/>
                </a:path>
              </a:pathLst>
            </a:custGeom>
            <a:solidFill>
              <a:srgbClr val="0D1B4C"/>
            </a:solidFill>
          </p:spPr>
        </p:sp>
      </p:grpSp>
      <p:grpSp>
        <p:nvGrpSpPr>
          <p:cNvPr name="Group 31" id="31"/>
          <p:cNvGrpSpPr/>
          <p:nvPr/>
        </p:nvGrpSpPr>
        <p:grpSpPr>
          <a:xfrm rot="0">
            <a:off x="7680960" y="1600200"/>
            <a:ext cx="1371600" cy="1965960"/>
            <a:chOff x="0" y="0"/>
            <a:chExt cx="1828800" cy="2621280"/>
          </a:xfrm>
        </p:grpSpPr>
        <p:sp>
          <p:nvSpPr>
            <p:cNvPr name="Freeform 32" id="32"/>
            <p:cNvSpPr/>
            <p:nvPr/>
          </p:nvSpPr>
          <p:spPr>
            <a:xfrm flipH="false" flipV="false" rot="0">
              <a:off x="0" y="0"/>
              <a:ext cx="1828800" cy="2621280"/>
            </a:xfrm>
            <a:custGeom>
              <a:avLst/>
              <a:gdLst/>
              <a:ahLst/>
              <a:cxnLst/>
              <a:rect r="r" b="b" t="t" l="l"/>
              <a:pathLst>
                <a:path h="2621280" w="1828800">
                  <a:moveTo>
                    <a:pt x="0" y="219456"/>
                  </a:moveTo>
                  <a:cubicBezTo>
                    <a:pt x="0" y="98298"/>
                    <a:pt x="98298" y="0"/>
                    <a:pt x="219456" y="0"/>
                  </a:cubicBezTo>
                  <a:lnTo>
                    <a:pt x="1609344" y="0"/>
                  </a:lnTo>
                  <a:cubicBezTo>
                    <a:pt x="1730502" y="0"/>
                    <a:pt x="1828800" y="98298"/>
                    <a:pt x="1828800" y="219456"/>
                  </a:cubicBezTo>
                  <a:lnTo>
                    <a:pt x="1828800" y="2401824"/>
                  </a:lnTo>
                  <a:cubicBezTo>
                    <a:pt x="1828800" y="2522982"/>
                    <a:pt x="1730502" y="2621280"/>
                    <a:pt x="1609344" y="2621280"/>
                  </a:cubicBezTo>
                  <a:lnTo>
                    <a:pt x="219456" y="2621280"/>
                  </a:lnTo>
                  <a:cubicBezTo>
                    <a:pt x="98298" y="2621280"/>
                    <a:pt x="0" y="2522982"/>
                    <a:pt x="0" y="2401824"/>
                  </a:cubicBezTo>
                  <a:close/>
                </a:path>
              </a:pathLst>
            </a:custGeom>
            <a:solidFill>
              <a:srgbClr val="D9EAD6"/>
            </a:solidFill>
          </p:spPr>
        </p:sp>
      </p:grpSp>
      <p:sp>
        <p:nvSpPr>
          <p:cNvPr name="TextBox 33" id="33"/>
          <p:cNvSpPr txBox="true"/>
          <p:nvPr/>
        </p:nvSpPr>
        <p:spPr>
          <a:xfrm rot="0">
            <a:off x="7754112" y="1718310"/>
            <a:ext cx="1225296" cy="476250"/>
          </a:xfrm>
          <a:prstGeom prst="rect">
            <a:avLst/>
          </a:prstGeom>
        </p:spPr>
        <p:txBody>
          <a:bodyPr anchor="t" rtlCol="false" tIns="0" lIns="0" bIns="0" rIns="0">
            <a:spAutoFit/>
          </a:bodyPr>
          <a:lstStyle/>
          <a:p>
            <a:pPr algn="ctr">
              <a:lnSpc>
                <a:spcPts val="1919"/>
              </a:lnSpc>
            </a:pPr>
            <a:r>
              <a:rPr lang="en-US" sz="1599" b="true">
                <a:solidFill>
                  <a:srgbClr val="0D1B4C"/>
                </a:solidFill>
                <a:latin typeface="Arimo Bold"/>
                <a:ea typeface="Arimo Bold"/>
                <a:cs typeface="Arimo Bold"/>
                <a:sym typeface="Arimo Bold"/>
              </a:rPr>
              <a:t>Phone app</a:t>
            </a:r>
          </a:p>
        </p:txBody>
      </p:sp>
      <p:sp>
        <p:nvSpPr>
          <p:cNvPr name="TextBox 34" id="34"/>
          <p:cNvSpPr txBox="true"/>
          <p:nvPr/>
        </p:nvSpPr>
        <p:spPr>
          <a:xfrm rot="0">
            <a:off x="7754112" y="2221230"/>
            <a:ext cx="1225296" cy="1253490"/>
          </a:xfrm>
          <a:prstGeom prst="rect">
            <a:avLst/>
          </a:prstGeom>
        </p:spPr>
        <p:txBody>
          <a:bodyPr anchor="t" rtlCol="false" tIns="0" lIns="0" bIns="0" rIns="0">
            <a:spAutoFit/>
          </a:bodyPr>
          <a:lstStyle/>
          <a:p>
            <a:pPr algn="ctr">
              <a:lnSpc>
                <a:spcPts val="1559"/>
              </a:lnSpc>
            </a:pPr>
            <a:r>
              <a:rPr lang="en-US" sz="1299">
                <a:solidFill>
                  <a:srgbClr val="1F2A44"/>
                </a:solidFill>
                <a:latin typeface="Arimo"/>
                <a:ea typeface="Arimo"/>
                <a:cs typeface="Arimo"/>
                <a:sym typeface="Arimo"/>
              </a:rPr>
              <a:t>For You, Stamps, SOS, Helping Map</a:t>
            </a:r>
          </a:p>
        </p:txBody>
      </p:sp>
      <p:grpSp>
        <p:nvGrpSpPr>
          <p:cNvPr name="Group 35" id="35"/>
          <p:cNvGrpSpPr/>
          <p:nvPr/>
        </p:nvGrpSpPr>
        <p:grpSpPr>
          <a:xfrm rot="0">
            <a:off x="7680960" y="4069080"/>
            <a:ext cx="1371600" cy="1965960"/>
            <a:chOff x="0" y="0"/>
            <a:chExt cx="1828800" cy="2621280"/>
          </a:xfrm>
        </p:grpSpPr>
        <p:sp>
          <p:nvSpPr>
            <p:cNvPr name="Freeform 36" id="36"/>
            <p:cNvSpPr/>
            <p:nvPr/>
          </p:nvSpPr>
          <p:spPr>
            <a:xfrm flipH="false" flipV="false" rot="0">
              <a:off x="0" y="0"/>
              <a:ext cx="1828800" cy="2621280"/>
            </a:xfrm>
            <a:custGeom>
              <a:avLst/>
              <a:gdLst/>
              <a:ahLst/>
              <a:cxnLst/>
              <a:rect r="r" b="b" t="t" l="l"/>
              <a:pathLst>
                <a:path h="2621280" w="1828800">
                  <a:moveTo>
                    <a:pt x="0" y="219456"/>
                  </a:moveTo>
                  <a:cubicBezTo>
                    <a:pt x="0" y="98298"/>
                    <a:pt x="98298" y="0"/>
                    <a:pt x="219456" y="0"/>
                  </a:cubicBezTo>
                  <a:lnTo>
                    <a:pt x="1609344" y="0"/>
                  </a:lnTo>
                  <a:cubicBezTo>
                    <a:pt x="1730502" y="0"/>
                    <a:pt x="1828800" y="98298"/>
                    <a:pt x="1828800" y="219456"/>
                  </a:cubicBezTo>
                  <a:lnTo>
                    <a:pt x="1828800" y="2401824"/>
                  </a:lnTo>
                  <a:cubicBezTo>
                    <a:pt x="1828800" y="2522982"/>
                    <a:pt x="1730502" y="2621280"/>
                    <a:pt x="1609344" y="2621280"/>
                  </a:cubicBezTo>
                  <a:lnTo>
                    <a:pt x="219456" y="2621280"/>
                  </a:lnTo>
                  <a:cubicBezTo>
                    <a:pt x="98298" y="2621280"/>
                    <a:pt x="0" y="2522982"/>
                    <a:pt x="0" y="2401824"/>
                  </a:cubicBezTo>
                  <a:close/>
                </a:path>
              </a:pathLst>
            </a:custGeom>
            <a:solidFill>
              <a:srgbClr val="D9EAD6"/>
            </a:solidFill>
          </p:spPr>
        </p:sp>
      </p:grpSp>
      <p:sp>
        <p:nvSpPr>
          <p:cNvPr name="TextBox 37" id="37"/>
          <p:cNvSpPr txBox="true"/>
          <p:nvPr/>
        </p:nvSpPr>
        <p:spPr>
          <a:xfrm rot="0">
            <a:off x="7754112" y="4187190"/>
            <a:ext cx="1225296" cy="476250"/>
          </a:xfrm>
          <a:prstGeom prst="rect">
            <a:avLst/>
          </a:prstGeom>
        </p:spPr>
        <p:txBody>
          <a:bodyPr anchor="t" rtlCol="false" tIns="0" lIns="0" bIns="0" rIns="0">
            <a:spAutoFit/>
          </a:bodyPr>
          <a:lstStyle/>
          <a:p>
            <a:pPr algn="ctr">
              <a:lnSpc>
                <a:spcPts val="1919"/>
              </a:lnSpc>
            </a:pPr>
            <a:r>
              <a:rPr lang="en-US" sz="1599" b="true">
                <a:solidFill>
                  <a:srgbClr val="0D1B4C"/>
                </a:solidFill>
                <a:latin typeface="Arimo Bold"/>
                <a:ea typeface="Arimo Bold"/>
                <a:cs typeface="Arimo Bold"/>
                <a:sym typeface="Arimo Bold"/>
              </a:rPr>
              <a:t>Help desk</a:t>
            </a:r>
          </a:p>
        </p:txBody>
      </p:sp>
      <p:sp>
        <p:nvSpPr>
          <p:cNvPr name="TextBox 38" id="38"/>
          <p:cNvSpPr txBox="true"/>
          <p:nvPr/>
        </p:nvSpPr>
        <p:spPr>
          <a:xfrm rot="0">
            <a:off x="7754112" y="4690110"/>
            <a:ext cx="1225296" cy="1253490"/>
          </a:xfrm>
          <a:prstGeom prst="rect">
            <a:avLst/>
          </a:prstGeom>
        </p:spPr>
        <p:txBody>
          <a:bodyPr anchor="t" rtlCol="false" tIns="0" lIns="0" bIns="0" rIns="0">
            <a:spAutoFit/>
          </a:bodyPr>
          <a:lstStyle/>
          <a:p>
            <a:pPr algn="ctr">
              <a:lnSpc>
                <a:spcPts val="1559"/>
              </a:lnSpc>
            </a:pPr>
            <a:r>
              <a:rPr lang="en-US" sz="1299">
                <a:solidFill>
                  <a:srgbClr val="1F2A44"/>
                </a:solidFill>
                <a:latin typeface="Arimo"/>
                <a:ea typeface="Arimo"/>
                <a:cs typeface="Arimo"/>
                <a:sym typeface="Arimo"/>
              </a:rPr>
              <a:t>SOS queue, station status, check-ins</a:t>
            </a:r>
          </a:p>
        </p:txBody>
      </p:sp>
      <p:sp>
        <p:nvSpPr>
          <p:cNvPr name="TextBox 39" id="39"/>
          <p:cNvSpPr txBox="true"/>
          <p:nvPr/>
        </p:nvSpPr>
        <p:spPr>
          <a:xfrm rot="0">
            <a:off x="685800" y="1398270"/>
            <a:ext cx="6675120" cy="842010"/>
          </a:xfrm>
          <a:prstGeom prst="rect">
            <a:avLst/>
          </a:prstGeom>
        </p:spPr>
        <p:txBody>
          <a:bodyPr anchor="t" rtlCol="false" tIns="0" lIns="0" bIns="0" rIns="0">
            <a:spAutoFit/>
          </a:bodyPr>
          <a:lstStyle/>
          <a:p>
            <a:pPr algn="l">
              <a:lnSpc>
                <a:spcPts val="1919"/>
              </a:lnSpc>
            </a:pPr>
            <a:r>
              <a:rPr lang="en-US" sz="1599" b="true">
                <a:solidFill>
                  <a:srgbClr val="1F8A80"/>
                </a:solidFill>
                <a:latin typeface="Arimo Bold"/>
                <a:ea typeface="Arimo Bold"/>
                <a:cs typeface="Arimo Bold"/>
                <a:sym typeface="Arimo Bold"/>
              </a:rPr>
              <a:t>Tap the band on a phone to open your app. Tap it on a station to check in.</a:t>
            </a:r>
          </a:p>
        </p:txBody>
      </p:sp>
      <p:sp>
        <p:nvSpPr>
          <p:cNvPr name="TextBox 40" id="40"/>
          <p:cNvSpPr txBox="true"/>
          <p:nvPr/>
        </p:nvSpPr>
        <p:spPr>
          <a:xfrm rot="0">
            <a:off x="685800" y="4827270"/>
            <a:ext cx="6675120" cy="1390650"/>
          </a:xfrm>
          <a:prstGeom prst="rect">
            <a:avLst/>
          </a:prstGeom>
        </p:spPr>
        <p:txBody>
          <a:bodyPr anchor="t" rtlCol="false" tIns="0" lIns="0" bIns="0" rIns="0">
            <a:spAutoFit/>
          </a:bodyPr>
          <a:lstStyle/>
          <a:p>
            <a:pPr algn="l">
              <a:lnSpc>
                <a:spcPts val="1800"/>
              </a:lnSpc>
            </a:pPr>
            <a:r>
              <a:rPr lang="en-US" sz="1500">
                <a:solidFill>
                  <a:srgbClr val="1F2A44"/>
                </a:solidFill>
                <a:latin typeface="Arimo"/>
                <a:ea typeface="Arimo"/>
                <a:cs typeface="Arimo"/>
                <a:sym typeface="Arimo"/>
              </a:rPr>
              <a:t>Works in 11 languages. If Wi-Fi drops, stations queue taps and send them later.</a:t>
            </a:r>
          </a:p>
          <a:p>
            <a:pPr algn="l">
              <a:lnSpc>
                <a:spcPts val="1800"/>
              </a:lnSpc>
            </a:pPr>
            <a:r>
              <a:rPr lang="en-US" sz="1500">
                <a:solidFill>
                  <a:srgbClr val="1F2A44"/>
                </a:solidFill>
                <a:latin typeface="Arimo"/>
                <a:ea typeface="Arimo"/>
                <a:cs typeface="Arimo"/>
                <a:sym typeface="Arimo"/>
              </a:rPr>
              <a:t>Your last tap location is kept, so the help desk can find you after an SOS.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7603836" y="86544"/>
            <a:ext cx="544468" cy="362064"/>
            <a:chOff x="0" y="0"/>
            <a:chExt cx="725957" cy="482752"/>
          </a:xfrm>
        </p:grpSpPr>
        <p:sp>
          <p:nvSpPr>
            <p:cNvPr name="Freeform 7" id="7"/>
            <p:cNvSpPr/>
            <p:nvPr/>
          </p:nvSpPr>
          <p:spPr>
            <a:xfrm flipH="false" flipV="false" rot="0">
              <a:off x="0" y="0"/>
              <a:ext cx="725932" cy="482727"/>
            </a:xfrm>
            <a:custGeom>
              <a:avLst/>
              <a:gdLst/>
              <a:ahLst/>
              <a:cxnLst/>
              <a:rect r="r" b="b" t="t" l="l"/>
              <a:pathLst>
                <a:path h="482727" w="725932">
                  <a:moveTo>
                    <a:pt x="0" y="0"/>
                  </a:moveTo>
                  <a:lnTo>
                    <a:pt x="725932" y="0"/>
                  </a:lnTo>
                  <a:lnTo>
                    <a:pt x="725932" y="482727"/>
                  </a:lnTo>
                  <a:lnTo>
                    <a:pt x="0" y="482727"/>
                  </a:lnTo>
                  <a:lnTo>
                    <a:pt x="0" y="0"/>
                  </a:lnTo>
                  <a:close/>
                </a:path>
              </a:pathLst>
            </a:custGeom>
            <a:solidFill>
              <a:srgbClr val="00C4CC"/>
            </a:solidFill>
          </p:spPr>
        </p:sp>
      </p:grpSp>
      <p:grpSp>
        <p:nvGrpSpPr>
          <p:cNvPr name="Group 8" id="8"/>
          <p:cNvGrpSpPr/>
          <p:nvPr/>
        </p:nvGrpSpPr>
        <p:grpSpPr>
          <a:xfrm rot="0">
            <a:off x="8470944" y="86544"/>
            <a:ext cx="570186" cy="362064"/>
            <a:chOff x="0" y="0"/>
            <a:chExt cx="760247" cy="482752"/>
          </a:xfrm>
        </p:grpSpPr>
        <p:sp>
          <p:nvSpPr>
            <p:cNvPr name="Freeform 9" id="9"/>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10" id="10"/>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2" id="12"/>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Travel: How Our AI Picks</a:t>
            </a:r>
          </a:p>
        </p:txBody>
      </p:sp>
      <p:grpSp>
        <p:nvGrpSpPr>
          <p:cNvPr name="Group 13" id="13"/>
          <p:cNvGrpSpPr/>
          <p:nvPr/>
        </p:nvGrpSpPr>
        <p:grpSpPr>
          <a:xfrm rot="0">
            <a:off x="685800" y="1417320"/>
            <a:ext cx="2514600" cy="4572000"/>
            <a:chOff x="0" y="0"/>
            <a:chExt cx="3352800" cy="6096000"/>
          </a:xfrm>
        </p:grpSpPr>
        <p:sp>
          <p:nvSpPr>
            <p:cNvPr name="Freeform 14" id="14"/>
            <p:cNvSpPr/>
            <p:nvPr/>
          </p:nvSpPr>
          <p:spPr>
            <a:xfrm flipH="false" flipV="false" rot="0">
              <a:off x="0" y="0"/>
              <a:ext cx="3352800" cy="6096000"/>
            </a:xfrm>
            <a:custGeom>
              <a:avLst/>
              <a:gdLst/>
              <a:ahLst/>
              <a:cxnLst/>
              <a:rect r="r" b="b" t="t" l="l"/>
              <a:pathLst>
                <a:path h="6096000" w="3352800">
                  <a:moveTo>
                    <a:pt x="0" y="402336"/>
                  </a:moveTo>
                  <a:cubicBezTo>
                    <a:pt x="0" y="180086"/>
                    <a:pt x="180086" y="0"/>
                    <a:pt x="402336" y="0"/>
                  </a:cubicBezTo>
                  <a:lnTo>
                    <a:pt x="2950464" y="0"/>
                  </a:lnTo>
                  <a:cubicBezTo>
                    <a:pt x="3172714" y="0"/>
                    <a:pt x="3352800" y="180086"/>
                    <a:pt x="3352800" y="402336"/>
                  </a:cubicBezTo>
                  <a:lnTo>
                    <a:pt x="3352800" y="5693664"/>
                  </a:lnTo>
                  <a:cubicBezTo>
                    <a:pt x="3352800" y="5915914"/>
                    <a:pt x="3172714" y="6096000"/>
                    <a:pt x="2950464" y="6096000"/>
                  </a:cubicBezTo>
                  <a:lnTo>
                    <a:pt x="402336" y="6096000"/>
                  </a:lnTo>
                  <a:cubicBezTo>
                    <a:pt x="180086" y="6096000"/>
                    <a:pt x="0" y="5915914"/>
                    <a:pt x="0" y="5693664"/>
                  </a:cubicBezTo>
                  <a:close/>
                </a:path>
              </a:pathLst>
            </a:custGeom>
            <a:solidFill>
              <a:srgbClr val="FDE2CF"/>
            </a:solidFill>
          </p:spPr>
        </p:sp>
      </p:grpSp>
      <p:grpSp>
        <p:nvGrpSpPr>
          <p:cNvPr name="Group 15" id="15"/>
          <p:cNvGrpSpPr/>
          <p:nvPr/>
        </p:nvGrpSpPr>
        <p:grpSpPr>
          <a:xfrm rot="0">
            <a:off x="868680" y="1600200"/>
            <a:ext cx="457200" cy="457200"/>
            <a:chOff x="0" y="0"/>
            <a:chExt cx="609600" cy="609600"/>
          </a:xfrm>
        </p:grpSpPr>
        <p:sp>
          <p:nvSpPr>
            <p:cNvPr name="Freeform 16" id="1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58A4B"/>
            </a:solidFill>
          </p:spPr>
        </p:sp>
        <p:sp>
          <p:nvSpPr>
            <p:cNvPr name="TextBox 17" id="17"/>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1</a:t>
              </a:r>
            </a:p>
          </p:txBody>
        </p:sp>
      </p:grpSp>
      <p:sp>
        <p:nvSpPr>
          <p:cNvPr name="TextBox 18" id="18"/>
          <p:cNvSpPr txBox="true"/>
          <p:nvPr/>
        </p:nvSpPr>
        <p:spPr>
          <a:xfrm rot="0">
            <a:off x="1463040" y="1626870"/>
            <a:ext cx="1645920" cy="430530"/>
          </a:xfrm>
          <a:prstGeom prst="rect">
            <a:avLst/>
          </a:prstGeom>
        </p:spPr>
        <p:txBody>
          <a:bodyPr anchor="t" rtlCol="false" tIns="0" lIns="0" bIns="0" rIns="0">
            <a:spAutoFit/>
          </a:bodyPr>
          <a:lstStyle/>
          <a:p>
            <a:pPr algn="l">
              <a:lnSpc>
                <a:spcPts val="2160"/>
              </a:lnSpc>
            </a:pPr>
            <a:r>
              <a:rPr lang="en-US" sz="1800" b="true">
                <a:solidFill>
                  <a:srgbClr val="0D1B4C"/>
                </a:solidFill>
                <a:latin typeface="Arimo Bold"/>
                <a:ea typeface="Arimo Bold"/>
                <a:cs typeface="Arimo Bold"/>
                <a:sym typeface="Arimo Bold"/>
              </a:rPr>
              <a:t>Check first</a:t>
            </a:r>
          </a:p>
        </p:txBody>
      </p:sp>
      <p:sp>
        <p:nvSpPr>
          <p:cNvPr name="TextBox 19" id="19"/>
          <p:cNvSpPr txBox="true"/>
          <p:nvPr/>
        </p:nvSpPr>
        <p:spPr>
          <a:xfrm rot="0">
            <a:off x="868680" y="2266950"/>
            <a:ext cx="2194560" cy="3585210"/>
          </a:xfrm>
          <a:prstGeom prst="rect">
            <a:avLst/>
          </a:prstGeom>
        </p:spPr>
        <p:txBody>
          <a:bodyPr anchor="t" rtlCol="false" tIns="0" lIns="0" bIns="0" rIns="0">
            <a:spAutoFit/>
          </a:bodyPr>
          <a:lstStyle/>
          <a:p>
            <a:pPr algn="l">
              <a:lnSpc>
                <a:spcPts val="1919"/>
              </a:lnSpc>
            </a:pPr>
            <a:r>
              <a:rPr lang="en-US" sz="1599" b="true">
                <a:solidFill>
                  <a:srgbClr val="1F8A80"/>
                </a:solidFill>
                <a:latin typeface="Arimo Bold"/>
                <a:ea typeface="Arimo Bold"/>
                <a:cs typeface="Arimo Bold"/>
                <a:sym typeface="Arimo Bold"/>
              </a:rPr>
              <a:t>✓  </a:t>
            </a:r>
            <a:r>
              <a:rPr lang="en-US" sz="1599">
                <a:solidFill>
                  <a:srgbClr val="1F2A44"/>
                </a:solidFill>
                <a:latin typeface="Arimo"/>
                <a:ea typeface="Arimo"/>
                <a:cs typeface="Arimo"/>
                <a:sym typeface="Arimo"/>
              </a:rPr>
              <a:t>Food fits your diet</a:t>
            </a:r>
          </a:p>
          <a:p>
            <a:pPr algn="l">
              <a:lnSpc>
                <a:spcPts val="1919"/>
              </a:lnSpc>
            </a:pPr>
            <a:r>
              <a:rPr lang="en-US" sz="1599" b="true">
                <a:solidFill>
                  <a:srgbClr val="1F8A80"/>
                </a:solidFill>
                <a:latin typeface="Arimo Bold"/>
                <a:ea typeface="Arimo Bold"/>
                <a:cs typeface="Arimo Bold"/>
                <a:sym typeface="Arimo Bold"/>
              </a:rPr>
              <a:t>✓  </a:t>
            </a:r>
            <a:r>
              <a:rPr lang="en-US" sz="1599">
                <a:solidFill>
                  <a:srgbClr val="1F2A44"/>
                </a:solidFill>
                <a:latin typeface="Arimo"/>
                <a:ea typeface="Arimo"/>
                <a:cs typeface="Arimo"/>
                <a:sym typeface="Arimo"/>
              </a:rPr>
              <a:t>Not visited yet</a:t>
            </a:r>
          </a:p>
          <a:p>
            <a:pPr algn="l">
              <a:lnSpc>
                <a:spcPts val="1919"/>
              </a:lnSpc>
            </a:pPr>
            <a:r>
              <a:rPr lang="en-US" sz="1599" b="true">
                <a:solidFill>
                  <a:srgbClr val="1F8A80"/>
                </a:solidFill>
                <a:latin typeface="Arimo Bold"/>
                <a:ea typeface="Arimo Bold"/>
                <a:cs typeface="Arimo Bold"/>
                <a:sym typeface="Arimo Bold"/>
              </a:rPr>
              <a:t>✓  </a:t>
            </a:r>
            <a:r>
              <a:rPr lang="en-US" sz="1599">
                <a:solidFill>
                  <a:srgbClr val="1F2A44"/>
                </a:solidFill>
                <a:latin typeface="Arimo"/>
                <a:ea typeface="Arimo"/>
                <a:cs typeface="Arimo"/>
                <a:sym typeface="Arimo"/>
              </a:rPr>
              <a:t>OK for your mobility</a:t>
            </a:r>
          </a:p>
          <a:p>
            <a:pPr algn="l">
              <a:lnSpc>
                <a:spcPts val="1919"/>
              </a:lnSpc>
            </a:pPr>
            <a:r>
              <a:rPr lang="en-US" sz="1599" b="true">
                <a:solidFill>
                  <a:srgbClr val="1F8A80"/>
                </a:solidFill>
                <a:latin typeface="Arimo Bold"/>
                <a:ea typeface="Arimo Bold"/>
                <a:cs typeface="Arimo Bold"/>
                <a:sym typeface="Arimo Bold"/>
              </a:rPr>
              <a:t>✓  </a:t>
            </a:r>
            <a:r>
              <a:rPr lang="en-US" sz="1599">
                <a:solidFill>
                  <a:srgbClr val="1F2A44"/>
                </a:solidFill>
                <a:latin typeface="Arimo"/>
                <a:ea typeface="Arimo"/>
                <a:cs typeface="Arimo"/>
                <a:sym typeface="Arimo"/>
              </a:rPr>
              <a:t>Bad weather moves outdoor spots down</a:t>
            </a:r>
          </a:p>
        </p:txBody>
      </p:sp>
      <p:grpSp>
        <p:nvGrpSpPr>
          <p:cNvPr name="Group 20" id="20"/>
          <p:cNvGrpSpPr/>
          <p:nvPr/>
        </p:nvGrpSpPr>
        <p:grpSpPr>
          <a:xfrm rot="0">
            <a:off x="3273552" y="3520440"/>
            <a:ext cx="274320" cy="365760"/>
            <a:chOff x="0" y="0"/>
            <a:chExt cx="365760" cy="487680"/>
          </a:xfrm>
        </p:grpSpPr>
        <p:sp>
          <p:nvSpPr>
            <p:cNvPr name="Freeform 21" id="21"/>
            <p:cNvSpPr/>
            <p:nvPr/>
          </p:nvSpPr>
          <p:spPr>
            <a:xfrm flipH="false" flipV="false" rot="0">
              <a:off x="0" y="0"/>
              <a:ext cx="365760" cy="487680"/>
            </a:xfrm>
            <a:custGeom>
              <a:avLst/>
              <a:gdLst/>
              <a:ahLst/>
              <a:cxnLst/>
              <a:rect r="r" b="b" t="t" l="l"/>
              <a:pathLst>
                <a:path h="487680" w="365760">
                  <a:moveTo>
                    <a:pt x="0" y="121920"/>
                  </a:moveTo>
                  <a:lnTo>
                    <a:pt x="182880" y="121920"/>
                  </a:lnTo>
                  <a:lnTo>
                    <a:pt x="182880" y="0"/>
                  </a:lnTo>
                  <a:lnTo>
                    <a:pt x="365760" y="243840"/>
                  </a:lnTo>
                  <a:lnTo>
                    <a:pt x="182880" y="487680"/>
                  </a:lnTo>
                  <a:lnTo>
                    <a:pt x="182880" y="365760"/>
                  </a:lnTo>
                  <a:lnTo>
                    <a:pt x="0" y="365760"/>
                  </a:lnTo>
                  <a:close/>
                </a:path>
              </a:pathLst>
            </a:custGeom>
            <a:solidFill>
              <a:srgbClr val="0D1B4C"/>
            </a:solidFill>
          </p:spPr>
        </p:sp>
      </p:grpSp>
      <p:grpSp>
        <p:nvGrpSpPr>
          <p:cNvPr name="Group 22" id="22"/>
          <p:cNvGrpSpPr/>
          <p:nvPr/>
        </p:nvGrpSpPr>
        <p:grpSpPr>
          <a:xfrm rot="0">
            <a:off x="3611880" y="1417320"/>
            <a:ext cx="3108960" cy="4572000"/>
            <a:chOff x="0" y="0"/>
            <a:chExt cx="4145280" cy="6096000"/>
          </a:xfrm>
        </p:grpSpPr>
        <p:sp>
          <p:nvSpPr>
            <p:cNvPr name="Freeform 23" id="23"/>
            <p:cNvSpPr/>
            <p:nvPr/>
          </p:nvSpPr>
          <p:spPr>
            <a:xfrm flipH="false" flipV="false" rot="0">
              <a:off x="0" y="0"/>
              <a:ext cx="4145280" cy="6096000"/>
            </a:xfrm>
            <a:custGeom>
              <a:avLst/>
              <a:gdLst/>
              <a:ahLst/>
              <a:cxnLst/>
              <a:rect r="r" b="b" t="t" l="l"/>
              <a:pathLst>
                <a:path h="6096000" w="4145280">
                  <a:moveTo>
                    <a:pt x="0" y="497459"/>
                  </a:moveTo>
                  <a:cubicBezTo>
                    <a:pt x="0" y="222758"/>
                    <a:pt x="222758" y="0"/>
                    <a:pt x="497459" y="0"/>
                  </a:cubicBezTo>
                  <a:lnTo>
                    <a:pt x="3647821" y="0"/>
                  </a:lnTo>
                  <a:cubicBezTo>
                    <a:pt x="3922522" y="0"/>
                    <a:pt x="4145280" y="222758"/>
                    <a:pt x="4145280" y="497459"/>
                  </a:cubicBezTo>
                  <a:lnTo>
                    <a:pt x="4145280" y="5598541"/>
                  </a:lnTo>
                  <a:cubicBezTo>
                    <a:pt x="4145280" y="5873242"/>
                    <a:pt x="3922522" y="6096000"/>
                    <a:pt x="3647821" y="6096000"/>
                  </a:cubicBezTo>
                  <a:lnTo>
                    <a:pt x="497459" y="6096000"/>
                  </a:lnTo>
                  <a:cubicBezTo>
                    <a:pt x="222758" y="6096000"/>
                    <a:pt x="0" y="5873242"/>
                    <a:pt x="0" y="5598541"/>
                  </a:cubicBezTo>
                  <a:close/>
                </a:path>
              </a:pathLst>
            </a:custGeom>
            <a:solidFill>
              <a:srgbClr val="D3EFEC"/>
            </a:solidFill>
          </p:spPr>
        </p:sp>
      </p:grpSp>
      <p:grpSp>
        <p:nvGrpSpPr>
          <p:cNvPr name="Group 24" id="24"/>
          <p:cNvGrpSpPr/>
          <p:nvPr/>
        </p:nvGrpSpPr>
        <p:grpSpPr>
          <a:xfrm rot="0">
            <a:off x="3794760" y="1600200"/>
            <a:ext cx="457200" cy="457200"/>
            <a:chOff x="0" y="0"/>
            <a:chExt cx="609600" cy="609600"/>
          </a:xfrm>
        </p:grpSpPr>
        <p:sp>
          <p:nvSpPr>
            <p:cNvPr name="Freeform 25" id="25"/>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2A9D93"/>
            </a:solidFill>
          </p:spPr>
        </p:sp>
        <p:sp>
          <p:nvSpPr>
            <p:cNvPr name="TextBox 26" id="26"/>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sp>
        <p:nvSpPr>
          <p:cNvPr name="TextBox 27" id="27"/>
          <p:cNvSpPr txBox="true"/>
          <p:nvPr/>
        </p:nvSpPr>
        <p:spPr>
          <a:xfrm rot="0">
            <a:off x="4389120" y="1626870"/>
            <a:ext cx="2286000" cy="430530"/>
          </a:xfrm>
          <a:prstGeom prst="rect">
            <a:avLst/>
          </a:prstGeom>
        </p:spPr>
        <p:txBody>
          <a:bodyPr anchor="t" rtlCol="false" tIns="0" lIns="0" bIns="0" rIns="0">
            <a:spAutoFit/>
          </a:bodyPr>
          <a:lstStyle/>
          <a:p>
            <a:pPr algn="l">
              <a:lnSpc>
                <a:spcPts val="2160"/>
              </a:lnSpc>
            </a:pPr>
            <a:r>
              <a:rPr lang="en-US" sz="1800" b="true">
                <a:solidFill>
                  <a:srgbClr val="0D1B4C"/>
                </a:solidFill>
                <a:latin typeface="Arimo Bold"/>
                <a:ea typeface="Arimo Bold"/>
                <a:cs typeface="Arimo Bold"/>
                <a:sym typeface="Arimo Bold"/>
              </a:rPr>
              <a:t>Score each place</a:t>
            </a:r>
          </a:p>
        </p:txBody>
      </p:sp>
      <p:pic>
        <p:nvPicPr>
          <p:cNvPr name="Picture 28" id="28"/>
          <p:cNvPicPr>
            <a:picLocks noChangeAspect="true"/>
          </p:cNvPicPr>
          <p:nvPr/>
        </p:nvPicPr>
        <p:blipFill>
          <a:blip r:embed="rId8"/>
          <a:stretch>
            <a:fillRect/>
          </a:stretch>
        </p:blipFill>
        <p:spPr>
          <a:xfrm rot="0">
            <a:off x="3328416" y="1773936"/>
            <a:ext cx="3675888" cy="4498847"/>
          </a:xfrm>
          <a:prstGeom prst="rect">
            <a:avLst/>
          </a:prstGeom>
        </p:spPr>
      </p:pic>
      <p:grpSp>
        <p:nvGrpSpPr>
          <p:cNvPr name="Group 29" id="29"/>
          <p:cNvGrpSpPr/>
          <p:nvPr/>
        </p:nvGrpSpPr>
        <p:grpSpPr>
          <a:xfrm rot="0">
            <a:off x="6793992" y="3520440"/>
            <a:ext cx="274320" cy="365760"/>
            <a:chOff x="0" y="0"/>
            <a:chExt cx="365760" cy="487680"/>
          </a:xfrm>
        </p:grpSpPr>
        <p:sp>
          <p:nvSpPr>
            <p:cNvPr name="Freeform 30" id="30"/>
            <p:cNvSpPr/>
            <p:nvPr/>
          </p:nvSpPr>
          <p:spPr>
            <a:xfrm flipH="false" flipV="false" rot="0">
              <a:off x="0" y="0"/>
              <a:ext cx="365760" cy="487680"/>
            </a:xfrm>
            <a:custGeom>
              <a:avLst/>
              <a:gdLst/>
              <a:ahLst/>
              <a:cxnLst/>
              <a:rect r="r" b="b" t="t" l="l"/>
              <a:pathLst>
                <a:path h="487680" w="365760">
                  <a:moveTo>
                    <a:pt x="0" y="121920"/>
                  </a:moveTo>
                  <a:lnTo>
                    <a:pt x="182880" y="121920"/>
                  </a:lnTo>
                  <a:lnTo>
                    <a:pt x="182880" y="0"/>
                  </a:lnTo>
                  <a:lnTo>
                    <a:pt x="365760" y="243840"/>
                  </a:lnTo>
                  <a:lnTo>
                    <a:pt x="182880" y="487680"/>
                  </a:lnTo>
                  <a:lnTo>
                    <a:pt x="182880" y="365760"/>
                  </a:lnTo>
                  <a:lnTo>
                    <a:pt x="0" y="365760"/>
                  </a:lnTo>
                  <a:close/>
                </a:path>
              </a:pathLst>
            </a:custGeom>
            <a:solidFill>
              <a:srgbClr val="0D1B4C"/>
            </a:solidFill>
          </p:spPr>
        </p:sp>
      </p:grpSp>
      <p:grpSp>
        <p:nvGrpSpPr>
          <p:cNvPr name="Group 31" id="31"/>
          <p:cNvGrpSpPr/>
          <p:nvPr/>
        </p:nvGrpSpPr>
        <p:grpSpPr>
          <a:xfrm rot="0">
            <a:off x="7132320" y="1417320"/>
            <a:ext cx="1920240" cy="4572000"/>
            <a:chOff x="0" y="0"/>
            <a:chExt cx="2560320" cy="6096000"/>
          </a:xfrm>
        </p:grpSpPr>
        <p:sp>
          <p:nvSpPr>
            <p:cNvPr name="Freeform 32" id="32"/>
            <p:cNvSpPr/>
            <p:nvPr/>
          </p:nvSpPr>
          <p:spPr>
            <a:xfrm flipH="false" flipV="false" rot="0">
              <a:off x="0" y="0"/>
              <a:ext cx="2560320" cy="6096000"/>
            </a:xfrm>
            <a:custGeom>
              <a:avLst/>
              <a:gdLst/>
              <a:ahLst/>
              <a:cxnLst/>
              <a:rect r="r" b="b" t="t" l="l"/>
              <a:pathLst>
                <a:path h="6096000" w="2560320">
                  <a:moveTo>
                    <a:pt x="0" y="307213"/>
                  </a:moveTo>
                  <a:cubicBezTo>
                    <a:pt x="0" y="137541"/>
                    <a:pt x="137541" y="0"/>
                    <a:pt x="307213" y="0"/>
                  </a:cubicBezTo>
                  <a:lnTo>
                    <a:pt x="2253107" y="0"/>
                  </a:lnTo>
                  <a:cubicBezTo>
                    <a:pt x="2422779" y="0"/>
                    <a:pt x="2560320" y="137541"/>
                    <a:pt x="2560320" y="307213"/>
                  </a:cubicBezTo>
                  <a:lnTo>
                    <a:pt x="2560320" y="5788787"/>
                  </a:lnTo>
                  <a:cubicBezTo>
                    <a:pt x="2560320" y="5958459"/>
                    <a:pt x="2422779" y="6096000"/>
                    <a:pt x="2253107" y="6096000"/>
                  </a:cubicBezTo>
                  <a:lnTo>
                    <a:pt x="307213" y="6096000"/>
                  </a:lnTo>
                  <a:cubicBezTo>
                    <a:pt x="137541" y="6096000"/>
                    <a:pt x="0" y="5958459"/>
                    <a:pt x="0" y="5788787"/>
                  </a:cubicBezTo>
                  <a:close/>
                </a:path>
              </a:pathLst>
            </a:custGeom>
            <a:solidFill>
              <a:srgbClr val="FBE9A6"/>
            </a:solidFill>
          </p:spPr>
        </p:sp>
      </p:grpSp>
      <p:grpSp>
        <p:nvGrpSpPr>
          <p:cNvPr name="Group 33" id="33"/>
          <p:cNvGrpSpPr/>
          <p:nvPr/>
        </p:nvGrpSpPr>
        <p:grpSpPr>
          <a:xfrm rot="0">
            <a:off x="7315200" y="1600200"/>
            <a:ext cx="457200" cy="457200"/>
            <a:chOff x="0" y="0"/>
            <a:chExt cx="609600" cy="609600"/>
          </a:xfrm>
        </p:grpSpPr>
        <p:sp>
          <p:nvSpPr>
            <p:cNvPr name="Freeform 34" id="34"/>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6C945"/>
            </a:solidFill>
          </p:spPr>
        </p:sp>
        <p:sp>
          <p:nvSpPr>
            <p:cNvPr name="TextBox 35" id="35"/>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0D1B4C"/>
                  </a:solidFill>
                  <a:latin typeface="Arimo Bold"/>
                  <a:ea typeface="Arimo Bold"/>
                  <a:cs typeface="Arimo Bold"/>
                  <a:sym typeface="Arimo Bold"/>
                </a:rPr>
                <a:t>3</a:t>
              </a:r>
            </a:p>
          </p:txBody>
        </p:sp>
      </p:grpSp>
      <p:sp>
        <p:nvSpPr>
          <p:cNvPr name="TextBox 36" id="36"/>
          <p:cNvSpPr txBox="true"/>
          <p:nvPr/>
        </p:nvSpPr>
        <p:spPr>
          <a:xfrm rot="0">
            <a:off x="7863840" y="1626870"/>
            <a:ext cx="1143000" cy="430530"/>
          </a:xfrm>
          <a:prstGeom prst="rect">
            <a:avLst/>
          </a:prstGeom>
        </p:spPr>
        <p:txBody>
          <a:bodyPr anchor="t" rtlCol="false" tIns="0" lIns="0" bIns="0" rIns="0">
            <a:spAutoFit/>
          </a:bodyPr>
          <a:lstStyle/>
          <a:p>
            <a:pPr algn="l">
              <a:lnSpc>
                <a:spcPts val="2160"/>
              </a:lnSpc>
            </a:pPr>
            <a:r>
              <a:rPr lang="en-US" sz="1800" b="true">
                <a:solidFill>
                  <a:srgbClr val="0D1B4C"/>
                </a:solidFill>
                <a:latin typeface="Arimo Bold"/>
                <a:ea typeface="Arimo Bold"/>
                <a:cs typeface="Arimo Bold"/>
                <a:sym typeface="Arimo Bold"/>
              </a:rPr>
              <a:t>Picks</a:t>
            </a:r>
          </a:p>
        </p:txBody>
      </p:sp>
      <p:grpSp>
        <p:nvGrpSpPr>
          <p:cNvPr name="Group 37" id="37"/>
          <p:cNvGrpSpPr/>
          <p:nvPr/>
        </p:nvGrpSpPr>
        <p:grpSpPr>
          <a:xfrm rot="0">
            <a:off x="7269480" y="2286000"/>
            <a:ext cx="1645920" cy="1005840"/>
            <a:chOff x="0" y="0"/>
            <a:chExt cx="2194560" cy="1341120"/>
          </a:xfrm>
        </p:grpSpPr>
        <p:sp>
          <p:nvSpPr>
            <p:cNvPr name="Freeform 38" id="38"/>
            <p:cNvSpPr/>
            <p:nvPr/>
          </p:nvSpPr>
          <p:spPr>
            <a:xfrm flipH="false" flipV="false" rot="0">
              <a:off x="0" y="0"/>
              <a:ext cx="2194560" cy="1341120"/>
            </a:xfrm>
            <a:custGeom>
              <a:avLst/>
              <a:gdLst/>
              <a:ahLst/>
              <a:cxnLst/>
              <a:rect r="r" b="b" t="t" l="l"/>
              <a:pathLst>
                <a:path h="1341120" w="2194560">
                  <a:moveTo>
                    <a:pt x="0" y="160909"/>
                  </a:moveTo>
                  <a:cubicBezTo>
                    <a:pt x="0" y="72009"/>
                    <a:pt x="72009" y="0"/>
                    <a:pt x="160909" y="0"/>
                  </a:cubicBezTo>
                  <a:lnTo>
                    <a:pt x="2033651" y="0"/>
                  </a:lnTo>
                  <a:cubicBezTo>
                    <a:pt x="2122551" y="0"/>
                    <a:pt x="2194560" y="72009"/>
                    <a:pt x="2194560" y="160909"/>
                  </a:cubicBezTo>
                  <a:lnTo>
                    <a:pt x="2194560" y="1180211"/>
                  </a:lnTo>
                  <a:cubicBezTo>
                    <a:pt x="2194560" y="1269111"/>
                    <a:pt x="2122551" y="1341120"/>
                    <a:pt x="2033651" y="1341120"/>
                  </a:cubicBezTo>
                  <a:lnTo>
                    <a:pt x="160909" y="1341120"/>
                  </a:lnTo>
                  <a:cubicBezTo>
                    <a:pt x="72009" y="1341120"/>
                    <a:pt x="0" y="1269111"/>
                    <a:pt x="0" y="1180211"/>
                  </a:cubicBezTo>
                  <a:close/>
                </a:path>
              </a:pathLst>
            </a:custGeom>
            <a:solidFill>
              <a:srgbClr val="FFFFFF"/>
            </a:solidFill>
          </p:spPr>
        </p:sp>
      </p:grpSp>
      <p:sp>
        <p:nvSpPr>
          <p:cNvPr name="TextBox 39" id="39"/>
          <p:cNvSpPr txBox="true"/>
          <p:nvPr/>
        </p:nvSpPr>
        <p:spPr>
          <a:xfrm rot="0">
            <a:off x="7360920" y="2376678"/>
            <a:ext cx="1463040" cy="842010"/>
          </a:xfrm>
          <a:prstGeom prst="rect">
            <a:avLst/>
          </a:prstGeom>
        </p:spPr>
        <p:txBody>
          <a:bodyPr anchor="t" rtlCol="false" tIns="0" lIns="0" bIns="0" rIns="0">
            <a:spAutoFit/>
          </a:bodyPr>
          <a:lstStyle/>
          <a:p>
            <a:pPr algn="l">
              <a:lnSpc>
                <a:spcPts val="1919"/>
              </a:lnSpc>
            </a:pPr>
            <a:r>
              <a:rPr lang="en-US" sz="1599" b="true">
                <a:solidFill>
                  <a:srgbClr val="0D1B4C"/>
                </a:solidFill>
                <a:latin typeface="Arimo Bold"/>
                <a:ea typeface="Arimo Bold"/>
                <a:cs typeface="Arimo Bold"/>
                <a:sym typeface="Arimo Bold"/>
              </a:rPr>
              <a:t>Place</a:t>
            </a:r>
          </a:p>
          <a:p>
            <a:pPr algn="l">
              <a:lnSpc>
                <a:spcPts val="1559"/>
              </a:lnSpc>
            </a:pPr>
            <a:r>
              <a:rPr lang="en-US" sz="1299">
                <a:solidFill>
                  <a:srgbClr val="1F8A80"/>
                </a:solidFill>
                <a:latin typeface="Arimo"/>
                <a:ea typeface="Arimo"/>
                <a:cs typeface="Arimo"/>
                <a:sym typeface="Arimo"/>
              </a:rPr>
              <a:t>Quiet hidden spot</a:t>
            </a:r>
          </a:p>
        </p:txBody>
      </p:sp>
      <p:grpSp>
        <p:nvGrpSpPr>
          <p:cNvPr name="Group 40" id="40"/>
          <p:cNvGrpSpPr/>
          <p:nvPr/>
        </p:nvGrpSpPr>
        <p:grpSpPr>
          <a:xfrm rot="0">
            <a:off x="7269480" y="3474720"/>
            <a:ext cx="1645920" cy="1005840"/>
            <a:chOff x="0" y="0"/>
            <a:chExt cx="2194560" cy="1341120"/>
          </a:xfrm>
        </p:grpSpPr>
        <p:sp>
          <p:nvSpPr>
            <p:cNvPr name="Freeform 41" id="41"/>
            <p:cNvSpPr/>
            <p:nvPr/>
          </p:nvSpPr>
          <p:spPr>
            <a:xfrm flipH="false" flipV="false" rot="0">
              <a:off x="0" y="0"/>
              <a:ext cx="2194560" cy="1341120"/>
            </a:xfrm>
            <a:custGeom>
              <a:avLst/>
              <a:gdLst/>
              <a:ahLst/>
              <a:cxnLst/>
              <a:rect r="r" b="b" t="t" l="l"/>
              <a:pathLst>
                <a:path h="1341120" w="2194560">
                  <a:moveTo>
                    <a:pt x="0" y="160909"/>
                  </a:moveTo>
                  <a:cubicBezTo>
                    <a:pt x="0" y="72009"/>
                    <a:pt x="72009" y="0"/>
                    <a:pt x="160909" y="0"/>
                  </a:cubicBezTo>
                  <a:lnTo>
                    <a:pt x="2033651" y="0"/>
                  </a:lnTo>
                  <a:cubicBezTo>
                    <a:pt x="2122551" y="0"/>
                    <a:pt x="2194560" y="72009"/>
                    <a:pt x="2194560" y="160909"/>
                  </a:cubicBezTo>
                  <a:lnTo>
                    <a:pt x="2194560" y="1180211"/>
                  </a:lnTo>
                  <a:cubicBezTo>
                    <a:pt x="2194560" y="1269111"/>
                    <a:pt x="2122551" y="1341120"/>
                    <a:pt x="2033651" y="1341120"/>
                  </a:cubicBezTo>
                  <a:lnTo>
                    <a:pt x="160909" y="1341120"/>
                  </a:lnTo>
                  <a:cubicBezTo>
                    <a:pt x="72009" y="1341120"/>
                    <a:pt x="0" y="1269111"/>
                    <a:pt x="0" y="1180211"/>
                  </a:cubicBezTo>
                  <a:close/>
                </a:path>
              </a:pathLst>
            </a:custGeom>
            <a:solidFill>
              <a:srgbClr val="FFFFFF"/>
            </a:solidFill>
          </p:spPr>
        </p:sp>
      </p:grpSp>
      <p:sp>
        <p:nvSpPr>
          <p:cNvPr name="TextBox 42" id="42"/>
          <p:cNvSpPr txBox="true"/>
          <p:nvPr/>
        </p:nvSpPr>
        <p:spPr>
          <a:xfrm rot="0">
            <a:off x="7360920" y="3565398"/>
            <a:ext cx="1463040" cy="842010"/>
          </a:xfrm>
          <a:prstGeom prst="rect">
            <a:avLst/>
          </a:prstGeom>
        </p:spPr>
        <p:txBody>
          <a:bodyPr anchor="t" rtlCol="false" tIns="0" lIns="0" bIns="0" rIns="0">
            <a:spAutoFit/>
          </a:bodyPr>
          <a:lstStyle/>
          <a:p>
            <a:pPr algn="l">
              <a:lnSpc>
                <a:spcPts val="1919"/>
              </a:lnSpc>
            </a:pPr>
            <a:r>
              <a:rPr lang="en-US" sz="1599" b="true">
                <a:solidFill>
                  <a:srgbClr val="0D1B4C"/>
                </a:solidFill>
                <a:latin typeface="Arimo Bold"/>
                <a:ea typeface="Arimo Bold"/>
                <a:cs typeface="Arimo Bold"/>
                <a:sym typeface="Arimo Bold"/>
              </a:rPr>
              <a:t>Food</a:t>
            </a:r>
          </a:p>
          <a:p>
            <a:pPr algn="l">
              <a:lnSpc>
                <a:spcPts val="1559"/>
              </a:lnSpc>
            </a:pPr>
            <a:r>
              <a:rPr lang="en-US" sz="1299">
                <a:solidFill>
                  <a:srgbClr val="1F8A80"/>
                </a:solidFill>
                <a:latin typeface="Arimo"/>
                <a:ea typeface="Arimo"/>
                <a:cs typeface="Arimo"/>
                <a:sym typeface="Arimo"/>
              </a:rPr>
              <a:t>Fits your diet</a:t>
            </a:r>
          </a:p>
        </p:txBody>
      </p:sp>
      <p:grpSp>
        <p:nvGrpSpPr>
          <p:cNvPr name="Group 43" id="43"/>
          <p:cNvGrpSpPr/>
          <p:nvPr/>
        </p:nvGrpSpPr>
        <p:grpSpPr>
          <a:xfrm rot="0">
            <a:off x="7269480" y="4663440"/>
            <a:ext cx="1645920" cy="1005840"/>
            <a:chOff x="0" y="0"/>
            <a:chExt cx="2194560" cy="1341120"/>
          </a:xfrm>
        </p:grpSpPr>
        <p:sp>
          <p:nvSpPr>
            <p:cNvPr name="Freeform 44" id="44"/>
            <p:cNvSpPr/>
            <p:nvPr/>
          </p:nvSpPr>
          <p:spPr>
            <a:xfrm flipH="false" flipV="false" rot="0">
              <a:off x="0" y="0"/>
              <a:ext cx="2194560" cy="1341120"/>
            </a:xfrm>
            <a:custGeom>
              <a:avLst/>
              <a:gdLst/>
              <a:ahLst/>
              <a:cxnLst/>
              <a:rect r="r" b="b" t="t" l="l"/>
              <a:pathLst>
                <a:path h="1341120" w="2194560">
                  <a:moveTo>
                    <a:pt x="0" y="160909"/>
                  </a:moveTo>
                  <a:cubicBezTo>
                    <a:pt x="0" y="72009"/>
                    <a:pt x="72009" y="0"/>
                    <a:pt x="160909" y="0"/>
                  </a:cubicBezTo>
                  <a:lnTo>
                    <a:pt x="2033651" y="0"/>
                  </a:lnTo>
                  <a:cubicBezTo>
                    <a:pt x="2122551" y="0"/>
                    <a:pt x="2194560" y="72009"/>
                    <a:pt x="2194560" y="160909"/>
                  </a:cubicBezTo>
                  <a:lnTo>
                    <a:pt x="2194560" y="1180211"/>
                  </a:lnTo>
                  <a:cubicBezTo>
                    <a:pt x="2194560" y="1269111"/>
                    <a:pt x="2122551" y="1341120"/>
                    <a:pt x="2033651" y="1341120"/>
                  </a:cubicBezTo>
                  <a:lnTo>
                    <a:pt x="160909" y="1341120"/>
                  </a:lnTo>
                  <a:cubicBezTo>
                    <a:pt x="72009" y="1341120"/>
                    <a:pt x="0" y="1269111"/>
                    <a:pt x="0" y="1180211"/>
                  </a:cubicBezTo>
                  <a:close/>
                </a:path>
              </a:pathLst>
            </a:custGeom>
            <a:solidFill>
              <a:srgbClr val="FFFFFF"/>
            </a:solidFill>
          </p:spPr>
        </p:sp>
      </p:grpSp>
      <p:sp>
        <p:nvSpPr>
          <p:cNvPr name="TextBox 45" id="45"/>
          <p:cNvSpPr txBox="true"/>
          <p:nvPr/>
        </p:nvSpPr>
        <p:spPr>
          <a:xfrm rot="0">
            <a:off x="7360920" y="4754118"/>
            <a:ext cx="1463040" cy="842010"/>
          </a:xfrm>
          <a:prstGeom prst="rect">
            <a:avLst/>
          </a:prstGeom>
        </p:spPr>
        <p:txBody>
          <a:bodyPr anchor="t" rtlCol="false" tIns="0" lIns="0" bIns="0" rIns="0">
            <a:spAutoFit/>
          </a:bodyPr>
          <a:lstStyle/>
          <a:p>
            <a:pPr algn="l">
              <a:lnSpc>
                <a:spcPts val="1919"/>
              </a:lnSpc>
            </a:pPr>
            <a:r>
              <a:rPr lang="en-US" sz="1599" b="true">
                <a:solidFill>
                  <a:srgbClr val="0D1B4C"/>
                </a:solidFill>
                <a:latin typeface="Arimo Bold"/>
                <a:ea typeface="Arimo Bold"/>
                <a:cs typeface="Arimo Bold"/>
                <a:sym typeface="Arimo Bold"/>
              </a:rPr>
              <a:t>Activity</a:t>
            </a:r>
          </a:p>
          <a:p>
            <a:pPr algn="l">
              <a:lnSpc>
                <a:spcPts val="1559"/>
              </a:lnSpc>
            </a:pPr>
            <a:r>
              <a:rPr lang="en-US" sz="1299">
                <a:solidFill>
                  <a:srgbClr val="1F8A80"/>
                </a:solidFill>
                <a:latin typeface="Arimo"/>
                <a:ea typeface="Arimo"/>
                <a:cs typeface="Arimo"/>
                <a:sym typeface="Arimo"/>
              </a:rPr>
              <a:t>Matches your interests</a:t>
            </a:r>
          </a:p>
        </p:txBody>
      </p:sp>
      <p:sp>
        <p:nvSpPr>
          <p:cNvPr name="TextBox 46" id="46"/>
          <p:cNvSpPr txBox="true"/>
          <p:nvPr/>
        </p:nvSpPr>
        <p:spPr>
          <a:xfrm rot="0">
            <a:off x="685800" y="6034278"/>
            <a:ext cx="8366760" cy="659130"/>
          </a:xfrm>
          <a:prstGeom prst="rect">
            <a:avLst/>
          </a:prstGeom>
        </p:spPr>
        <p:txBody>
          <a:bodyPr anchor="t" rtlCol="false" tIns="0" lIns="0" bIns="0" rIns="0">
            <a:spAutoFit/>
          </a:bodyPr>
          <a:lstStyle/>
          <a:p>
            <a:pPr algn="ctr">
              <a:lnSpc>
                <a:spcPts val="1680"/>
              </a:lnSpc>
            </a:pPr>
            <a:r>
              <a:rPr lang="en-US" sz="1400" b="true">
                <a:solidFill>
                  <a:srgbClr val="0D1B4C"/>
                </a:solidFill>
                <a:latin typeface="Arimo Bold"/>
                <a:ea typeface="Arimo Bold"/>
                <a:cs typeface="Arimo Bold"/>
                <a:sym typeface="Arimo Bold"/>
              </a:rPr>
              <a:t>Rules-based AI ranking today. Next: it learns from real trial visits.</a:t>
            </a:r>
          </a:p>
          <a:p>
            <a:pPr algn="ctr">
              <a:lnSpc>
                <a:spcPts val="1680"/>
              </a:lnSpc>
            </a:pPr>
            <a:r>
              <a:rPr lang="en-US" sz="1400" b="true">
                <a:solidFill>
                  <a:srgbClr val="1F8A80"/>
                </a:solidFill>
                <a:latin typeface="Arimo Bold"/>
                <a:ea typeface="Arimo Bold"/>
                <a:cs typeface="Arimo Bold"/>
                <a:sym typeface="Arimo Bold"/>
              </a:rPr>
              <a:t>Pick “Today I feel like” and the list changes for today. Live weather updates it.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7603836" y="86544"/>
            <a:ext cx="544468" cy="362064"/>
            <a:chOff x="0" y="0"/>
            <a:chExt cx="725957" cy="482752"/>
          </a:xfrm>
        </p:grpSpPr>
        <p:sp>
          <p:nvSpPr>
            <p:cNvPr name="Freeform 7" id="7"/>
            <p:cNvSpPr/>
            <p:nvPr/>
          </p:nvSpPr>
          <p:spPr>
            <a:xfrm flipH="false" flipV="false" rot="0">
              <a:off x="0" y="0"/>
              <a:ext cx="725932" cy="482727"/>
            </a:xfrm>
            <a:custGeom>
              <a:avLst/>
              <a:gdLst/>
              <a:ahLst/>
              <a:cxnLst/>
              <a:rect r="r" b="b" t="t" l="l"/>
              <a:pathLst>
                <a:path h="482727" w="725932">
                  <a:moveTo>
                    <a:pt x="0" y="0"/>
                  </a:moveTo>
                  <a:lnTo>
                    <a:pt x="725932" y="0"/>
                  </a:lnTo>
                  <a:lnTo>
                    <a:pt x="725932" y="482727"/>
                  </a:lnTo>
                  <a:lnTo>
                    <a:pt x="0" y="482727"/>
                  </a:lnTo>
                  <a:lnTo>
                    <a:pt x="0" y="0"/>
                  </a:lnTo>
                  <a:close/>
                </a:path>
              </a:pathLst>
            </a:custGeom>
            <a:solidFill>
              <a:srgbClr val="00C4CC"/>
            </a:solidFill>
          </p:spPr>
        </p:sp>
      </p:grpSp>
      <p:grpSp>
        <p:nvGrpSpPr>
          <p:cNvPr name="Group 8" id="8"/>
          <p:cNvGrpSpPr/>
          <p:nvPr/>
        </p:nvGrpSpPr>
        <p:grpSpPr>
          <a:xfrm rot="0">
            <a:off x="8470944" y="86544"/>
            <a:ext cx="570186" cy="362064"/>
            <a:chOff x="0" y="0"/>
            <a:chExt cx="760247" cy="482752"/>
          </a:xfrm>
        </p:grpSpPr>
        <p:sp>
          <p:nvSpPr>
            <p:cNvPr name="Freeform 9" id="9"/>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10" id="10"/>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2" id="12"/>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Your Data, Your Choice</a:t>
            </a:r>
          </a:p>
        </p:txBody>
      </p:sp>
      <p:grpSp>
        <p:nvGrpSpPr>
          <p:cNvPr name="Group 13" id="13"/>
          <p:cNvGrpSpPr/>
          <p:nvPr/>
        </p:nvGrpSpPr>
        <p:grpSpPr>
          <a:xfrm rot="0">
            <a:off x="685800" y="1463040"/>
            <a:ext cx="8366760" cy="1188720"/>
            <a:chOff x="0" y="0"/>
            <a:chExt cx="11155680" cy="1584960"/>
          </a:xfrm>
        </p:grpSpPr>
        <p:sp>
          <p:nvSpPr>
            <p:cNvPr name="Freeform 14" id="14"/>
            <p:cNvSpPr/>
            <p:nvPr/>
          </p:nvSpPr>
          <p:spPr>
            <a:xfrm flipH="false" flipV="false" rot="0">
              <a:off x="0" y="0"/>
              <a:ext cx="11155680" cy="1585087"/>
            </a:xfrm>
            <a:custGeom>
              <a:avLst/>
              <a:gdLst/>
              <a:ahLst/>
              <a:cxnLst/>
              <a:rect r="r" b="b" t="t" l="l"/>
              <a:pathLst>
                <a:path h="1585087" w="11155680">
                  <a:moveTo>
                    <a:pt x="0" y="190246"/>
                  </a:moveTo>
                  <a:cubicBezTo>
                    <a:pt x="0" y="85090"/>
                    <a:pt x="85090" y="0"/>
                    <a:pt x="190246" y="0"/>
                  </a:cubicBezTo>
                  <a:lnTo>
                    <a:pt x="10965434" y="0"/>
                  </a:lnTo>
                  <a:cubicBezTo>
                    <a:pt x="11070463" y="0"/>
                    <a:pt x="11155680" y="85090"/>
                    <a:pt x="11155680" y="190246"/>
                  </a:cubicBezTo>
                  <a:lnTo>
                    <a:pt x="11155680" y="1394841"/>
                  </a:lnTo>
                  <a:cubicBezTo>
                    <a:pt x="11155680" y="1499870"/>
                    <a:pt x="11070590" y="1585087"/>
                    <a:pt x="10965434" y="1585087"/>
                  </a:cubicBezTo>
                  <a:lnTo>
                    <a:pt x="190246" y="1585087"/>
                  </a:lnTo>
                  <a:cubicBezTo>
                    <a:pt x="85090" y="1584960"/>
                    <a:pt x="0" y="1499870"/>
                    <a:pt x="0" y="1394714"/>
                  </a:cubicBezTo>
                  <a:close/>
                </a:path>
              </a:pathLst>
            </a:custGeom>
            <a:solidFill>
              <a:srgbClr val="FDE2CF"/>
            </a:solidFill>
          </p:spPr>
        </p:sp>
      </p:grpSp>
      <p:grpSp>
        <p:nvGrpSpPr>
          <p:cNvPr name="Group 15" id="15"/>
          <p:cNvGrpSpPr/>
          <p:nvPr/>
        </p:nvGrpSpPr>
        <p:grpSpPr>
          <a:xfrm rot="0">
            <a:off x="868680" y="1828800"/>
            <a:ext cx="457200" cy="457200"/>
            <a:chOff x="0" y="0"/>
            <a:chExt cx="609600" cy="609600"/>
          </a:xfrm>
        </p:grpSpPr>
        <p:sp>
          <p:nvSpPr>
            <p:cNvPr name="Freeform 16" id="1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58A4B"/>
            </a:solidFill>
          </p:spPr>
        </p:sp>
        <p:sp>
          <p:nvSpPr>
            <p:cNvPr name="TextBox 17" id="17"/>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1</a:t>
              </a:r>
            </a:p>
          </p:txBody>
        </p:sp>
      </p:grpSp>
      <p:grpSp>
        <p:nvGrpSpPr>
          <p:cNvPr name="Group 18" id="18"/>
          <p:cNvGrpSpPr/>
          <p:nvPr/>
        </p:nvGrpSpPr>
        <p:grpSpPr>
          <a:xfrm rot="0">
            <a:off x="1508760" y="1600200"/>
            <a:ext cx="2194560" cy="914400"/>
            <a:chOff x="0" y="0"/>
            <a:chExt cx="2926080" cy="1219200"/>
          </a:xfrm>
        </p:grpSpPr>
        <p:sp>
          <p:nvSpPr>
            <p:cNvPr name="Freeform 19" id="19"/>
            <p:cNvSpPr/>
            <p:nvPr/>
          </p:nvSpPr>
          <p:spPr>
            <a:xfrm flipH="false" flipV="false" rot="0">
              <a:off x="0" y="0"/>
              <a:ext cx="2926080" cy="1219200"/>
            </a:xfrm>
            <a:custGeom>
              <a:avLst/>
              <a:gdLst/>
              <a:ahLst/>
              <a:cxnLst/>
              <a:rect r="r" b="b" t="t" l="l"/>
              <a:pathLst>
                <a:path h="1219200" w="2926080">
                  <a:moveTo>
                    <a:pt x="0" y="0"/>
                  </a:moveTo>
                  <a:lnTo>
                    <a:pt x="2926080" y="0"/>
                  </a:lnTo>
                  <a:lnTo>
                    <a:pt x="2926080" y="1219200"/>
                  </a:lnTo>
                  <a:lnTo>
                    <a:pt x="0" y="1219200"/>
                  </a:lnTo>
                  <a:close/>
                </a:path>
              </a:pathLst>
            </a:custGeom>
            <a:blipFill>
              <a:blip r:embed="rId8">
                <a:alphaModFix amt="0"/>
              </a:blip>
              <a:stretch>
                <a:fillRect l="-3459" t="0" r="-3459" b="0"/>
              </a:stretch>
            </a:blipFill>
          </p:spPr>
        </p:sp>
        <p:sp>
          <p:nvSpPr>
            <p:cNvPr name="TextBox 20" id="20"/>
            <p:cNvSpPr txBox="true"/>
            <p:nvPr/>
          </p:nvSpPr>
          <p:spPr>
            <a:xfrm>
              <a:off x="0" y="-9525"/>
              <a:ext cx="2926080" cy="1228725"/>
            </a:xfrm>
            <a:prstGeom prst="rect">
              <a:avLst/>
            </a:prstGeom>
          </p:spPr>
          <p:txBody>
            <a:bodyPr anchor="ctr" rtlCol="false" tIns="0" lIns="0" bIns="0" rIns="0"/>
            <a:lstStyle/>
            <a:p>
              <a:pPr algn="l">
                <a:lnSpc>
                  <a:spcPts val="2400"/>
                </a:lnSpc>
              </a:pPr>
              <a:r>
                <a:rPr lang="en-US" sz="2000" b="true">
                  <a:solidFill>
                    <a:srgbClr val="0D1B4C"/>
                  </a:solidFill>
                  <a:latin typeface="Arimo Bold"/>
                  <a:ea typeface="Arimo Bold"/>
                  <a:cs typeface="Arimo Bold"/>
                  <a:sym typeface="Arimo Bold"/>
                </a:rPr>
                <a:t>Ask first</a:t>
              </a:r>
            </a:p>
          </p:txBody>
        </p:sp>
      </p:grpSp>
      <p:grpSp>
        <p:nvGrpSpPr>
          <p:cNvPr name="Group 21" id="21"/>
          <p:cNvGrpSpPr/>
          <p:nvPr/>
        </p:nvGrpSpPr>
        <p:grpSpPr>
          <a:xfrm rot="0">
            <a:off x="3657600" y="1600200"/>
            <a:ext cx="5212080" cy="914400"/>
            <a:chOff x="0" y="0"/>
            <a:chExt cx="6949440" cy="1219200"/>
          </a:xfrm>
        </p:grpSpPr>
        <p:sp>
          <p:nvSpPr>
            <p:cNvPr name="Freeform 22" id="22"/>
            <p:cNvSpPr/>
            <p:nvPr/>
          </p:nvSpPr>
          <p:spPr>
            <a:xfrm flipH="false" flipV="false" rot="0">
              <a:off x="0" y="0"/>
              <a:ext cx="6949440" cy="1219200"/>
            </a:xfrm>
            <a:custGeom>
              <a:avLst/>
              <a:gdLst/>
              <a:ahLst/>
              <a:cxnLst/>
              <a:rect r="r" b="b" t="t" l="l"/>
              <a:pathLst>
                <a:path h="1219200" w="6949440">
                  <a:moveTo>
                    <a:pt x="0" y="0"/>
                  </a:moveTo>
                  <a:lnTo>
                    <a:pt x="6949440" y="0"/>
                  </a:lnTo>
                  <a:lnTo>
                    <a:pt x="6949440" y="1219200"/>
                  </a:lnTo>
                  <a:lnTo>
                    <a:pt x="0" y="1219200"/>
                  </a:lnTo>
                  <a:close/>
                </a:path>
              </a:pathLst>
            </a:custGeom>
            <a:blipFill>
              <a:blip r:embed="rId8">
                <a:alphaModFix amt="0"/>
              </a:blip>
              <a:stretch>
                <a:fillRect l="0" t="-61064" r="0" b="-61064"/>
              </a:stretch>
            </a:blipFill>
          </p:spPr>
        </p:sp>
        <p:sp>
          <p:nvSpPr>
            <p:cNvPr name="TextBox 23" id="23"/>
            <p:cNvSpPr txBox="true"/>
            <p:nvPr/>
          </p:nvSpPr>
          <p:spPr>
            <a:xfrm>
              <a:off x="0" y="-19050"/>
              <a:ext cx="6949440" cy="1238250"/>
            </a:xfrm>
            <a:prstGeom prst="rect">
              <a:avLst/>
            </a:prstGeom>
          </p:spPr>
          <p:txBody>
            <a:bodyPr anchor="ctr" rtlCol="false" tIns="0" lIns="0" bIns="0" rIns="0"/>
            <a:lstStyle/>
            <a:p>
              <a:pPr algn="l">
                <a:lnSpc>
                  <a:spcPts val="1919"/>
                </a:lnSpc>
              </a:pPr>
              <a:r>
                <a:rPr lang="en-US" sz="1599">
                  <a:solidFill>
                    <a:srgbClr val="1F2A44"/>
                  </a:solidFill>
                  <a:latin typeface="Arimo"/>
                  <a:ea typeface="Arimo"/>
                  <a:cs typeface="Arimo"/>
                  <a:sym typeface="Arimo"/>
                </a:rPr>
                <a:t>Trial data counts only after the traveler agrees. They can leave at any time.</a:t>
              </a:r>
            </a:p>
          </p:txBody>
        </p:sp>
      </p:grpSp>
      <p:grpSp>
        <p:nvGrpSpPr>
          <p:cNvPr name="Group 24" id="24"/>
          <p:cNvGrpSpPr/>
          <p:nvPr/>
        </p:nvGrpSpPr>
        <p:grpSpPr>
          <a:xfrm rot="0">
            <a:off x="685800" y="2834640"/>
            <a:ext cx="8366760" cy="1188720"/>
            <a:chOff x="0" y="0"/>
            <a:chExt cx="11155680" cy="1584960"/>
          </a:xfrm>
        </p:grpSpPr>
        <p:sp>
          <p:nvSpPr>
            <p:cNvPr name="Freeform 25" id="25"/>
            <p:cNvSpPr/>
            <p:nvPr/>
          </p:nvSpPr>
          <p:spPr>
            <a:xfrm flipH="false" flipV="false" rot="0">
              <a:off x="0" y="0"/>
              <a:ext cx="11155680" cy="1585087"/>
            </a:xfrm>
            <a:custGeom>
              <a:avLst/>
              <a:gdLst/>
              <a:ahLst/>
              <a:cxnLst/>
              <a:rect r="r" b="b" t="t" l="l"/>
              <a:pathLst>
                <a:path h="1585087" w="11155680">
                  <a:moveTo>
                    <a:pt x="0" y="190246"/>
                  </a:moveTo>
                  <a:cubicBezTo>
                    <a:pt x="0" y="85090"/>
                    <a:pt x="85090" y="0"/>
                    <a:pt x="190246" y="0"/>
                  </a:cubicBezTo>
                  <a:lnTo>
                    <a:pt x="10965434" y="0"/>
                  </a:lnTo>
                  <a:cubicBezTo>
                    <a:pt x="11070463" y="0"/>
                    <a:pt x="11155680" y="85090"/>
                    <a:pt x="11155680" y="190246"/>
                  </a:cubicBezTo>
                  <a:lnTo>
                    <a:pt x="11155680" y="1394841"/>
                  </a:lnTo>
                  <a:cubicBezTo>
                    <a:pt x="11155680" y="1499870"/>
                    <a:pt x="11070590" y="1585087"/>
                    <a:pt x="10965434" y="1585087"/>
                  </a:cubicBezTo>
                  <a:lnTo>
                    <a:pt x="190246" y="1585087"/>
                  </a:lnTo>
                  <a:cubicBezTo>
                    <a:pt x="85090" y="1584960"/>
                    <a:pt x="0" y="1499870"/>
                    <a:pt x="0" y="1394714"/>
                  </a:cubicBezTo>
                  <a:close/>
                </a:path>
              </a:pathLst>
            </a:custGeom>
            <a:solidFill>
              <a:srgbClr val="D3EFEC"/>
            </a:solidFill>
          </p:spPr>
        </p:sp>
      </p:grpSp>
      <p:grpSp>
        <p:nvGrpSpPr>
          <p:cNvPr name="Group 26" id="26"/>
          <p:cNvGrpSpPr/>
          <p:nvPr/>
        </p:nvGrpSpPr>
        <p:grpSpPr>
          <a:xfrm rot="0">
            <a:off x="868680" y="3200400"/>
            <a:ext cx="457200" cy="457200"/>
            <a:chOff x="0" y="0"/>
            <a:chExt cx="609600" cy="609600"/>
          </a:xfrm>
        </p:grpSpPr>
        <p:sp>
          <p:nvSpPr>
            <p:cNvPr name="Freeform 27" id="27"/>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2A9D93"/>
            </a:solidFill>
          </p:spPr>
        </p:sp>
        <p:sp>
          <p:nvSpPr>
            <p:cNvPr name="TextBox 28" id="28"/>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grpSp>
        <p:nvGrpSpPr>
          <p:cNvPr name="Group 29" id="29"/>
          <p:cNvGrpSpPr/>
          <p:nvPr/>
        </p:nvGrpSpPr>
        <p:grpSpPr>
          <a:xfrm rot="0">
            <a:off x="1508760" y="2971800"/>
            <a:ext cx="2194560" cy="914400"/>
            <a:chOff x="0" y="0"/>
            <a:chExt cx="2926080" cy="1219200"/>
          </a:xfrm>
        </p:grpSpPr>
        <p:sp>
          <p:nvSpPr>
            <p:cNvPr name="Freeform 30" id="30"/>
            <p:cNvSpPr/>
            <p:nvPr/>
          </p:nvSpPr>
          <p:spPr>
            <a:xfrm flipH="false" flipV="false" rot="0">
              <a:off x="0" y="0"/>
              <a:ext cx="2926080" cy="1219200"/>
            </a:xfrm>
            <a:custGeom>
              <a:avLst/>
              <a:gdLst/>
              <a:ahLst/>
              <a:cxnLst/>
              <a:rect r="r" b="b" t="t" l="l"/>
              <a:pathLst>
                <a:path h="1219200" w="2926080">
                  <a:moveTo>
                    <a:pt x="0" y="0"/>
                  </a:moveTo>
                  <a:lnTo>
                    <a:pt x="2926080" y="0"/>
                  </a:lnTo>
                  <a:lnTo>
                    <a:pt x="2926080" y="1219200"/>
                  </a:lnTo>
                  <a:lnTo>
                    <a:pt x="0" y="1219200"/>
                  </a:lnTo>
                  <a:close/>
                </a:path>
              </a:pathLst>
            </a:custGeom>
            <a:blipFill>
              <a:blip r:embed="rId8">
                <a:alphaModFix amt="0"/>
              </a:blip>
              <a:stretch>
                <a:fillRect l="-3459" t="0" r="-3459" b="0"/>
              </a:stretch>
            </a:blipFill>
          </p:spPr>
        </p:sp>
        <p:sp>
          <p:nvSpPr>
            <p:cNvPr name="TextBox 31" id="31"/>
            <p:cNvSpPr txBox="true"/>
            <p:nvPr/>
          </p:nvSpPr>
          <p:spPr>
            <a:xfrm>
              <a:off x="0" y="-9525"/>
              <a:ext cx="2926080" cy="1228725"/>
            </a:xfrm>
            <a:prstGeom prst="rect">
              <a:avLst/>
            </a:prstGeom>
          </p:spPr>
          <p:txBody>
            <a:bodyPr anchor="ctr" rtlCol="false" tIns="0" lIns="0" bIns="0" rIns="0"/>
            <a:lstStyle/>
            <a:p>
              <a:pPr algn="l">
                <a:lnSpc>
                  <a:spcPts val="2400"/>
                </a:lnSpc>
              </a:pPr>
              <a:r>
                <a:rPr lang="en-US" sz="2000" b="true">
                  <a:solidFill>
                    <a:srgbClr val="0D1B4C"/>
                  </a:solidFill>
                  <a:latin typeface="Arimo Bold"/>
                  <a:ea typeface="Arimo Bold"/>
                  <a:cs typeface="Arimo Bold"/>
                  <a:sym typeface="Arimo Bold"/>
                </a:rPr>
                <a:t>Only what helps</a:t>
              </a:r>
            </a:p>
          </p:txBody>
        </p:sp>
      </p:grpSp>
      <p:grpSp>
        <p:nvGrpSpPr>
          <p:cNvPr name="Group 32" id="32"/>
          <p:cNvGrpSpPr/>
          <p:nvPr/>
        </p:nvGrpSpPr>
        <p:grpSpPr>
          <a:xfrm rot="0">
            <a:off x="3657600" y="2971800"/>
            <a:ext cx="5212080" cy="914400"/>
            <a:chOff x="0" y="0"/>
            <a:chExt cx="6949440" cy="1219200"/>
          </a:xfrm>
        </p:grpSpPr>
        <p:sp>
          <p:nvSpPr>
            <p:cNvPr name="Freeform 33" id="33"/>
            <p:cNvSpPr/>
            <p:nvPr/>
          </p:nvSpPr>
          <p:spPr>
            <a:xfrm flipH="false" flipV="false" rot="0">
              <a:off x="0" y="0"/>
              <a:ext cx="6949440" cy="1219200"/>
            </a:xfrm>
            <a:custGeom>
              <a:avLst/>
              <a:gdLst/>
              <a:ahLst/>
              <a:cxnLst/>
              <a:rect r="r" b="b" t="t" l="l"/>
              <a:pathLst>
                <a:path h="1219200" w="6949440">
                  <a:moveTo>
                    <a:pt x="0" y="0"/>
                  </a:moveTo>
                  <a:lnTo>
                    <a:pt x="6949440" y="0"/>
                  </a:lnTo>
                  <a:lnTo>
                    <a:pt x="6949440" y="1219200"/>
                  </a:lnTo>
                  <a:lnTo>
                    <a:pt x="0" y="1219200"/>
                  </a:lnTo>
                  <a:close/>
                </a:path>
              </a:pathLst>
            </a:custGeom>
            <a:blipFill>
              <a:blip r:embed="rId8">
                <a:alphaModFix amt="0"/>
              </a:blip>
              <a:stretch>
                <a:fillRect l="0" t="-61064" r="0" b="-61064"/>
              </a:stretch>
            </a:blipFill>
          </p:spPr>
        </p:sp>
        <p:sp>
          <p:nvSpPr>
            <p:cNvPr name="TextBox 34" id="34"/>
            <p:cNvSpPr txBox="true"/>
            <p:nvPr/>
          </p:nvSpPr>
          <p:spPr>
            <a:xfrm>
              <a:off x="0" y="-19050"/>
              <a:ext cx="6949440" cy="1238250"/>
            </a:xfrm>
            <a:prstGeom prst="rect">
              <a:avLst/>
            </a:prstGeom>
          </p:spPr>
          <p:txBody>
            <a:bodyPr anchor="ctr" rtlCol="false" tIns="0" lIns="0" bIns="0" rIns="0"/>
            <a:lstStyle/>
            <a:p>
              <a:pPr algn="l">
                <a:lnSpc>
                  <a:spcPts val="1919"/>
                </a:lnSpc>
              </a:pPr>
              <a:r>
                <a:rPr lang="en-US" sz="1599">
                  <a:solidFill>
                    <a:srgbClr val="1F2A44"/>
                  </a:solidFill>
                  <a:latin typeface="Arimo"/>
                  <a:ea typeface="Arimo"/>
                  <a:cs typeface="Arimo"/>
                  <a:sym typeface="Arimo"/>
                </a:rPr>
                <a:t>Name, language, diet, health notes, emergency contact. Nothing more.</a:t>
              </a:r>
            </a:p>
          </p:txBody>
        </p:sp>
      </p:grpSp>
      <p:grpSp>
        <p:nvGrpSpPr>
          <p:cNvPr name="Group 35" id="35"/>
          <p:cNvGrpSpPr/>
          <p:nvPr/>
        </p:nvGrpSpPr>
        <p:grpSpPr>
          <a:xfrm rot="0">
            <a:off x="685800" y="4206240"/>
            <a:ext cx="8366760" cy="1188720"/>
            <a:chOff x="0" y="0"/>
            <a:chExt cx="11155680" cy="1584960"/>
          </a:xfrm>
        </p:grpSpPr>
        <p:sp>
          <p:nvSpPr>
            <p:cNvPr name="Freeform 36" id="36"/>
            <p:cNvSpPr/>
            <p:nvPr/>
          </p:nvSpPr>
          <p:spPr>
            <a:xfrm flipH="false" flipV="false" rot="0">
              <a:off x="0" y="0"/>
              <a:ext cx="11155680" cy="1585087"/>
            </a:xfrm>
            <a:custGeom>
              <a:avLst/>
              <a:gdLst/>
              <a:ahLst/>
              <a:cxnLst/>
              <a:rect r="r" b="b" t="t" l="l"/>
              <a:pathLst>
                <a:path h="1585087" w="11155680">
                  <a:moveTo>
                    <a:pt x="0" y="190246"/>
                  </a:moveTo>
                  <a:cubicBezTo>
                    <a:pt x="0" y="85090"/>
                    <a:pt x="85090" y="0"/>
                    <a:pt x="190246" y="0"/>
                  </a:cubicBezTo>
                  <a:lnTo>
                    <a:pt x="10965434" y="0"/>
                  </a:lnTo>
                  <a:cubicBezTo>
                    <a:pt x="11070463" y="0"/>
                    <a:pt x="11155680" y="85090"/>
                    <a:pt x="11155680" y="190246"/>
                  </a:cubicBezTo>
                  <a:lnTo>
                    <a:pt x="11155680" y="1394841"/>
                  </a:lnTo>
                  <a:cubicBezTo>
                    <a:pt x="11155680" y="1499870"/>
                    <a:pt x="11070590" y="1585087"/>
                    <a:pt x="10965434" y="1585087"/>
                  </a:cubicBezTo>
                  <a:lnTo>
                    <a:pt x="190246" y="1585087"/>
                  </a:lnTo>
                  <a:cubicBezTo>
                    <a:pt x="85090" y="1584960"/>
                    <a:pt x="0" y="1499870"/>
                    <a:pt x="0" y="1394714"/>
                  </a:cubicBezTo>
                  <a:close/>
                </a:path>
              </a:pathLst>
            </a:custGeom>
            <a:solidFill>
              <a:srgbClr val="FBE9A6"/>
            </a:solidFill>
          </p:spPr>
        </p:sp>
      </p:grpSp>
      <p:grpSp>
        <p:nvGrpSpPr>
          <p:cNvPr name="Group 37" id="37"/>
          <p:cNvGrpSpPr/>
          <p:nvPr/>
        </p:nvGrpSpPr>
        <p:grpSpPr>
          <a:xfrm rot="0">
            <a:off x="868680" y="4572000"/>
            <a:ext cx="457200" cy="457200"/>
            <a:chOff x="0" y="0"/>
            <a:chExt cx="609600" cy="609600"/>
          </a:xfrm>
        </p:grpSpPr>
        <p:sp>
          <p:nvSpPr>
            <p:cNvPr name="Freeform 38" id="3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6C945"/>
            </a:solidFill>
          </p:spPr>
        </p:sp>
        <p:sp>
          <p:nvSpPr>
            <p:cNvPr name="TextBox 39" id="39"/>
            <p:cNvSpPr txBox="true"/>
            <p:nvPr/>
          </p:nvSpPr>
          <p:spPr>
            <a:xfrm>
              <a:off x="0" y="-19050"/>
              <a:ext cx="609600" cy="628650"/>
            </a:xfrm>
            <a:prstGeom prst="rect">
              <a:avLst/>
            </a:prstGeom>
          </p:spPr>
          <p:txBody>
            <a:bodyPr anchor="ctr" rtlCol="false" tIns="50800" lIns="50800" bIns="50800" rIns="50800"/>
            <a:lstStyle/>
            <a:p>
              <a:pPr algn="ctr">
                <a:lnSpc>
                  <a:spcPts val="2160"/>
                </a:lnSpc>
              </a:pPr>
              <a:r>
                <a:rPr lang="en-US" sz="1800" b="true">
                  <a:solidFill>
                    <a:srgbClr val="0D1B4C"/>
                  </a:solidFill>
                  <a:latin typeface="Arimo Bold"/>
                  <a:ea typeface="Arimo Bold"/>
                  <a:cs typeface="Arimo Bold"/>
                  <a:sym typeface="Arimo Bold"/>
                </a:rPr>
                <a:t>3</a:t>
              </a:r>
            </a:p>
          </p:txBody>
        </p:sp>
      </p:grpSp>
      <p:grpSp>
        <p:nvGrpSpPr>
          <p:cNvPr name="Group 40" id="40"/>
          <p:cNvGrpSpPr/>
          <p:nvPr/>
        </p:nvGrpSpPr>
        <p:grpSpPr>
          <a:xfrm rot="0">
            <a:off x="1508760" y="4343400"/>
            <a:ext cx="2194560" cy="914400"/>
            <a:chOff x="0" y="0"/>
            <a:chExt cx="2926080" cy="1219200"/>
          </a:xfrm>
        </p:grpSpPr>
        <p:sp>
          <p:nvSpPr>
            <p:cNvPr name="Freeform 41" id="41"/>
            <p:cNvSpPr/>
            <p:nvPr/>
          </p:nvSpPr>
          <p:spPr>
            <a:xfrm flipH="false" flipV="false" rot="0">
              <a:off x="0" y="0"/>
              <a:ext cx="2926080" cy="1219200"/>
            </a:xfrm>
            <a:custGeom>
              <a:avLst/>
              <a:gdLst/>
              <a:ahLst/>
              <a:cxnLst/>
              <a:rect r="r" b="b" t="t" l="l"/>
              <a:pathLst>
                <a:path h="1219200" w="2926080">
                  <a:moveTo>
                    <a:pt x="0" y="0"/>
                  </a:moveTo>
                  <a:lnTo>
                    <a:pt x="2926080" y="0"/>
                  </a:lnTo>
                  <a:lnTo>
                    <a:pt x="2926080" y="1219200"/>
                  </a:lnTo>
                  <a:lnTo>
                    <a:pt x="0" y="1219200"/>
                  </a:lnTo>
                  <a:close/>
                </a:path>
              </a:pathLst>
            </a:custGeom>
            <a:blipFill>
              <a:blip r:embed="rId8">
                <a:alphaModFix amt="0"/>
              </a:blip>
              <a:stretch>
                <a:fillRect l="-3459" t="0" r="-3459" b="0"/>
              </a:stretch>
            </a:blipFill>
          </p:spPr>
        </p:sp>
        <p:sp>
          <p:nvSpPr>
            <p:cNvPr name="TextBox 42" id="42"/>
            <p:cNvSpPr txBox="true"/>
            <p:nvPr/>
          </p:nvSpPr>
          <p:spPr>
            <a:xfrm>
              <a:off x="0" y="-9525"/>
              <a:ext cx="2926080" cy="1228725"/>
            </a:xfrm>
            <a:prstGeom prst="rect">
              <a:avLst/>
            </a:prstGeom>
          </p:spPr>
          <p:txBody>
            <a:bodyPr anchor="ctr" rtlCol="false" tIns="0" lIns="0" bIns="0" rIns="0"/>
            <a:lstStyle/>
            <a:p>
              <a:pPr algn="l">
                <a:lnSpc>
                  <a:spcPts val="2400"/>
                </a:lnSpc>
              </a:pPr>
              <a:r>
                <a:rPr lang="en-US" sz="2000" b="true">
                  <a:solidFill>
                    <a:srgbClr val="0D1B4C"/>
                  </a:solidFill>
                  <a:latin typeface="Arimo Bold"/>
                  <a:ea typeface="Arimo Bold"/>
                  <a:cs typeface="Arimo Bold"/>
                  <a:sym typeface="Arimo Bold"/>
                </a:rPr>
                <a:t>Kept safe</a:t>
              </a:r>
            </a:p>
          </p:txBody>
        </p:sp>
      </p:grpSp>
      <p:grpSp>
        <p:nvGrpSpPr>
          <p:cNvPr name="Group 43" id="43"/>
          <p:cNvGrpSpPr/>
          <p:nvPr/>
        </p:nvGrpSpPr>
        <p:grpSpPr>
          <a:xfrm rot="0">
            <a:off x="3657600" y="4343400"/>
            <a:ext cx="5212080" cy="914400"/>
            <a:chOff x="0" y="0"/>
            <a:chExt cx="6949440" cy="1219200"/>
          </a:xfrm>
        </p:grpSpPr>
        <p:sp>
          <p:nvSpPr>
            <p:cNvPr name="Freeform 44" id="44"/>
            <p:cNvSpPr/>
            <p:nvPr/>
          </p:nvSpPr>
          <p:spPr>
            <a:xfrm flipH="false" flipV="false" rot="0">
              <a:off x="0" y="0"/>
              <a:ext cx="6949440" cy="1219200"/>
            </a:xfrm>
            <a:custGeom>
              <a:avLst/>
              <a:gdLst/>
              <a:ahLst/>
              <a:cxnLst/>
              <a:rect r="r" b="b" t="t" l="l"/>
              <a:pathLst>
                <a:path h="1219200" w="6949440">
                  <a:moveTo>
                    <a:pt x="0" y="0"/>
                  </a:moveTo>
                  <a:lnTo>
                    <a:pt x="6949440" y="0"/>
                  </a:lnTo>
                  <a:lnTo>
                    <a:pt x="6949440" y="1219200"/>
                  </a:lnTo>
                  <a:lnTo>
                    <a:pt x="0" y="1219200"/>
                  </a:lnTo>
                  <a:close/>
                </a:path>
              </a:pathLst>
            </a:custGeom>
            <a:blipFill>
              <a:blip r:embed="rId8">
                <a:alphaModFix amt="0"/>
              </a:blip>
              <a:stretch>
                <a:fillRect l="0" t="-61064" r="0" b="-61064"/>
              </a:stretch>
            </a:blipFill>
          </p:spPr>
        </p:sp>
        <p:sp>
          <p:nvSpPr>
            <p:cNvPr name="TextBox 45" id="45"/>
            <p:cNvSpPr txBox="true"/>
            <p:nvPr/>
          </p:nvSpPr>
          <p:spPr>
            <a:xfrm>
              <a:off x="0" y="-19050"/>
              <a:ext cx="6949440" cy="1238250"/>
            </a:xfrm>
            <a:prstGeom prst="rect">
              <a:avLst/>
            </a:prstGeom>
          </p:spPr>
          <p:txBody>
            <a:bodyPr anchor="ctr" rtlCol="false" tIns="0" lIns="0" bIns="0" rIns="0"/>
            <a:lstStyle/>
            <a:p>
              <a:pPr algn="l">
                <a:lnSpc>
                  <a:spcPts val="1919"/>
                </a:lnSpc>
              </a:pPr>
              <a:r>
                <a:rPr lang="en-US" sz="1599">
                  <a:solidFill>
                    <a:srgbClr val="1F2A44"/>
                  </a:solidFill>
                  <a:latin typeface="Arimo"/>
                  <a:ea typeface="Arimo"/>
                  <a:cs typeface="Arimo"/>
                  <a:sym typeface="Arimo"/>
                </a:rPr>
                <a:t>The band holds only a link, no personal data. Staff-only help desk. Anonymous IDs in reports.</a:t>
              </a:r>
            </a:p>
          </p:txBody>
        </p:sp>
      </p:grpSp>
      <p:sp>
        <p:nvSpPr>
          <p:cNvPr name="TextBox 46" id="46"/>
          <p:cNvSpPr txBox="true"/>
          <p:nvPr/>
        </p:nvSpPr>
        <p:spPr>
          <a:xfrm rot="0">
            <a:off x="685800" y="5695950"/>
            <a:ext cx="8366760" cy="842010"/>
          </a:xfrm>
          <a:prstGeom prst="rect">
            <a:avLst/>
          </a:prstGeom>
        </p:spPr>
        <p:txBody>
          <a:bodyPr anchor="t" rtlCol="false" tIns="0" lIns="0" bIns="0" rIns="0">
            <a:spAutoFit/>
          </a:bodyPr>
          <a:lstStyle/>
          <a:p>
            <a:pPr algn="ctr">
              <a:lnSpc>
                <a:spcPts val="1800"/>
              </a:lnSpc>
            </a:pPr>
            <a:r>
              <a:rPr lang="en-US" sz="1500" b="true">
                <a:solidFill>
                  <a:srgbClr val="1F8A80"/>
                </a:solidFill>
                <a:latin typeface="Arimo Bold"/>
                <a:ea typeface="Arimo Bold"/>
                <a:cs typeface="Arimo Bold"/>
                <a:sym typeface="Arimo Bold"/>
              </a:rPr>
              <a:t>Next: a random code in each band link and automatic deletion after the trip, in line with Korea’s PIPA.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4"/>
              <a:stretch>
                <a:fillRect l="0" t="0" r="-3" b="-3"/>
              </a:stretch>
            </a:blipFill>
          </p:spPr>
        </p:sp>
      </p:grpSp>
      <p:grpSp>
        <p:nvGrpSpPr>
          <p:cNvPr name="Group 6" id="6"/>
          <p:cNvGrpSpPr/>
          <p:nvPr/>
        </p:nvGrpSpPr>
        <p:grpSpPr>
          <a:xfrm rot="0">
            <a:off x="7603836" y="86544"/>
            <a:ext cx="544468" cy="362064"/>
            <a:chOff x="0" y="0"/>
            <a:chExt cx="725957" cy="482752"/>
          </a:xfrm>
        </p:grpSpPr>
        <p:sp>
          <p:nvSpPr>
            <p:cNvPr name="Freeform 7" id="7"/>
            <p:cNvSpPr/>
            <p:nvPr/>
          </p:nvSpPr>
          <p:spPr>
            <a:xfrm flipH="false" flipV="false" rot="0">
              <a:off x="0" y="0"/>
              <a:ext cx="725932" cy="482727"/>
            </a:xfrm>
            <a:custGeom>
              <a:avLst/>
              <a:gdLst/>
              <a:ahLst/>
              <a:cxnLst/>
              <a:rect r="r" b="b" t="t" l="l"/>
              <a:pathLst>
                <a:path h="482727" w="725932">
                  <a:moveTo>
                    <a:pt x="0" y="0"/>
                  </a:moveTo>
                  <a:lnTo>
                    <a:pt x="725932" y="0"/>
                  </a:lnTo>
                  <a:lnTo>
                    <a:pt x="725932" y="482727"/>
                  </a:lnTo>
                  <a:lnTo>
                    <a:pt x="0" y="482727"/>
                  </a:lnTo>
                  <a:lnTo>
                    <a:pt x="0" y="0"/>
                  </a:lnTo>
                  <a:close/>
                </a:path>
              </a:pathLst>
            </a:custGeom>
            <a:solidFill>
              <a:srgbClr val="00C4CC"/>
            </a:solidFill>
          </p:spPr>
        </p:sp>
      </p:grpSp>
      <p:grpSp>
        <p:nvGrpSpPr>
          <p:cNvPr name="Group 8" id="8"/>
          <p:cNvGrpSpPr/>
          <p:nvPr/>
        </p:nvGrpSpPr>
        <p:grpSpPr>
          <a:xfrm rot="0">
            <a:off x="8470944" y="86544"/>
            <a:ext cx="570186" cy="362064"/>
            <a:chOff x="0" y="0"/>
            <a:chExt cx="760247" cy="482752"/>
          </a:xfrm>
        </p:grpSpPr>
        <p:sp>
          <p:nvSpPr>
            <p:cNvPr name="Freeform 9" id="9"/>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5"/>
              <a:stretch>
                <a:fillRect l="0" t="-23" r="-3" b="-28"/>
              </a:stretch>
            </a:blipFill>
          </p:spPr>
        </p:sp>
      </p:grpSp>
      <p:sp>
        <p:nvSpPr>
          <p:cNvPr name="Freeform 10" id="10"/>
          <p:cNvSpPr/>
          <p:nvPr/>
        </p:nvSpPr>
        <p:spPr>
          <a:xfrm flipH="false" flipV="false" rot="0">
            <a:off x="438512"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12" id="12"/>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Why Not Just an App?</a:t>
            </a:r>
          </a:p>
        </p:txBody>
      </p:sp>
      <p:graphicFrame>
        <p:nvGraphicFramePr>
          <p:cNvPr name="Table 13" id="13"/>
          <p:cNvGraphicFramePr>
            <a:graphicFrameLocks noGrp="true"/>
          </p:cNvGraphicFramePr>
          <p:nvPr/>
        </p:nvGraphicFramePr>
        <p:xfrm>
          <a:off x="690323" y="1458586"/>
          <a:ext cx="8356600" cy="4203700"/>
        </p:xfrm>
        <a:graphic>
          <a:graphicData uri="http://schemas.openxmlformats.org/drawingml/2006/table">
            <a:tbl>
              <a:tblPr/>
              <a:tblGrid>
                <a:gridCol w="2146230"/>
                <a:gridCol w="2739870"/>
                <a:gridCol w="3470500"/>
              </a:tblGrid>
              <a:tr h="587614">
                <a:tc>
                  <a:txBody>
                    <a:bodyPr anchor="t" rtlCol="false"/>
                    <a:lstStyle/>
                    <a:p>
                      <a:pPr algn="l">
                        <a:lnSpc>
                          <a:spcPts val="1679"/>
                        </a:lnSpc>
                        <a:defRPr/>
                      </a:pP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D1B4C"/>
                    </a:solidFill>
                  </a:tcPr>
                </a:tc>
                <a:tc>
                  <a:txBody>
                    <a:bodyPr anchor="t" rtlCol="false"/>
                    <a:lstStyle/>
                    <a:p>
                      <a:pPr algn="l">
                        <a:lnSpc>
                          <a:spcPts val="1919"/>
                        </a:lnSpc>
                        <a:defRPr/>
                      </a:pPr>
                      <a:r>
                        <a:rPr lang="en-US" sz="1599" b="true">
                          <a:solidFill>
                            <a:srgbClr val="FFFFFF"/>
                          </a:solidFill>
                          <a:latin typeface="Arimo Bold"/>
                          <a:ea typeface="Arimo Bold"/>
                          <a:cs typeface="Arimo Bold"/>
                          <a:sym typeface="Arimo Bold"/>
                        </a:rPr>
                        <a:t>Typical map app</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D1B4C"/>
                    </a:solidFill>
                  </a:tcPr>
                </a:tc>
                <a:tc>
                  <a:txBody>
                    <a:bodyPr anchor="t" rtlCol="false"/>
                    <a:lstStyle/>
                    <a:p>
                      <a:pPr algn="l">
                        <a:lnSpc>
                          <a:spcPts val="1919"/>
                        </a:lnSpc>
                        <a:defRPr/>
                      </a:pPr>
                      <a:r>
                        <a:rPr lang="en-US" sz="1599" b="true">
                          <a:solidFill>
                            <a:srgbClr val="FFFFFF"/>
                          </a:solidFill>
                          <a:latin typeface="Arimo Bold"/>
                          <a:ea typeface="Arimo Bold"/>
                          <a:cs typeface="Arimo Bold"/>
                          <a:sym typeface="Arimo Bold"/>
                        </a:rPr>
                        <a:t>Jeju Wish-Band</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D1B4C"/>
                    </a:solidFill>
                  </a:tcPr>
                </a:tc>
              </a:tr>
              <a:tr h="723217">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What comes first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1F2A44"/>
                          </a:solidFill>
                          <a:latin typeface="Arimo"/>
                          <a:ea typeface="Arimo"/>
                          <a:cs typeface="Arimo"/>
                          <a:sym typeface="Arimo"/>
                        </a:rPr>
                        <a:t>Popular, top-rated places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Places that fit you, local and quiet boosted</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3EFEC"/>
                    </a:solidFill>
                  </a:tcPr>
                </a:tc>
              </a:tr>
              <a:tr h="723217">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Diet needs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5F8"/>
                    </a:solidFill>
                  </a:tcPr>
                </a:tc>
                <a:tc>
                  <a:txBody>
                    <a:bodyPr anchor="t" rtlCol="false"/>
                    <a:lstStyle/>
                    <a:p>
                      <a:pPr algn="l">
                        <a:lnSpc>
                          <a:spcPts val="1800"/>
                        </a:lnSpc>
                        <a:defRPr/>
                      </a:pPr>
                      <a:r>
                        <a:rPr lang="en-US" sz="1500">
                          <a:solidFill>
                            <a:srgbClr val="1F2A44"/>
                          </a:solidFill>
                          <a:latin typeface="Arimo"/>
                          <a:ea typeface="Arimo"/>
                          <a:cs typeface="Arimo"/>
                          <a:sym typeface="Arimo"/>
                        </a:rPr>
                        <a:t>Search and hope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5F8"/>
                    </a:solidFill>
                  </a:tcPr>
                </a:tc>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Unsafe food is filtered out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3EFEC"/>
                    </a:solidFill>
                  </a:tcPr>
                </a:tc>
              </a:tr>
              <a:tr h="723217">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Local shops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1F2A44"/>
                          </a:solidFill>
                          <a:latin typeface="Arimo"/>
                          <a:ea typeface="Arimo"/>
                          <a:cs typeface="Arimo"/>
                          <a:sym typeface="Arimo"/>
                        </a:rPr>
                        <a:t>Compete with big names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Stamps + voucher bring visitors in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3EFEC"/>
                    </a:solidFill>
                  </a:tcPr>
                </a:tc>
              </a:tr>
              <a:tr h="723217">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Emergency</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5F8"/>
                    </a:solidFill>
                  </a:tcPr>
                </a:tc>
                <a:tc>
                  <a:txBody>
                    <a:bodyPr anchor="t" rtlCol="false"/>
                    <a:lstStyle/>
                    <a:p>
                      <a:pPr algn="l">
                        <a:lnSpc>
                          <a:spcPts val="1800"/>
                        </a:lnSpc>
                        <a:defRPr/>
                      </a:pPr>
                      <a:r>
                        <a:rPr lang="en-US" sz="1500">
                          <a:solidFill>
                            <a:srgbClr val="1F2A44"/>
                          </a:solidFill>
                          <a:latin typeface="Arimo"/>
                          <a:ea typeface="Arimo"/>
                          <a:cs typeface="Arimo"/>
                          <a:sym typeface="Arimo"/>
                        </a:rPr>
                        <a:t>Call and explain yourself</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3F5F8"/>
                    </a:solidFill>
                  </a:tcPr>
                </a:tc>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SOS sends location, health, language, contact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3EFEC"/>
                    </a:solidFill>
                  </a:tcPr>
                </a:tc>
              </a:tr>
              <a:tr h="723217">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Dead phone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a:solidFill>
                            <a:srgbClr val="1F2A44"/>
                          </a:solidFill>
                          <a:latin typeface="Arimo"/>
                          <a:ea typeface="Arimo"/>
                          <a:cs typeface="Arimo"/>
                          <a:sym typeface="Arimo"/>
                        </a:rPr>
                        <a:t>Nothing</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a:pPr>
                      <a:r>
                        <a:rPr lang="en-US" sz="1500" b="true">
                          <a:solidFill>
                            <a:srgbClr val="0D1B4C"/>
                          </a:solidFill>
                          <a:latin typeface="Arimo Bold"/>
                          <a:ea typeface="Arimo Bold"/>
                          <a:cs typeface="Arimo Bold"/>
                          <a:sym typeface="Arimo Bold"/>
                        </a:rPr>
                        <a:t>Tap the band 5 times at a station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3EFE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5"/>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6"/>
              <a:stretch>
                <a:fillRect l="0" t="-23" r="-3" b="-28"/>
              </a:stretch>
            </a:blipFill>
          </p:spPr>
        </p:sp>
      </p:grpSp>
      <p:sp>
        <p:nvSpPr>
          <p:cNvPr name="Freeform 8" id="8"/>
          <p:cNvSpPr/>
          <p:nvPr/>
        </p:nvSpPr>
        <p:spPr>
          <a:xfrm flipH="false" flipV="false" rot="0">
            <a:off x="428987"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731520" y="2377440"/>
            <a:ext cx="1874520" cy="2743200"/>
            <a:chOff x="0" y="0"/>
            <a:chExt cx="2499360" cy="3657600"/>
          </a:xfrm>
        </p:grpSpPr>
        <p:sp>
          <p:nvSpPr>
            <p:cNvPr name="Freeform 10" id="10"/>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FDE2CF"/>
            </a:solidFill>
          </p:spPr>
        </p:sp>
      </p:grpSp>
      <p:sp>
        <p:nvSpPr>
          <p:cNvPr name="Freeform 11" id="11"/>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731520" y="1988846"/>
            <a:ext cx="1874520" cy="4136292"/>
            <a:chOff x="0" y="0"/>
            <a:chExt cx="2499360" cy="5515057"/>
          </a:xfrm>
        </p:grpSpPr>
        <p:sp>
          <p:nvSpPr>
            <p:cNvPr name="Freeform 13" id="13"/>
            <p:cNvSpPr/>
            <p:nvPr/>
          </p:nvSpPr>
          <p:spPr>
            <a:xfrm flipH="false" flipV="false" rot="0">
              <a:off x="0" y="0"/>
              <a:ext cx="2499360" cy="5515056"/>
            </a:xfrm>
            <a:custGeom>
              <a:avLst/>
              <a:gdLst/>
              <a:ahLst/>
              <a:cxnLst/>
              <a:rect r="r" b="b" t="t" l="l"/>
              <a:pathLst>
                <a:path h="5515056" w="2499360">
                  <a:moveTo>
                    <a:pt x="0" y="452311"/>
                  </a:moveTo>
                  <a:cubicBezTo>
                    <a:pt x="0" y="202410"/>
                    <a:pt x="134239" y="0"/>
                    <a:pt x="299974" y="0"/>
                  </a:cubicBezTo>
                  <a:lnTo>
                    <a:pt x="2199386" y="0"/>
                  </a:lnTo>
                  <a:cubicBezTo>
                    <a:pt x="2364994" y="0"/>
                    <a:pt x="2499360" y="202410"/>
                    <a:pt x="2499360" y="452311"/>
                  </a:cubicBezTo>
                  <a:lnTo>
                    <a:pt x="2499360" y="5062745"/>
                  </a:lnTo>
                  <a:cubicBezTo>
                    <a:pt x="2499360" y="5312455"/>
                    <a:pt x="2365121" y="5515056"/>
                    <a:pt x="2199386" y="5515056"/>
                  </a:cubicBezTo>
                  <a:lnTo>
                    <a:pt x="299974" y="5515056"/>
                  </a:lnTo>
                  <a:cubicBezTo>
                    <a:pt x="134239" y="5515056"/>
                    <a:pt x="0" y="5312646"/>
                    <a:pt x="0" y="5062745"/>
                  </a:cubicBezTo>
                  <a:close/>
                </a:path>
              </a:pathLst>
            </a:custGeom>
            <a:solidFill>
              <a:srgbClr val="D3EFEC"/>
            </a:solidFill>
          </p:spPr>
        </p:sp>
      </p:grpSp>
      <p:grpSp>
        <p:nvGrpSpPr>
          <p:cNvPr name="Group 14" id="14"/>
          <p:cNvGrpSpPr/>
          <p:nvPr/>
        </p:nvGrpSpPr>
        <p:grpSpPr>
          <a:xfrm rot="0">
            <a:off x="1414208" y="2228850"/>
            <a:ext cx="502920" cy="502920"/>
            <a:chOff x="0" y="0"/>
            <a:chExt cx="670560" cy="670560"/>
          </a:xfrm>
        </p:grpSpPr>
        <p:sp>
          <p:nvSpPr>
            <p:cNvPr name="Freeform 15" id="15"/>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2A9D93"/>
            </a:solidFill>
          </p:spPr>
        </p:sp>
        <p:sp>
          <p:nvSpPr>
            <p:cNvPr name="TextBox 16" id="16"/>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sp>
        <p:nvSpPr>
          <p:cNvPr name="Freeform 17" id="17"/>
          <p:cNvSpPr/>
          <p:nvPr/>
        </p:nvSpPr>
        <p:spPr>
          <a:xfrm flipH="false" flipV="false" rot="0">
            <a:off x="3452919" y="1988846"/>
            <a:ext cx="2047662" cy="4263339"/>
          </a:xfrm>
          <a:custGeom>
            <a:avLst/>
            <a:gdLst/>
            <a:ahLst/>
            <a:cxnLst/>
            <a:rect r="r" b="b" t="t" l="l"/>
            <a:pathLst>
              <a:path h="4263339" w="2047662">
                <a:moveTo>
                  <a:pt x="0" y="0"/>
                </a:moveTo>
                <a:lnTo>
                  <a:pt x="2047662" y="0"/>
                </a:lnTo>
                <a:lnTo>
                  <a:pt x="2047662" y="4263339"/>
                </a:lnTo>
                <a:lnTo>
                  <a:pt x="0" y="4263339"/>
                </a:lnTo>
                <a:lnTo>
                  <a:pt x="0" y="0"/>
                </a:lnTo>
                <a:close/>
              </a:path>
            </a:pathLst>
          </a:custGeom>
          <a:blipFill>
            <a:blip r:embed="rId11"/>
            <a:stretch>
              <a:fillRect l="0" t="0" r="0" b="0"/>
            </a:stretch>
          </a:blipFill>
        </p:spPr>
      </p:sp>
      <p:sp>
        <p:nvSpPr>
          <p:cNvPr name="Freeform 18" id="18"/>
          <p:cNvSpPr/>
          <p:nvPr/>
        </p:nvSpPr>
        <p:spPr>
          <a:xfrm flipH="false" flipV="false" rot="0">
            <a:off x="6450115" y="1983552"/>
            <a:ext cx="1989185" cy="4141586"/>
          </a:xfrm>
          <a:custGeom>
            <a:avLst/>
            <a:gdLst/>
            <a:ahLst/>
            <a:cxnLst/>
            <a:rect r="r" b="b" t="t" l="l"/>
            <a:pathLst>
              <a:path h="4141586" w="1989185">
                <a:moveTo>
                  <a:pt x="0" y="0"/>
                </a:moveTo>
                <a:lnTo>
                  <a:pt x="1989185" y="0"/>
                </a:lnTo>
                <a:lnTo>
                  <a:pt x="1989185" y="4141586"/>
                </a:lnTo>
                <a:lnTo>
                  <a:pt x="0" y="4141586"/>
                </a:lnTo>
                <a:lnTo>
                  <a:pt x="0" y="0"/>
                </a:lnTo>
                <a:close/>
              </a:path>
            </a:pathLst>
          </a:custGeom>
          <a:blipFill>
            <a:blip r:embed="rId12"/>
            <a:stretch>
              <a:fillRect l="0" t="0" r="0" b="0"/>
            </a:stretch>
          </a:blipFill>
        </p:spPr>
      </p:sp>
      <p:sp>
        <p:nvSpPr>
          <p:cNvPr name="TextBox 19" id="1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20" id="2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Live Demo</a:t>
            </a:r>
          </a:p>
        </p:txBody>
      </p:sp>
      <p:sp>
        <p:nvSpPr>
          <p:cNvPr name="TextBox 21" id="21"/>
          <p:cNvSpPr txBox="true"/>
          <p:nvPr/>
        </p:nvSpPr>
        <p:spPr>
          <a:xfrm rot="0">
            <a:off x="865568" y="3091943"/>
            <a:ext cx="1655064" cy="8191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Tap 3 stations, unlock a voucher</a:t>
            </a:r>
          </a:p>
        </p:txBody>
      </p:sp>
      <p:sp>
        <p:nvSpPr>
          <p:cNvPr name="TextBox 22" id="22"/>
          <p:cNvSpPr txBox="true"/>
          <p:nvPr/>
        </p:nvSpPr>
        <p:spPr>
          <a:xfrm rot="0">
            <a:off x="865568" y="4234943"/>
            <a:ext cx="1600200" cy="11620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Collect 3 stamps (p</a:t>
            </a:r>
            <a:r>
              <a:rPr lang="en-US" sz="1500">
                <a:solidFill>
                  <a:srgbClr val="1F2A44"/>
                </a:solidFill>
                <a:latin typeface="Arimo"/>
                <a:ea typeface="Arimo"/>
                <a:cs typeface="Arimo"/>
                <a:sym typeface="Arimo"/>
              </a:rPr>
              <a:t>lace, food or activity) and redeem at Dongmun Market</a:t>
            </a:r>
          </a:p>
        </p:txBody>
      </p:sp>
      <p:sp>
        <p:nvSpPr>
          <p:cNvPr id="23" name="TextBox 22"/>
          <p:cNvSpPr txBox="1"/>
          <p:nvPr/>
        </p:nvSpPr>
        <p:spPr>
          <a:xfrm>
            <a:off x="731520" y="6300000"/>
            <a:ext cx="8293608" cy="330000"/>
          </a:xfrm>
          <a:prstGeom prst="rect">
            <a:avLst/>
          </a:prstGeom>
          <a:noFill/>
        </p:spPr>
        <p:txBody>
          <a:bodyPr wrap="square">
            <a:spAutoFit/>
          </a:bodyPr>
          <a:lstStyle/>
          <a:p>
            <a:pPr algn="ctr"/>
            <a:r>
              <a:rPr sz="1500" b="1">
                <a:solidFill>
                  <a:srgbClr val="D9480F"/>
                </a:solidFill>
                <a:latin typeface="Arial"/>
              </a:rPr>
              <a:t>Ready: 0 / 3 stamps, voucher locked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5"/>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6"/>
              <a:stretch>
                <a:fillRect l="0" t="-23" r="-3" b="-28"/>
              </a:stretch>
            </a:blipFill>
          </p:spPr>
        </p:sp>
      </p:grpSp>
      <p:sp>
        <p:nvSpPr>
          <p:cNvPr name="Freeform 8" id="8"/>
          <p:cNvSpPr/>
          <p:nvPr/>
        </p:nvSpPr>
        <p:spPr>
          <a:xfrm flipH="false" flipV="false" rot="0">
            <a:off x="428987"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731520" y="2377440"/>
            <a:ext cx="1874520" cy="2743200"/>
            <a:chOff x="0" y="0"/>
            <a:chExt cx="2499360" cy="3657600"/>
          </a:xfrm>
        </p:grpSpPr>
        <p:sp>
          <p:nvSpPr>
            <p:cNvPr name="Freeform 10" id="10"/>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FDE2CF"/>
            </a:solidFill>
          </p:spPr>
        </p:sp>
      </p:grpSp>
      <p:sp>
        <p:nvSpPr>
          <p:cNvPr name="Freeform 11" id="11"/>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731520" y="1988846"/>
            <a:ext cx="1874520" cy="4136292"/>
            <a:chOff x="0" y="0"/>
            <a:chExt cx="2499360" cy="5515057"/>
          </a:xfrm>
        </p:grpSpPr>
        <p:sp>
          <p:nvSpPr>
            <p:cNvPr name="Freeform 13" id="13"/>
            <p:cNvSpPr/>
            <p:nvPr/>
          </p:nvSpPr>
          <p:spPr>
            <a:xfrm flipH="false" flipV="false" rot="0">
              <a:off x="0" y="0"/>
              <a:ext cx="2499360" cy="5515056"/>
            </a:xfrm>
            <a:custGeom>
              <a:avLst/>
              <a:gdLst/>
              <a:ahLst/>
              <a:cxnLst/>
              <a:rect r="r" b="b" t="t" l="l"/>
              <a:pathLst>
                <a:path h="5515056" w="2499360">
                  <a:moveTo>
                    <a:pt x="0" y="452311"/>
                  </a:moveTo>
                  <a:cubicBezTo>
                    <a:pt x="0" y="202410"/>
                    <a:pt x="134239" y="0"/>
                    <a:pt x="299974" y="0"/>
                  </a:cubicBezTo>
                  <a:lnTo>
                    <a:pt x="2199386" y="0"/>
                  </a:lnTo>
                  <a:cubicBezTo>
                    <a:pt x="2364994" y="0"/>
                    <a:pt x="2499360" y="202410"/>
                    <a:pt x="2499360" y="452311"/>
                  </a:cubicBezTo>
                  <a:lnTo>
                    <a:pt x="2499360" y="5062745"/>
                  </a:lnTo>
                  <a:cubicBezTo>
                    <a:pt x="2499360" y="5312455"/>
                    <a:pt x="2365121" y="5515056"/>
                    <a:pt x="2199386" y="5515056"/>
                  </a:cubicBezTo>
                  <a:lnTo>
                    <a:pt x="299974" y="5515056"/>
                  </a:lnTo>
                  <a:cubicBezTo>
                    <a:pt x="134239" y="5515056"/>
                    <a:pt x="0" y="5312646"/>
                    <a:pt x="0" y="5062745"/>
                  </a:cubicBezTo>
                  <a:close/>
                </a:path>
              </a:pathLst>
            </a:custGeom>
            <a:solidFill>
              <a:srgbClr val="D3EFEC"/>
            </a:solidFill>
          </p:spPr>
        </p:sp>
      </p:grpSp>
      <p:grpSp>
        <p:nvGrpSpPr>
          <p:cNvPr name="Group 14" id="14"/>
          <p:cNvGrpSpPr/>
          <p:nvPr/>
        </p:nvGrpSpPr>
        <p:grpSpPr>
          <a:xfrm rot="0">
            <a:off x="1414208" y="2228850"/>
            <a:ext cx="502920" cy="502920"/>
            <a:chOff x="0" y="0"/>
            <a:chExt cx="670560" cy="670560"/>
          </a:xfrm>
        </p:grpSpPr>
        <p:sp>
          <p:nvSpPr>
            <p:cNvPr name="Freeform 15" id="15"/>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2A9D93"/>
            </a:solidFill>
          </p:spPr>
        </p:sp>
        <p:sp>
          <p:nvSpPr>
            <p:cNvPr name="TextBox 16" id="16"/>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sp>
        <p:nvSpPr>
          <p:cNvPr name="Freeform 17" id="17"/>
          <p:cNvSpPr/>
          <p:nvPr/>
        </p:nvSpPr>
        <p:spPr>
          <a:xfrm flipH="false" flipV="false" rot="0">
            <a:off x="3452919" y="1988846"/>
            <a:ext cx="2047662" cy="4263339"/>
          </a:xfrm>
          <a:custGeom>
            <a:avLst/>
            <a:gdLst/>
            <a:ahLst/>
            <a:cxnLst/>
            <a:rect r="r" b="b" t="t" l="l"/>
            <a:pathLst>
              <a:path h="4263339" w="2047662">
                <a:moveTo>
                  <a:pt x="0" y="0"/>
                </a:moveTo>
                <a:lnTo>
                  <a:pt x="2047662" y="0"/>
                </a:lnTo>
                <a:lnTo>
                  <a:pt x="2047662" y="4263339"/>
                </a:lnTo>
                <a:lnTo>
                  <a:pt x="0" y="4263339"/>
                </a:lnTo>
                <a:lnTo>
                  <a:pt x="0" y="0"/>
                </a:lnTo>
                <a:close/>
              </a:path>
            </a:pathLst>
          </a:custGeom>
          <a:blipFill>
            <a:blip r:embed="rId11"/>
            <a:stretch>
              <a:fillRect l="0" t="0" r="0" b="0"/>
            </a:stretch>
          </a:blipFill>
        </p:spPr>
      </p:sp>
      <p:sp>
        <p:nvSpPr>
          <p:cNvPr name="Freeform 18" id="18"/>
          <p:cNvSpPr/>
          <p:nvPr/>
        </p:nvSpPr>
        <p:spPr>
          <a:xfrm flipH="false" flipV="false" rot="0">
            <a:off x="6450115" y="1983552"/>
            <a:ext cx="1989185" cy="4141586"/>
          </a:xfrm>
          <a:custGeom>
            <a:avLst/>
            <a:gdLst/>
            <a:ahLst/>
            <a:cxnLst/>
            <a:rect r="r" b="b" t="t" l="l"/>
            <a:pathLst>
              <a:path h="4141586" w="1989185">
                <a:moveTo>
                  <a:pt x="0" y="0"/>
                </a:moveTo>
                <a:lnTo>
                  <a:pt x="1989185" y="0"/>
                </a:lnTo>
                <a:lnTo>
                  <a:pt x="1989185" y="4141586"/>
                </a:lnTo>
                <a:lnTo>
                  <a:pt x="0" y="4141586"/>
                </a:lnTo>
                <a:lnTo>
                  <a:pt x="0" y="0"/>
                </a:lnTo>
                <a:close/>
              </a:path>
            </a:pathLst>
          </a:custGeom>
          <a:blipFill>
            <a:blip r:embed="rId12"/>
            <a:stretch>
              <a:fillRect l="0" t="0" r="0" b="0"/>
            </a:stretch>
          </a:blipFill>
        </p:spPr>
      </p:sp>
      <p:sp>
        <p:nvSpPr>
          <p:cNvPr name="TextBox 19" id="1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20" id="2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Live Demo</a:t>
            </a:r>
          </a:p>
        </p:txBody>
      </p:sp>
      <p:sp>
        <p:nvSpPr>
          <p:cNvPr name="TextBox 21" id="21"/>
          <p:cNvSpPr txBox="true"/>
          <p:nvPr/>
        </p:nvSpPr>
        <p:spPr>
          <a:xfrm rot="0">
            <a:off x="865568" y="3091943"/>
            <a:ext cx="1655064" cy="8191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Tap 3 stations, unlock a voucher</a:t>
            </a:r>
          </a:p>
        </p:txBody>
      </p:sp>
      <p:sp>
        <p:nvSpPr>
          <p:cNvPr name="TextBox 22" id="22"/>
          <p:cNvSpPr txBox="true"/>
          <p:nvPr/>
        </p:nvSpPr>
        <p:spPr>
          <a:xfrm rot="0">
            <a:off x="865568" y="4234943"/>
            <a:ext cx="1600200" cy="11620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Collect 3 stamps (p</a:t>
            </a:r>
            <a:r>
              <a:rPr lang="en-US" sz="1500">
                <a:solidFill>
                  <a:srgbClr val="1F2A44"/>
                </a:solidFill>
                <a:latin typeface="Arimo"/>
                <a:ea typeface="Arimo"/>
                <a:cs typeface="Arimo"/>
                <a:sym typeface="Arimo"/>
              </a:rPr>
              <a:t>lace, food or activity) and redeem at Dongmun Market</a:t>
            </a:r>
          </a:p>
        </p:txBody>
      </p:sp>
      <p:sp>
        <p:nvSpPr>
          <p:cNvPr id="23" name="TextBox 22"/>
          <p:cNvSpPr txBox="1"/>
          <p:nvPr/>
        </p:nvSpPr>
        <p:spPr>
          <a:xfrm>
            <a:off x="731520" y="6300000"/>
            <a:ext cx="8293608" cy="330000"/>
          </a:xfrm>
          <a:prstGeom prst="rect">
            <a:avLst/>
          </a:prstGeom>
          <a:noFill/>
        </p:spPr>
        <p:txBody>
          <a:bodyPr wrap="square">
            <a:spAutoFit/>
          </a:bodyPr>
          <a:lstStyle/>
          <a:p>
            <a:pPr algn="ctr"/>
            <a:r>
              <a:rPr sz="1500" b="1">
                <a:solidFill>
                  <a:srgbClr val="D9480F"/>
                </a:solidFill>
                <a:latin typeface="Arial"/>
              </a:rPr>
              <a:t>1st tap: place stamp (Seongsan Ilchulbong)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5"/>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6"/>
              <a:stretch>
                <a:fillRect l="0" t="-23" r="-3" b="-28"/>
              </a:stretch>
            </a:blipFill>
          </p:spPr>
        </p:sp>
      </p:grpSp>
      <p:sp>
        <p:nvSpPr>
          <p:cNvPr name="Freeform 8" id="8"/>
          <p:cNvSpPr/>
          <p:nvPr/>
        </p:nvSpPr>
        <p:spPr>
          <a:xfrm flipH="false" flipV="false" rot="0">
            <a:off x="428987"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731520" y="2377440"/>
            <a:ext cx="1874520" cy="2743200"/>
            <a:chOff x="0" y="0"/>
            <a:chExt cx="2499360" cy="3657600"/>
          </a:xfrm>
        </p:grpSpPr>
        <p:sp>
          <p:nvSpPr>
            <p:cNvPr name="Freeform 10" id="10"/>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FDE2CF"/>
            </a:solidFill>
          </p:spPr>
        </p:sp>
      </p:grpSp>
      <p:sp>
        <p:nvSpPr>
          <p:cNvPr name="Freeform 11" id="11"/>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731520" y="1988846"/>
            <a:ext cx="1874520" cy="4136292"/>
            <a:chOff x="0" y="0"/>
            <a:chExt cx="2499360" cy="5515057"/>
          </a:xfrm>
        </p:grpSpPr>
        <p:sp>
          <p:nvSpPr>
            <p:cNvPr name="Freeform 13" id="13"/>
            <p:cNvSpPr/>
            <p:nvPr/>
          </p:nvSpPr>
          <p:spPr>
            <a:xfrm flipH="false" flipV="false" rot="0">
              <a:off x="0" y="0"/>
              <a:ext cx="2499360" cy="5515056"/>
            </a:xfrm>
            <a:custGeom>
              <a:avLst/>
              <a:gdLst/>
              <a:ahLst/>
              <a:cxnLst/>
              <a:rect r="r" b="b" t="t" l="l"/>
              <a:pathLst>
                <a:path h="5515056" w="2499360">
                  <a:moveTo>
                    <a:pt x="0" y="452311"/>
                  </a:moveTo>
                  <a:cubicBezTo>
                    <a:pt x="0" y="202410"/>
                    <a:pt x="134239" y="0"/>
                    <a:pt x="299974" y="0"/>
                  </a:cubicBezTo>
                  <a:lnTo>
                    <a:pt x="2199386" y="0"/>
                  </a:lnTo>
                  <a:cubicBezTo>
                    <a:pt x="2364994" y="0"/>
                    <a:pt x="2499360" y="202410"/>
                    <a:pt x="2499360" y="452311"/>
                  </a:cubicBezTo>
                  <a:lnTo>
                    <a:pt x="2499360" y="5062745"/>
                  </a:lnTo>
                  <a:cubicBezTo>
                    <a:pt x="2499360" y="5312455"/>
                    <a:pt x="2365121" y="5515056"/>
                    <a:pt x="2199386" y="5515056"/>
                  </a:cubicBezTo>
                  <a:lnTo>
                    <a:pt x="299974" y="5515056"/>
                  </a:lnTo>
                  <a:cubicBezTo>
                    <a:pt x="134239" y="5515056"/>
                    <a:pt x="0" y="5312646"/>
                    <a:pt x="0" y="5062745"/>
                  </a:cubicBezTo>
                  <a:close/>
                </a:path>
              </a:pathLst>
            </a:custGeom>
            <a:solidFill>
              <a:srgbClr val="D3EFEC"/>
            </a:solidFill>
          </p:spPr>
        </p:sp>
      </p:grpSp>
      <p:grpSp>
        <p:nvGrpSpPr>
          <p:cNvPr name="Group 14" id="14"/>
          <p:cNvGrpSpPr/>
          <p:nvPr/>
        </p:nvGrpSpPr>
        <p:grpSpPr>
          <a:xfrm rot="0">
            <a:off x="1414208" y="2228850"/>
            <a:ext cx="502920" cy="502920"/>
            <a:chOff x="0" y="0"/>
            <a:chExt cx="670560" cy="670560"/>
          </a:xfrm>
        </p:grpSpPr>
        <p:sp>
          <p:nvSpPr>
            <p:cNvPr name="Freeform 15" id="15"/>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2A9D93"/>
            </a:solidFill>
          </p:spPr>
        </p:sp>
        <p:sp>
          <p:nvSpPr>
            <p:cNvPr name="TextBox 16" id="16"/>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sp>
        <p:nvSpPr>
          <p:cNvPr name="Freeform 17" id="17"/>
          <p:cNvSpPr/>
          <p:nvPr/>
        </p:nvSpPr>
        <p:spPr>
          <a:xfrm flipH="false" flipV="false" rot="0">
            <a:off x="3452919" y="1988846"/>
            <a:ext cx="2047662" cy="4263339"/>
          </a:xfrm>
          <a:custGeom>
            <a:avLst/>
            <a:gdLst/>
            <a:ahLst/>
            <a:cxnLst/>
            <a:rect r="r" b="b" t="t" l="l"/>
            <a:pathLst>
              <a:path h="4263339" w="2047662">
                <a:moveTo>
                  <a:pt x="0" y="0"/>
                </a:moveTo>
                <a:lnTo>
                  <a:pt x="2047662" y="0"/>
                </a:lnTo>
                <a:lnTo>
                  <a:pt x="2047662" y="4263339"/>
                </a:lnTo>
                <a:lnTo>
                  <a:pt x="0" y="4263339"/>
                </a:lnTo>
                <a:lnTo>
                  <a:pt x="0" y="0"/>
                </a:lnTo>
                <a:close/>
              </a:path>
            </a:pathLst>
          </a:custGeom>
          <a:blipFill>
            <a:blip r:embed="rId11"/>
            <a:stretch>
              <a:fillRect l="0" t="0" r="0" b="0"/>
            </a:stretch>
          </a:blipFill>
        </p:spPr>
      </p:sp>
      <p:sp>
        <p:nvSpPr>
          <p:cNvPr name="Freeform 18" id="18"/>
          <p:cNvSpPr/>
          <p:nvPr/>
        </p:nvSpPr>
        <p:spPr>
          <a:xfrm flipH="false" flipV="false" rot="0">
            <a:off x="6450115" y="1983552"/>
            <a:ext cx="1989185" cy="4141586"/>
          </a:xfrm>
          <a:custGeom>
            <a:avLst/>
            <a:gdLst/>
            <a:ahLst/>
            <a:cxnLst/>
            <a:rect r="r" b="b" t="t" l="l"/>
            <a:pathLst>
              <a:path h="4141586" w="1989185">
                <a:moveTo>
                  <a:pt x="0" y="0"/>
                </a:moveTo>
                <a:lnTo>
                  <a:pt x="1989185" y="0"/>
                </a:lnTo>
                <a:lnTo>
                  <a:pt x="1989185" y="4141586"/>
                </a:lnTo>
                <a:lnTo>
                  <a:pt x="0" y="4141586"/>
                </a:lnTo>
                <a:lnTo>
                  <a:pt x="0" y="0"/>
                </a:lnTo>
                <a:close/>
              </a:path>
            </a:pathLst>
          </a:custGeom>
          <a:blipFill>
            <a:blip r:embed="rId12"/>
            <a:stretch>
              <a:fillRect l="0" t="0" r="0" b="0"/>
            </a:stretch>
          </a:blipFill>
        </p:spPr>
      </p:sp>
      <p:sp>
        <p:nvSpPr>
          <p:cNvPr name="TextBox 19" id="19"/>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20" id="20"/>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Live Demo</a:t>
            </a:r>
          </a:p>
        </p:txBody>
      </p:sp>
      <p:sp>
        <p:nvSpPr>
          <p:cNvPr name="TextBox 21" id="21"/>
          <p:cNvSpPr txBox="true"/>
          <p:nvPr/>
        </p:nvSpPr>
        <p:spPr>
          <a:xfrm rot="0">
            <a:off x="865568" y="3091943"/>
            <a:ext cx="1655064" cy="81915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Tap 3 stations, unlock a voucher</a:t>
            </a:r>
          </a:p>
        </p:txBody>
      </p:sp>
      <p:sp>
        <p:nvSpPr>
          <p:cNvPr name="TextBox 22" id="22"/>
          <p:cNvSpPr txBox="true"/>
          <p:nvPr/>
        </p:nvSpPr>
        <p:spPr>
          <a:xfrm rot="0">
            <a:off x="865568" y="4234943"/>
            <a:ext cx="1600200" cy="11620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Collect 3 stamps (p</a:t>
            </a:r>
            <a:r>
              <a:rPr lang="en-US" sz="1500">
                <a:solidFill>
                  <a:srgbClr val="1F2A44"/>
                </a:solidFill>
                <a:latin typeface="Arimo"/>
                <a:ea typeface="Arimo"/>
                <a:cs typeface="Arimo"/>
                <a:sym typeface="Arimo"/>
              </a:rPr>
              <a:t>lace, food or activity) and redeem at Dongmun Market</a:t>
            </a:r>
          </a:p>
        </p:txBody>
      </p:sp>
      <p:sp>
        <p:nvSpPr>
          <p:cNvPr id="23" name="TextBox 22"/>
          <p:cNvSpPr txBox="1"/>
          <p:nvPr/>
        </p:nvSpPr>
        <p:spPr>
          <a:xfrm>
            <a:off x="731520" y="6300000"/>
            <a:ext cx="8293608" cy="330000"/>
          </a:xfrm>
          <a:prstGeom prst="rect">
            <a:avLst/>
          </a:prstGeom>
          <a:noFill/>
        </p:spPr>
        <p:txBody>
          <a:bodyPr wrap="square">
            <a:spAutoFit/>
          </a:bodyPr>
          <a:lstStyle/>
          <a:p>
            <a:pPr algn="ctr"/>
            <a:r>
              <a:rPr sz="1500" b="1">
                <a:solidFill>
                  <a:srgbClr val="D9480F"/>
                </a:solidFill>
                <a:latin typeface="Arial"/>
              </a:rPr>
              <a:t>2nd tap: food stamp (Dongmun Market)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15" t="0" r="-15" b="0"/>
              </a:stretch>
            </a:blipFill>
          </p:spPr>
        </p:sp>
      </p:grpSp>
      <p:grpSp>
        <p:nvGrpSpPr>
          <p:cNvPr name="Group 4" id="4"/>
          <p:cNvGrpSpPr/>
          <p:nvPr/>
        </p:nvGrpSpPr>
        <p:grpSpPr>
          <a:xfrm rot="0">
            <a:off x="7603836" y="536886"/>
            <a:ext cx="544468" cy="544468"/>
            <a:chOff x="0" y="0"/>
            <a:chExt cx="725957" cy="725957"/>
          </a:xfrm>
        </p:grpSpPr>
        <p:sp>
          <p:nvSpPr>
            <p:cNvPr name="Freeform 5" id="5"/>
            <p:cNvSpPr/>
            <p:nvPr/>
          </p:nvSpPr>
          <p:spPr>
            <a:xfrm flipH="false" flipV="false" rot="0">
              <a:off x="0" y="0"/>
              <a:ext cx="725932" cy="725932"/>
            </a:xfrm>
            <a:custGeom>
              <a:avLst/>
              <a:gdLst/>
              <a:ahLst/>
              <a:cxnLst/>
              <a:rect r="r" b="b" t="t" l="l"/>
              <a:pathLst>
                <a:path h="725932" w="725932">
                  <a:moveTo>
                    <a:pt x="0" y="0"/>
                  </a:moveTo>
                  <a:lnTo>
                    <a:pt x="725932" y="0"/>
                  </a:lnTo>
                  <a:lnTo>
                    <a:pt x="725932" y="725932"/>
                  </a:lnTo>
                  <a:lnTo>
                    <a:pt x="0" y="725932"/>
                  </a:lnTo>
                  <a:lnTo>
                    <a:pt x="0" y="0"/>
                  </a:lnTo>
                  <a:close/>
                </a:path>
              </a:pathLst>
            </a:custGeom>
            <a:blipFill>
              <a:blip r:embed="rId5"/>
              <a:stretch>
                <a:fillRect l="0" t="0" r="-3" b="-3"/>
              </a:stretch>
            </a:blipFill>
          </p:spPr>
        </p:sp>
      </p:grpSp>
      <p:grpSp>
        <p:nvGrpSpPr>
          <p:cNvPr name="Group 6" id="6"/>
          <p:cNvGrpSpPr/>
          <p:nvPr/>
        </p:nvGrpSpPr>
        <p:grpSpPr>
          <a:xfrm rot="0">
            <a:off x="8470944" y="86544"/>
            <a:ext cx="570186" cy="362064"/>
            <a:chOff x="0" y="0"/>
            <a:chExt cx="760247" cy="482752"/>
          </a:xfrm>
        </p:grpSpPr>
        <p:sp>
          <p:nvSpPr>
            <p:cNvPr name="Freeform 7" id="7"/>
            <p:cNvSpPr/>
            <p:nvPr/>
          </p:nvSpPr>
          <p:spPr>
            <a:xfrm flipH="false" flipV="false" rot="0">
              <a:off x="0" y="0"/>
              <a:ext cx="760222" cy="482727"/>
            </a:xfrm>
            <a:custGeom>
              <a:avLst/>
              <a:gdLst/>
              <a:ahLst/>
              <a:cxnLst/>
              <a:rect r="r" b="b" t="t" l="l"/>
              <a:pathLst>
                <a:path h="482727" w="760222">
                  <a:moveTo>
                    <a:pt x="0" y="0"/>
                  </a:moveTo>
                  <a:lnTo>
                    <a:pt x="760222" y="0"/>
                  </a:lnTo>
                  <a:lnTo>
                    <a:pt x="760222" y="482727"/>
                  </a:lnTo>
                  <a:lnTo>
                    <a:pt x="0" y="482727"/>
                  </a:lnTo>
                  <a:lnTo>
                    <a:pt x="0" y="0"/>
                  </a:lnTo>
                  <a:close/>
                </a:path>
              </a:pathLst>
            </a:custGeom>
            <a:blipFill>
              <a:blip r:embed="rId6"/>
              <a:stretch>
                <a:fillRect l="0" t="-23" r="-3" b="-28"/>
              </a:stretch>
            </a:blipFill>
          </p:spPr>
        </p:sp>
      </p:grpSp>
      <p:sp>
        <p:nvSpPr>
          <p:cNvPr name="Freeform 8" id="8"/>
          <p:cNvSpPr/>
          <p:nvPr/>
        </p:nvSpPr>
        <p:spPr>
          <a:xfrm flipH="false" flipV="false" rot="0">
            <a:off x="428987" y="1167079"/>
            <a:ext cx="8876567" cy="5567610"/>
          </a:xfrm>
          <a:custGeom>
            <a:avLst/>
            <a:gdLst/>
            <a:ahLst/>
            <a:cxnLst/>
            <a:rect r="r" b="b" t="t" l="l"/>
            <a:pathLst>
              <a:path h="5567610" w="8876567">
                <a:moveTo>
                  <a:pt x="0" y="0"/>
                </a:moveTo>
                <a:lnTo>
                  <a:pt x="8876567" y="0"/>
                </a:lnTo>
                <a:lnTo>
                  <a:pt x="8876567" y="5567610"/>
                </a:lnTo>
                <a:lnTo>
                  <a:pt x="0" y="55676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731520" y="2377440"/>
            <a:ext cx="1874520" cy="2743200"/>
            <a:chOff x="0" y="0"/>
            <a:chExt cx="2499360" cy="3657600"/>
          </a:xfrm>
        </p:grpSpPr>
        <p:sp>
          <p:nvSpPr>
            <p:cNvPr name="Freeform 10" id="10"/>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FDE2CF"/>
            </a:solidFill>
          </p:spPr>
        </p:sp>
      </p:grpSp>
      <p:sp>
        <p:nvSpPr>
          <p:cNvPr name="Freeform 11" id="11"/>
          <p:cNvSpPr/>
          <p:nvPr/>
        </p:nvSpPr>
        <p:spPr>
          <a:xfrm flipH="false" flipV="false" rot="0">
            <a:off x="7603836" y="86537"/>
            <a:ext cx="553993" cy="368405"/>
          </a:xfrm>
          <a:custGeom>
            <a:avLst/>
            <a:gdLst/>
            <a:ahLst/>
            <a:cxnLst/>
            <a:rect r="r" b="b" t="t" l="l"/>
            <a:pathLst>
              <a:path h="368405" w="553993">
                <a:moveTo>
                  <a:pt x="0" y="0"/>
                </a:moveTo>
                <a:lnTo>
                  <a:pt x="553993" y="0"/>
                </a:lnTo>
                <a:lnTo>
                  <a:pt x="553993" y="368406"/>
                </a:lnTo>
                <a:lnTo>
                  <a:pt x="0" y="3684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731520" y="2377440"/>
            <a:ext cx="1874520" cy="2743200"/>
            <a:chOff x="0" y="0"/>
            <a:chExt cx="2499360" cy="3657600"/>
          </a:xfrm>
        </p:grpSpPr>
        <p:sp>
          <p:nvSpPr>
            <p:cNvPr name="Freeform 13" id="13"/>
            <p:cNvSpPr/>
            <p:nvPr/>
          </p:nvSpPr>
          <p:spPr>
            <a:xfrm flipH="false" flipV="false" rot="0">
              <a:off x="0" y="0"/>
              <a:ext cx="2499360" cy="3657600"/>
            </a:xfrm>
            <a:custGeom>
              <a:avLst/>
              <a:gdLst/>
              <a:ahLst/>
              <a:cxnLst/>
              <a:rect r="r" b="b" t="t" l="l"/>
              <a:pathLst>
                <a:path h="3657600" w="2499360">
                  <a:moveTo>
                    <a:pt x="0" y="299974"/>
                  </a:moveTo>
                  <a:cubicBezTo>
                    <a:pt x="0" y="134239"/>
                    <a:pt x="134239" y="0"/>
                    <a:pt x="299974" y="0"/>
                  </a:cubicBezTo>
                  <a:lnTo>
                    <a:pt x="2199386" y="0"/>
                  </a:lnTo>
                  <a:cubicBezTo>
                    <a:pt x="2364994" y="0"/>
                    <a:pt x="2499360" y="134239"/>
                    <a:pt x="2499360" y="299974"/>
                  </a:cubicBezTo>
                  <a:lnTo>
                    <a:pt x="2499360" y="3357626"/>
                  </a:lnTo>
                  <a:cubicBezTo>
                    <a:pt x="2499360" y="3523234"/>
                    <a:pt x="2365121" y="3657600"/>
                    <a:pt x="2199386" y="3657600"/>
                  </a:cubicBezTo>
                  <a:lnTo>
                    <a:pt x="299974" y="3657600"/>
                  </a:lnTo>
                  <a:cubicBezTo>
                    <a:pt x="134239" y="3657600"/>
                    <a:pt x="0" y="3523361"/>
                    <a:pt x="0" y="3357626"/>
                  </a:cubicBezTo>
                  <a:close/>
                </a:path>
              </a:pathLst>
            </a:custGeom>
            <a:solidFill>
              <a:srgbClr val="D3EFEC"/>
            </a:solidFill>
          </p:spPr>
        </p:sp>
      </p:grpSp>
      <p:grpSp>
        <p:nvGrpSpPr>
          <p:cNvPr name="Group 14" id="14"/>
          <p:cNvGrpSpPr/>
          <p:nvPr/>
        </p:nvGrpSpPr>
        <p:grpSpPr>
          <a:xfrm rot="0">
            <a:off x="1441640" y="2560320"/>
            <a:ext cx="502920" cy="502920"/>
            <a:chOff x="0" y="0"/>
            <a:chExt cx="670560" cy="670560"/>
          </a:xfrm>
        </p:grpSpPr>
        <p:sp>
          <p:nvSpPr>
            <p:cNvPr name="Freeform 15" id="15"/>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2A9D93"/>
            </a:solidFill>
          </p:spPr>
        </p:sp>
        <p:sp>
          <p:nvSpPr>
            <p:cNvPr name="TextBox 16" id="16"/>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2</a:t>
              </a:r>
            </a:p>
          </p:txBody>
        </p:sp>
      </p:grpSp>
      <p:sp>
        <p:nvSpPr>
          <p:cNvPr name="TextBox 17" id="17"/>
          <p:cNvSpPr txBox="true"/>
          <p:nvPr/>
        </p:nvSpPr>
        <p:spPr>
          <a:xfrm rot="0">
            <a:off x="865568" y="3227070"/>
            <a:ext cx="1655064" cy="75057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Tap 3 stations</a:t>
            </a:r>
          </a:p>
        </p:txBody>
      </p:sp>
      <p:sp>
        <p:nvSpPr>
          <p:cNvPr name="TextBox 18" id="18"/>
          <p:cNvSpPr txBox="true"/>
          <p:nvPr/>
        </p:nvSpPr>
        <p:spPr>
          <a:xfrm rot="0">
            <a:off x="896048" y="3729990"/>
            <a:ext cx="1600200" cy="70485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Place, food, activity: beep + stamp</a:t>
            </a:r>
          </a:p>
        </p:txBody>
      </p:sp>
      <p:grpSp>
        <p:nvGrpSpPr>
          <p:cNvPr name="Group 19" id="19"/>
          <p:cNvGrpSpPr/>
          <p:nvPr/>
        </p:nvGrpSpPr>
        <p:grpSpPr>
          <a:xfrm rot="0">
            <a:off x="736790" y="1988846"/>
            <a:ext cx="1874520" cy="4136292"/>
            <a:chOff x="0" y="0"/>
            <a:chExt cx="2499360" cy="5515057"/>
          </a:xfrm>
        </p:grpSpPr>
        <p:sp>
          <p:nvSpPr>
            <p:cNvPr name="Freeform 20" id="20"/>
            <p:cNvSpPr/>
            <p:nvPr/>
          </p:nvSpPr>
          <p:spPr>
            <a:xfrm flipH="false" flipV="false" rot="0">
              <a:off x="0" y="0"/>
              <a:ext cx="2499360" cy="5515056"/>
            </a:xfrm>
            <a:custGeom>
              <a:avLst/>
              <a:gdLst/>
              <a:ahLst/>
              <a:cxnLst/>
              <a:rect r="r" b="b" t="t" l="l"/>
              <a:pathLst>
                <a:path h="5515056" w="2499360">
                  <a:moveTo>
                    <a:pt x="0" y="452311"/>
                  </a:moveTo>
                  <a:cubicBezTo>
                    <a:pt x="0" y="202410"/>
                    <a:pt x="134239" y="0"/>
                    <a:pt x="299974" y="0"/>
                  </a:cubicBezTo>
                  <a:lnTo>
                    <a:pt x="2199386" y="0"/>
                  </a:lnTo>
                  <a:cubicBezTo>
                    <a:pt x="2364994" y="0"/>
                    <a:pt x="2499360" y="202410"/>
                    <a:pt x="2499360" y="452311"/>
                  </a:cubicBezTo>
                  <a:lnTo>
                    <a:pt x="2499360" y="5062745"/>
                  </a:lnTo>
                  <a:cubicBezTo>
                    <a:pt x="2499360" y="5312455"/>
                    <a:pt x="2365121" y="5515056"/>
                    <a:pt x="2199386" y="5515056"/>
                  </a:cubicBezTo>
                  <a:lnTo>
                    <a:pt x="299974" y="5515056"/>
                  </a:lnTo>
                  <a:cubicBezTo>
                    <a:pt x="134239" y="5515056"/>
                    <a:pt x="0" y="5312646"/>
                    <a:pt x="0" y="5062745"/>
                  </a:cubicBezTo>
                  <a:close/>
                </a:path>
              </a:pathLst>
            </a:custGeom>
            <a:solidFill>
              <a:srgbClr val="F9D6D6"/>
            </a:solidFill>
          </p:spPr>
        </p:sp>
      </p:grpSp>
      <p:grpSp>
        <p:nvGrpSpPr>
          <p:cNvPr name="Group 21" id="21"/>
          <p:cNvGrpSpPr/>
          <p:nvPr/>
        </p:nvGrpSpPr>
        <p:grpSpPr>
          <a:xfrm rot="0">
            <a:off x="1422590" y="2228850"/>
            <a:ext cx="502920" cy="502920"/>
            <a:chOff x="0" y="0"/>
            <a:chExt cx="670560" cy="670560"/>
          </a:xfrm>
        </p:grpSpPr>
        <p:sp>
          <p:nvSpPr>
            <p:cNvPr name="Freeform 22" id="22"/>
            <p:cNvSpPr/>
            <p:nvPr/>
          </p:nvSpPr>
          <p:spPr>
            <a:xfrm flipH="false" flipV="false" rot="0">
              <a:off x="0" y="0"/>
              <a:ext cx="670560" cy="670560"/>
            </a:xfrm>
            <a:custGeom>
              <a:avLst/>
              <a:gdLst/>
              <a:ahLst/>
              <a:cxnLst/>
              <a:rect r="r" b="b" t="t" l="l"/>
              <a:pathLst>
                <a:path h="670560" w="670560">
                  <a:moveTo>
                    <a:pt x="0" y="335280"/>
                  </a:moveTo>
                  <a:cubicBezTo>
                    <a:pt x="0" y="150114"/>
                    <a:pt x="150114" y="0"/>
                    <a:pt x="335280" y="0"/>
                  </a:cubicBezTo>
                  <a:cubicBezTo>
                    <a:pt x="520446" y="0"/>
                    <a:pt x="670560" y="150114"/>
                    <a:pt x="670560" y="335280"/>
                  </a:cubicBezTo>
                  <a:cubicBezTo>
                    <a:pt x="670560" y="520446"/>
                    <a:pt x="520446" y="670560"/>
                    <a:pt x="335280" y="670560"/>
                  </a:cubicBezTo>
                  <a:cubicBezTo>
                    <a:pt x="150114" y="670560"/>
                    <a:pt x="0" y="520446"/>
                    <a:pt x="0" y="335280"/>
                  </a:cubicBezTo>
                  <a:close/>
                </a:path>
              </a:pathLst>
            </a:custGeom>
            <a:solidFill>
              <a:srgbClr val="D64545"/>
            </a:solidFill>
          </p:spPr>
        </p:sp>
        <p:sp>
          <p:nvSpPr>
            <p:cNvPr name="TextBox 23" id="23"/>
            <p:cNvSpPr txBox="true"/>
            <p:nvPr/>
          </p:nvSpPr>
          <p:spPr>
            <a:xfrm>
              <a:off x="0" y="-19050"/>
              <a:ext cx="670560" cy="689610"/>
            </a:xfrm>
            <a:prstGeom prst="rect">
              <a:avLst/>
            </a:prstGeom>
          </p:spPr>
          <p:txBody>
            <a:bodyPr anchor="ctr" rtlCol="false" tIns="50800" lIns="50800" bIns="50800" rIns="50800"/>
            <a:lstStyle/>
            <a:p>
              <a:pPr algn="ctr">
                <a:lnSpc>
                  <a:spcPts val="2160"/>
                </a:lnSpc>
              </a:pPr>
              <a:r>
                <a:rPr lang="en-US" sz="1800" b="true">
                  <a:solidFill>
                    <a:srgbClr val="FFFFFF"/>
                  </a:solidFill>
                  <a:latin typeface="Arimo Bold"/>
                  <a:ea typeface="Arimo Bold"/>
                  <a:cs typeface="Arimo Bold"/>
                  <a:sym typeface="Arimo Bold"/>
                </a:rPr>
                <a:t>3</a:t>
              </a:r>
            </a:p>
          </p:txBody>
        </p:sp>
      </p:grpSp>
      <p:sp>
        <p:nvSpPr>
          <p:cNvPr name="Freeform 24" id="24"/>
          <p:cNvSpPr/>
          <p:nvPr/>
        </p:nvSpPr>
        <p:spPr>
          <a:xfrm flipH="false" flipV="false" rot="0">
            <a:off x="3581596" y="1988846"/>
            <a:ext cx="1961748" cy="4084461"/>
          </a:xfrm>
          <a:custGeom>
            <a:avLst/>
            <a:gdLst/>
            <a:ahLst/>
            <a:cxnLst/>
            <a:rect r="r" b="b" t="t" l="l"/>
            <a:pathLst>
              <a:path h="4084461" w="1961748">
                <a:moveTo>
                  <a:pt x="0" y="0"/>
                </a:moveTo>
                <a:lnTo>
                  <a:pt x="1961748" y="0"/>
                </a:lnTo>
                <a:lnTo>
                  <a:pt x="1961748" y="4084461"/>
                </a:lnTo>
                <a:lnTo>
                  <a:pt x="0" y="4084461"/>
                </a:lnTo>
                <a:lnTo>
                  <a:pt x="0" y="0"/>
                </a:lnTo>
                <a:close/>
              </a:path>
            </a:pathLst>
          </a:custGeom>
          <a:blipFill>
            <a:blip r:embed="rId11"/>
            <a:stretch>
              <a:fillRect l="0" t="0" r="0" b="0"/>
            </a:stretch>
          </a:blipFill>
        </p:spPr>
      </p:sp>
      <p:sp>
        <p:nvSpPr>
          <p:cNvPr name="Freeform 25" id="25"/>
          <p:cNvSpPr/>
          <p:nvPr/>
        </p:nvSpPr>
        <p:spPr>
          <a:xfrm flipH="false" flipV="false" rot="0">
            <a:off x="6160212" y="1628842"/>
            <a:ext cx="2471574" cy="4605985"/>
          </a:xfrm>
          <a:custGeom>
            <a:avLst/>
            <a:gdLst/>
            <a:ahLst/>
            <a:cxnLst/>
            <a:rect r="r" b="b" t="t" l="l"/>
            <a:pathLst>
              <a:path h="4605985" w="2471574">
                <a:moveTo>
                  <a:pt x="0" y="0"/>
                </a:moveTo>
                <a:lnTo>
                  <a:pt x="2471573" y="0"/>
                </a:lnTo>
                <a:lnTo>
                  <a:pt x="2471573" y="4605985"/>
                </a:lnTo>
                <a:lnTo>
                  <a:pt x="0" y="4605985"/>
                </a:lnTo>
                <a:lnTo>
                  <a:pt x="0" y="0"/>
                </a:lnTo>
                <a:close/>
              </a:path>
            </a:pathLst>
          </a:custGeom>
          <a:blipFill>
            <a:blip r:embed="rId3"/>
            <a:stretch>
              <a:fillRect l="0" t="-8435" r="0" b="-8157"/>
            </a:stretch>
          </a:blipFill>
        </p:spPr>
      </p:sp>
      <p:sp>
        <p:nvSpPr>
          <p:cNvPr name="TextBox 26" id="26"/>
          <p:cNvSpPr txBox="true"/>
          <p:nvPr/>
        </p:nvSpPr>
        <p:spPr>
          <a:xfrm rot="0">
            <a:off x="447675" y="95250"/>
            <a:ext cx="7048500" cy="304800"/>
          </a:xfrm>
          <a:prstGeom prst="rect">
            <a:avLst/>
          </a:prstGeom>
        </p:spPr>
        <p:txBody>
          <a:bodyPr anchor="t" rtlCol="false" tIns="0" lIns="0" bIns="0" rIns="0">
            <a:spAutoFit/>
          </a:bodyPr>
          <a:lstStyle/>
          <a:p>
            <a:pPr algn="l">
              <a:lnSpc>
                <a:spcPts val="2160"/>
              </a:lnSpc>
            </a:pPr>
            <a:r>
              <a:rPr lang="en-US" sz="1800">
                <a:solidFill>
                  <a:srgbClr val="FFFFFF"/>
                </a:solidFill>
                <a:latin typeface="Arimo"/>
                <a:ea typeface="Arimo"/>
                <a:cs typeface="Arimo"/>
                <a:sym typeface="Arimo"/>
              </a:rPr>
              <a:t>Team Jeju Wish-Band  •  KMUTNB, Thailand</a:t>
            </a:r>
          </a:p>
        </p:txBody>
      </p:sp>
      <p:sp>
        <p:nvSpPr>
          <p:cNvPr name="TextBox 27" id="27"/>
          <p:cNvSpPr txBox="true"/>
          <p:nvPr/>
        </p:nvSpPr>
        <p:spPr>
          <a:xfrm rot="0">
            <a:off x="447675" y="419100"/>
            <a:ext cx="7048500" cy="705802"/>
          </a:xfrm>
          <a:prstGeom prst="rect">
            <a:avLst/>
          </a:prstGeom>
        </p:spPr>
        <p:txBody>
          <a:bodyPr anchor="t" rtlCol="false" tIns="0" lIns="0" bIns="0" rIns="0">
            <a:spAutoFit/>
          </a:bodyPr>
          <a:lstStyle/>
          <a:p>
            <a:pPr algn="l">
              <a:lnSpc>
                <a:spcPts val="5346"/>
              </a:lnSpc>
            </a:pPr>
            <a:r>
              <a:rPr lang="en-US" sz="4650">
                <a:solidFill>
                  <a:srgbClr val="FFFF66"/>
                </a:solidFill>
                <a:latin typeface="Arimo"/>
                <a:ea typeface="Arimo"/>
                <a:cs typeface="Arimo"/>
                <a:sym typeface="Arimo"/>
              </a:rPr>
              <a:t>Live Demo</a:t>
            </a:r>
          </a:p>
        </p:txBody>
      </p:sp>
      <p:sp>
        <p:nvSpPr>
          <p:cNvPr name="TextBox 28" id="28"/>
          <p:cNvSpPr txBox="true"/>
          <p:nvPr/>
        </p:nvSpPr>
        <p:spPr>
          <a:xfrm rot="0">
            <a:off x="846518" y="3143164"/>
            <a:ext cx="1655064" cy="750570"/>
          </a:xfrm>
          <a:prstGeom prst="rect">
            <a:avLst/>
          </a:prstGeom>
        </p:spPr>
        <p:txBody>
          <a:bodyPr anchor="t" rtlCol="false" tIns="0" lIns="0" bIns="0" rIns="0">
            <a:spAutoFit/>
          </a:bodyPr>
          <a:lstStyle/>
          <a:p>
            <a:pPr algn="ctr">
              <a:lnSpc>
                <a:spcPts val="2160"/>
              </a:lnSpc>
            </a:pPr>
            <a:r>
              <a:rPr lang="en-US" sz="1800" b="true">
                <a:solidFill>
                  <a:srgbClr val="0D1B4C"/>
                </a:solidFill>
                <a:latin typeface="Arimo Bold"/>
                <a:ea typeface="Arimo Bold"/>
                <a:cs typeface="Arimo Bold"/>
                <a:sym typeface="Arimo Bold"/>
              </a:rPr>
              <a:t>5-tap SOS</a:t>
            </a:r>
          </a:p>
        </p:txBody>
      </p:sp>
      <p:sp>
        <p:nvSpPr>
          <p:cNvPr name="TextBox 29" id="29"/>
          <p:cNvSpPr txBox="true"/>
          <p:nvPr/>
        </p:nvSpPr>
        <p:spPr>
          <a:xfrm rot="0">
            <a:off x="883475" y="3836584"/>
            <a:ext cx="1600200" cy="1070610"/>
          </a:xfrm>
          <a:prstGeom prst="rect">
            <a:avLst/>
          </a:prstGeom>
        </p:spPr>
        <p:txBody>
          <a:bodyPr anchor="t" rtlCol="false" tIns="0" lIns="0" bIns="0" rIns="0">
            <a:spAutoFit/>
          </a:bodyPr>
          <a:lstStyle/>
          <a:p>
            <a:pPr algn="ctr">
              <a:lnSpc>
                <a:spcPts val="1800"/>
              </a:lnSpc>
            </a:pPr>
            <a:r>
              <a:rPr lang="en-US" sz="1500">
                <a:solidFill>
                  <a:srgbClr val="1F2A44"/>
                </a:solidFill>
                <a:latin typeface="Arimo"/>
                <a:ea typeface="Arimo"/>
                <a:cs typeface="Arimo"/>
                <a:sym typeface="Arimo"/>
              </a:rPr>
              <a:t>No phone? Tap the band 5 times</a:t>
            </a:r>
          </a:p>
        </p:txBody>
      </p:sp>
      <p:sp>
        <p:nvSpPr>
          <p:cNvPr id="30" name="TextBox 29"/>
          <p:cNvSpPr txBox="1"/>
          <p:nvPr/>
        </p:nvSpPr>
        <p:spPr>
          <a:xfrm>
            <a:off x="731520" y="6300000"/>
            <a:ext cx="8293608" cy="330000"/>
          </a:xfrm>
          <a:prstGeom prst="rect">
            <a:avLst/>
          </a:prstGeom>
          <a:noFill/>
        </p:spPr>
        <p:txBody>
          <a:bodyPr wrap="square">
            <a:spAutoFit/>
          </a:bodyPr>
          <a:lstStyle/>
          <a:p>
            <a:pPr algn="ctr"/>
            <a:r>
              <a:rPr sz="1500" b="1">
                <a:solidFill>
                  <a:srgbClr val="D9480F"/>
                </a:solidFill>
                <a:latin typeface="Arial"/>
              </a:rPr>
              <a:t>Idle: everyone safe. Hold SOS on the phone, or tap the band 5 times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DAHZTi0sYsg</dc:identifier>
  <dcterms:modified xsi:type="dcterms:W3CDTF">2011-08-01T06:04:30Z</dcterms:modified>
  <cp:revision>1</cp:revision>
  <dc:title>สำเนาของ Jeju Wish-Band_2nd_presentation_2026 GLOBAL UNIFORCE.pptx</dc:title>
</cp:coreProperties>
</file>